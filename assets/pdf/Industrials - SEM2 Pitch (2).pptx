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7" r:id="rId5"/>
    <p:sldId id="261" r:id="rId6"/>
    <p:sldId id="258" r:id="rId7"/>
    <p:sldId id="260" r:id="rId8"/>
    <p:sldId id="262" r:id="rId9"/>
    <p:sldId id="265" r:id="rId10"/>
    <p:sldId id="263" r:id="rId11"/>
    <p:sldId id="264" r:id="rId12"/>
    <p:sldId id="266" r:id="rId13"/>
    <p:sldId id="256" r:id="rId14"/>
    <p:sldId id="267" r:id="rId15"/>
    <p:sldId id="268" r:id="rId16"/>
    <p:sldId id="259" r:id="rId1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60" autoAdjust="0"/>
  </p:normalViewPr>
  <p:slideViewPr>
    <p:cSldViewPr snapToGrid="0">
      <p:cViewPr varScale="1">
        <p:scale>
          <a:sx n="80" d="100"/>
          <a:sy n="80" d="100"/>
        </p:scale>
        <p:origin x="132" y="16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https://ueanorwich-my.sharepoint.com/personal/ahv25rwu_uea_ac_uk/Documents/OAKWOOD/iypwux2w-Football-Field-Analysis-Ful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baseline="0"/>
              <a:t>Valuation bridge </a:t>
            </a:r>
          </a:p>
        </c:rich>
      </c:tx>
      <c:layout>
        <c:manualLayout>
          <c:xMode val="edge"/>
          <c:yMode val="edge"/>
          <c:x val="0.41825579026575349"/>
          <c:y val="2.4026584375089668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bar"/>
        <c:grouping val="stacked"/>
        <c:varyColors val="0"/>
        <c:ser>
          <c:idx val="0"/>
          <c:order val="0"/>
          <c:spPr>
            <a:noFill/>
            <a:ln>
              <a:noFill/>
            </a:ln>
            <a:effectLst/>
          </c:spPr>
          <c:invertIfNegative val="0"/>
          <c:dLbls>
            <c:dLbl>
              <c:idx val="1"/>
              <c:tx>
                <c:rich>
                  <a:bodyPr/>
                  <a:lstStyle/>
                  <a:p>
                    <a:fld id="{FA660BA1-0095-42DC-9235-7AC1910EF9AE}" type="VALUE">
                      <a:rPr lang="en-US" smtClean="0"/>
                      <a:pPr/>
                      <a:t>[VALUE]</a:t>
                    </a:fld>
                    <a:endParaRPr lang="en-GB"/>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1D96-49B5-B02F-85D6C58D267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'Football field'!$B$64:$B$70</c:f>
              <c:strCache>
                <c:ptCount val="6"/>
                <c:pt idx="0">
                  <c:v>52 week trading range </c:v>
                </c:pt>
                <c:pt idx="1">
                  <c:v>DCF valuations </c:v>
                </c:pt>
                <c:pt idx="2">
                  <c:v>DCF (WACC 8% - 10%) </c:v>
                </c:pt>
                <c:pt idx="3">
                  <c:v>135M - 105M shares stock price </c:v>
                </c:pt>
                <c:pt idx="4">
                  <c:v>Analyst estimates </c:v>
                </c:pt>
                <c:pt idx="5">
                  <c:v>Exit multiple valuations </c:v>
                </c:pt>
              </c:strCache>
            </c:strRef>
          </c:cat>
          <c:val>
            <c:numRef>
              <c:f>'Football field'!$C$64:$C$70</c:f>
              <c:numCache>
                <c:formatCode>#,##0.00_);\(#,##0.00\);0.00_);@_)</c:formatCode>
                <c:ptCount val="7"/>
                <c:pt idx="0">
                  <c:v>79</c:v>
                </c:pt>
                <c:pt idx="1">
                  <c:v>107.79</c:v>
                </c:pt>
                <c:pt idx="2">
                  <c:v>111.84</c:v>
                </c:pt>
                <c:pt idx="3">
                  <c:v>124.24</c:v>
                </c:pt>
                <c:pt idx="4">
                  <c:v>101</c:v>
                </c:pt>
                <c:pt idx="5">
                  <c:v>104.26</c:v>
                </c:pt>
              </c:numCache>
            </c:numRef>
          </c:val>
          <c:extLst>
            <c:ext xmlns:c16="http://schemas.microsoft.com/office/drawing/2014/chart" uri="{C3380CC4-5D6E-409C-BE32-E72D297353CC}">
              <c16:uniqueId val="{00000000-954C-4B64-8EED-147058E84CE2}"/>
            </c:ext>
          </c:extLst>
        </c:ser>
        <c:ser>
          <c:idx val="1"/>
          <c:order val="1"/>
          <c:spPr>
            <a:solidFill>
              <a:schemeClr val="tx2">
                <a:lumMod val="60000"/>
                <a:lumOff val="40000"/>
              </a:schemeClr>
            </a:solidFill>
            <a:ln>
              <a:noFill/>
            </a:ln>
            <a:effectLst/>
          </c:spPr>
          <c:invertIfNegative val="0"/>
          <c:cat>
            <c:strRef>
              <c:f>'Football field'!$B$64:$B$70</c:f>
              <c:strCache>
                <c:ptCount val="6"/>
                <c:pt idx="0">
                  <c:v>52 week trading range </c:v>
                </c:pt>
                <c:pt idx="1">
                  <c:v>DCF valuations </c:v>
                </c:pt>
                <c:pt idx="2">
                  <c:v>DCF (WACC 8% - 10%) </c:v>
                </c:pt>
                <c:pt idx="3">
                  <c:v>135M - 105M shares stock price </c:v>
                </c:pt>
                <c:pt idx="4">
                  <c:v>Analyst estimates </c:v>
                </c:pt>
                <c:pt idx="5">
                  <c:v>Exit multiple valuations </c:v>
                </c:pt>
              </c:strCache>
            </c:strRef>
          </c:cat>
          <c:val>
            <c:numRef>
              <c:f>'Football field'!$D$64:$D$70</c:f>
              <c:numCache>
                <c:formatCode>#,##0.00_);\(#,##0.00\);0.00_);@_)</c:formatCode>
                <c:ptCount val="7"/>
                <c:pt idx="0">
                  <c:v>50.52</c:v>
                </c:pt>
                <c:pt idx="1">
                  <c:v>28.33</c:v>
                </c:pt>
                <c:pt idx="2">
                  <c:v>40.259999999999991</c:v>
                </c:pt>
                <c:pt idx="3">
                  <c:v>35.5</c:v>
                </c:pt>
                <c:pt idx="4">
                  <c:v>51</c:v>
                </c:pt>
                <c:pt idx="5">
                  <c:v>57.25</c:v>
                </c:pt>
              </c:numCache>
            </c:numRef>
          </c:val>
          <c:extLst>
            <c:ext xmlns:c16="http://schemas.microsoft.com/office/drawing/2014/chart" uri="{C3380CC4-5D6E-409C-BE32-E72D297353CC}">
              <c16:uniqueId val="{00000001-954C-4B64-8EED-147058E84CE2}"/>
            </c:ext>
          </c:extLst>
        </c:ser>
        <c:ser>
          <c:idx val="2"/>
          <c:order val="2"/>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'Football field'!$B$64:$B$70</c:f>
              <c:strCache>
                <c:ptCount val="6"/>
                <c:pt idx="0">
                  <c:v>52 week trading range </c:v>
                </c:pt>
                <c:pt idx="1">
                  <c:v>DCF valuations </c:v>
                </c:pt>
                <c:pt idx="2">
                  <c:v>DCF (WACC 8% - 10%) </c:v>
                </c:pt>
                <c:pt idx="3">
                  <c:v>135M - 105M shares stock price </c:v>
                </c:pt>
                <c:pt idx="4">
                  <c:v>Analyst estimates </c:v>
                </c:pt>
                <c:pt idx="5">
                  <c:v>Exit multiple valuations </c:v>
                </c:pt>
              </c:strCache>
            </c:strRef>
          </c:cat>
          <c:val>
            <c:numRef>
              <c:f>'Football field'!$E$64:$E$70</c:f>
              <c:numCache>
                <c:formatCode>#,##0.00_);\(#,##0.00\);0.00_);@_)</c:formatCode>
                <c:ptCount val="7"/>
                <c:pt idx="0">
                  <c:v>135.52000000000001</c:v>
                </c:pt>
                <c:pt idx="1">
                  <c:v>136.12</c:v>
                </c:pt>
                <c:pt idx="2">
                  <c:v>152.1</c:v>
                </c:pt>
                <c:pt idx="3">
                  <c:v>159.72999999999999</c:v>
                </c:pt>
                <c:pt idx="4">
                  <c:v>152</c:v>
                </c:pt>
                <c:pt idx="5">
                  <c:v>161.51</c:v>
                </c:pt>
              </c:numCache>
            </c:numRef>
          </c:val>
          <c:extLst>
            <c:ext xmlns:c16="http://schemas.microsoft.com/office/drawing/2014/chart" uri="{C3380CC4-5D6E-409C-BE32-E72D297353CC}">
              <c16:uniqueId val="{00000002-954C-4B64-8EED-147058E84CE2}"/>
            </c:ext>
          </c:extLst>
        </c:ser>
        <c:dLbls>
          <c:showLegendKey val="0"/>
          <c:showVal val="0"/>
          <c:showCatName val="0"/>
          <c:showSerName val="0"/>
          <c:showPercent val="0"/>
          <c:showBubbleSize val="0"/>
        </c:dLbls>
        <c:gapWidth val="150"/>
        <c:overlap val="100"/>
        <c:axId val="339731503"/>
        <c:axId val="339752719"/>
      </c:barChart>
      <c:catAx>
        <c:axId val="33973150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39752719"/>
        <c:crosses val="autoZero"/>
        <c:auto val="1"/>
        <c:lblAlgn val="ctr"/>
        <c:lblOffset val="100"/>
        <c:noMultiLvlLbl val="0"/>
      </c:catAx>
      <c:valAx>
        <c:axId val="339752719"/>
        <c:scaling>
          <c:orientation val="minMax"/>
          <c:max val="180"/>
          <c:min val="60"/>
        </c:scaling>
        <c:delete val="0"/>
        <c:axPos val="b"/>
        <c:numFmt formatCode="#,##0.00_);\(#,##0.00\);0.00_);@_)" sourceLinked="1"/>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39731503"/>
        <c:crosses val="max"/>
        <c:crossBetween val="between"/>
        <c:majorUnit val="30"/>
        <c:min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Revenue</c:v>
                </c:pt>
              </c:strCache>
            </c:strRef>
          </c:tx>
          <c:dPt>
            <c:idx val="0"/>
            <c:bubble3D val="0"/>
            <c:spPr>
              <a:solidFill>
                <a:schemeClr val="accent1">
                  <a:lumMod val="75000"/>
                </a:schemeClr>
              </a:solidFill>
              <a:ln w="19050">
                <a:solidFill>
                  <a:schemeClr val="lt1"/>
                </a:solidFill>
              </a:ln>
              <a:effectLst/>
            </c:spPr>
            <c:extLst>
              <c:ext xmlns:c16="http://schemas.microsoft.com/office/drawing/2014/chart" uri="{C3380CC4-5D6E-409C-BE32-E72D297353CC}">
                <c16:uniqueId val="{00000002-A853-4451-BFB9-B933E24449F0}"/>
              </c:ext>
            </c:extLst>
          </c:dPt>
          <c:dPt>
            <c:idx val="1"/>
            <c:bubble3D val="0"/>
            <c:spPr>
              <a:solidFill>
                <a:schemeClr val="tx2">
                  <a:lumMod val="50000"/>
                  <a:lumOff val="50000"/>
                </a:schemeClr>
              </a:solidFill>
              <a:ln w="19050">
                <a:solidFill>
                  <a:schemeClr val="lt1"/>
                </a:solidFill>
              </a:ln>
              <a:effectLst/>
            </c:spPr>
            <c:extLst>
              <c:ext xmlns:c16="http://schemas.microsoft.com/office/drawing/2014/chart" uri="{C3380CC4-5D6E-409C-BE32-E72D297353CC}">
                <c16:uniqueId val="{00000001-A853-4451-BFB9-B933E24449F0}"/>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3-A853-4451-BFB9-B933E24449F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4C4-4C8A-A4DE-2049B79907D1}"/>
              </c:ext>
            </c:extLst>
          </c:dPt>
          <c:dLbls>
            <c:dLbl>
              <c:idx val="0"/>
              <c:tx>
                <c:rich>
                  <a:bodyPr rot="0" spcFirstLastPara="1" vertOverflow="ellipsis" vert="horz" wrap="square" lIns="38100" tIns="19050" rIns="38100" bIns="19050" anchor="ctr" anchorCtr="1">
                    <a:noAutofit/>
                  </a:bodyPr>
                  <a:lstStyle/>
                  <a:p>
                    <a:pPr>
                      <a:defRPr sz="1100" b="0" i="0" u="none" strike="noStrike" kern="1200" baseline="0">
                        <a:solidFill>
                          <a:schemeClr val="tx1"/>
                        </a:solidFill>
                        <a:latin typeface="+mn-lt"/>
                        <a:ea typeface="+mn-ea"/>
                        <a:cs typeface="+mn-cs"/>
                      </a:defRPr>
                    </a:pPr>
                    <a:fld id="{04E46F76-37BD-476E-8EC2-656A64103492}" type="PERCENTAGE">
                      <a:rPr lang="en-US" sz="1100" baseline="0" smtClean="0"/>
                      <a:pPr>
                        <a:defRPr sz="1100">
                          <a:solidFill>
                            <a:schemeClr val="tx1"/>
                          </a:solidFill>
                        </a:defRPr>
                      </a:pPr>
                      <a:t>[PERCENTAGE]</a:t>
                    </a:fld>
                    <a:endParaRPr lang="en-GB"/>
                  </a:p>
                </c:rich>
              </c:tx>
              <c:spPr>
                <a:noFill/>
                <a:ln>
                  <a:noFill/>
                </a:ln>
                <a:effectLst/>
              </c:spPr>
              <c:txPr>
                <a:bodyPr rot="0" spcFirstLastPara="1" vertOverflow="ellipsis" vert="horz" wrap="square" lIns="38100" tIns="19050" rIns="38100" bIns="19050" anchor="ctr" anchorCtr="1">
                  <a:noAutofit/>
                </a:bodyPr>
                <a:lstStyle/>
                <a:p>
                  <a:pPr>
                    <a:defRPr sz="1100" b="0" i="0" u="none" strike="noStrike" kern="1200" baseline="0">
                      <a:solidFill>
                        <a:schemeClr val="tx1"/>
                      </a:solidFill>
                      <a:latin typeface="+mn-lt"/>
                      <a:ea typeface="+mn-ea"/>
                      <a:cs typeface="+mn-cs"/>
                    </a:defRPr>
                  </a:pPr>
                  <a:endParaRPr lang="en-GB"/>
                </a:p>
              </c:txPr>
              <c:dLblPos val="outEnd"/>
              <c:showLegendKey val="0"/>
              <c:showVal val="0"/>
              <c:showCatName val="0"/>
              <c:showSerName val="0"/>
              <c:showPercent val="1"/>
              <c:showBubbleSize val="0"/>
              <c:extLst>
                <c:ext xmlns:c15="http://schemas.microsoft.com/office/drawing/2012/chart" uri="{CE6537A1-D6FC-4f65-9D91-7224C49458BB}">
                  <c15:layout>
                    <c:manualLayout>
                      <c:w val="0.20454545454545456"/>
                      <c:h val="0.18005943379105921"/>
                    </c:manualLayout>
                  </c15:layout>
                  <c15:dlblFieldTable/>
                  <c15:showDataLabelsRange val="0"/>
                </c:ext>
                <c:ext xmlns:c16="http://schemas.microsoft.com/office/drawing/2014/chart" uri="{C3380CC4-5D6E-409C-BE32-E72D297353CC}">
                  <c16:uniqueId val="{00000002-A853-4451-BFB9-B933E24449F0}"/>
                </c:ext>
              </c:extLst>
            </c:dLbl>
            <c:dLbl>
              <c:idx val="1"/>
              <c:tx>
                <c:rich>
                  <a:bodyPr/>
                  <a:lstStyle/>
                  <a:p>
                    <a:fld id="{1A966AEC-9FE6-4E97-BB63-241D9638D57F}" type="PERCENTAGE">
                      <a:rPr lang="en-US" smtClean="0"/>
                      <a:pPr/>
                      <a:t>[PERCENTAGE]</a:t>
                    </a:fld>
                    <a:endParaRPr lang="en-GB"/>
                  </a:p>
                </c:rich>
              </c:tx>
              <c:dLblPos val="out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853-4451-BFB9-B933E24449F0}"/>
                </c:ext>
              </c:extLst>
            </c:dLbl>
            <c:dLbl>
              <c:idx val="2"/>
              <c:tx>
                <c:rich>
                  <a:bodyPr/>
                  <a:lstStyle/>
                  <a:p>
                    <a:fld id="{84F36845-CFA8-4B21-8CA2-113465F2F3F5}" type="PERCENTAGE">
                      <a:rPr lang="en-US" smtClean="0"/>
                      <a:pPr/>
                      <a:t>[PERCENTAGE]</a:t>
                    </a:fld>
                    <a:endParaRPr lang="en-GB"/>
                  </a:p>
                </c:rich>
              </c:tx>
              <c:dLblPos val="out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853-4451-BFB9-B933E24449F0}"/>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US</c:v>
                </c:pt>
                <c:pt idx="1">
                  <c:v>EMEA</c:v>
                </c:pt>
                <c:pt idx="2">
                  <c:v>Asia Pacific</c:v>
                </c:pt>
                <c:pt idx="3">
                  <c:v>Canada</c:v>
                </c:pt>
              </c:strCache>
            </c:strRef>
          </c:cat>
          <c:val>
            <c:numRef>
              <c:f>Sheet1!$B$2:$B$5</c:f>
              <c:numCache>
                <c:formatCode>0%</c:formatCode>
                <c:ptCount val="4"/>
                <c:pt idx="0">
                  <c:v>0.54</c:v>
                </c:pt>
                <c:pt idx="1">
                  <c:v>0.23</c:v>
                </c:pt>
                <c:pt idx="2">
                  <c:v>0.16</c:v>
                </c:pt>
                <c:pt idx="3">
                  <c:v>7.0000000000000007E-2</c:v>
                </c:pt>
              </c:numCache>
            </c:numRef>
          </c:val>
          <c:extLst>
            <c:ext xmlns:c16="http://schemas.microsoft.com/office/drawing/2014/chart" uri="{C3380CC4-5D6E-409C-BE32-E72D297353CC}">
              <c16:uniqueId val="{00000000-A853-4451-BFB9-B933E24449F0}"/>
            </c:ext>
          </c:extLst>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3.6363688423319148E-3"/>
          <c:y val="0.73694970644027247"/>
          <c:w val="0.96126035971418711"/>
          <c:h val="0.1435999362133381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31C4-4336-87AF-7D947EDF3283}"/>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1-31C4-4336-87AF-7D947EDF3283}"/>
              </c:ext>
            </c:extLst>
          </c:dPt>
          <c:dPt>
            <c:idx val="2"/>
            <c:bubble3D val="0"/>
            <c:spPr>
              <a:solidFill>
                <a:schemeClr val="bg2">
                  <a:lumMod val="90000"/>
                </a:schemeClr>
              </a:solidFill>
              <a:ln w="19050">
                <a:solidFill>
                  <a:schemeClr val="lt1"/>
                </a:solidFill>
              </a:ln>
              <a:effectLst/>
            </c:spPr>
            <c:extLst>
              <c:ext xmlns:c16="http://schemas.microsoft.com/office/drawing/2014/chart" uri="{C3380CC4-5D6E-409C-BE32-E72D297353CC}">
                <c16:uniqueId val="{00000003-31C4-4336-87AF-7D947EDF3283}"/>
              </c:ext>
            </c:extLst>
          </c:dPt>
          <c:dPt>
            <c:idx val="3"/>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6-858A-4D78-959B-9EEF4666FD77}"/>
              </c:ext>
            </c:extLst>
          </c:dPt>
          <c:dLbls>
            <c:dLbl>
              <c:idx val="0"/>
              <c:tx>
                <c:rich>
                  <a:bodyPr/>
                  <a:lstStyle/>
                  <a:p>
                    <a:fld id="{4BA7F7A2-EAD2-4581-83AF-48348F3FBF59}" type="PERCENTAGE">
                      <a:rPr lang="en-US" smtClean="0"/>
                      <a:pPr/>
                      <a:t>[PERCENTAGE]</a:t>
                    </a:fld>
                    <a:endParaRPr lang="en-GB"/>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1C4-4336-87AF-7D947EDF3283}"/>
                </c:ext>
              </c:extLst>
            </c:dLbl>
            <c:dLbl>
              <c:idx val="1"/>
              <c:tx>
                <c:rich>
                  <a:bodyPr/>
                  <a:lstStyle/>
                  <a:p>
                    <a:fld id="{706D531A-25C1-4BE1-9057-F7F9E76F1E86}" type="PERCENTAGE">
                      <a:rPr lang="en-US" smtClean="0"/>
                      <a:pPr/>
                      <a:t>[PERCENTAGE]</a:t>
                    </a:fld>
                    <a:endParaRPr lang="en-GB"/>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1C4-4336-87AF-7D947EDF3283}"/>
                </c:ext>
              </c:extLst>
            </c:dLbl>
            <c:dLbl>
              <c:idx val="2"/>
              <c:tx>
                <c:rich>
                  <a:bodyPr/>
                  <a:lstStyle/>
                  <a:p>
                    <a:fld id="{16D49060-767B-4A18-93D7-78310141C5C0}" type="PERCENTAGE">
                      <a:rPr lang="en-US" smtClean="0"/>
                      <a:pPr/>
                      <a:t>[PERCENTAGE]</a:t>
                    </a:fld>
                    <a:endParaRPr lang="en-GB"/>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1C4-4336-87AF-7D947EDF3283}"/>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Water</c:v>
                </c:pt>
                <c:pt idx="1">
                  <c:v>Transportation</c:v>
                </c:pt>
                <c:pt idx="2">
                  <c:v>Facilities</c:v>
                </c:pt>
                <c:pt idx="3">
                  <c:v>ESG</c:v>
                </c:pt>
              </c:strCache>
            </c:strRef>
          </c:cat>
          <c:val>
            <c:numRef>
              <c:f>Sheet1!$B$2:$B$5</c:f>
              <c:numCache>
                <c:formatCode>0%</c:formatCode>
                <c:ptCount val="4"/>
                <c:pt idx="0">
                  <c:v>0.24</c:v>
                </c:pt>
                <c:pt idx="1">
                  <c:v>0.38</c:v>
                </c:pt>
                <c:pt idx="2">
                  <c:v>0.28999999999999998</c:v>
                </c:pt>
                <c:pt idx="3">
                  <c:v>0.09</c:v>
                </c:pt>
              </c:numCache>
            </c:numRef>
          </c:val>
          <c:extLst>
            <c:ext xmlns:c16="http://schemas.microsoft.com/office/drawing/2014/chart" uri="{C3380CC4-5D6E-409C-BE32-E72D297353CC}">
              <c16:uniqueId val="{00000000-31C4-4336-87AF-7D947EDF3283}"/>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3.9898974032063141E-2"/>
          <c:y val="0.80193370568591138"/>
          <c:w val="0.89999964209033556"/>
          <c:h val="0.115753365837218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Americas</c:v>
                </c:pt>
              </c:strCache>
            </c:strRef>
          </c:tx>
          <c:spPr>
            <a:solidFill>
              <a:schemeClr val="accent1">
                <a:lumMod val="75000"/>
              </a:schemeClr>
            </a:solidFill>
            <a:ln>
              <a:noFill/>
            </a:ln>
            <a:effectLst/>
          </c:spPr>
          <c:invertIfNegative val="0"/>
          <c:dLbls>
            <c:delete val="1"/>
          </c:dLbls>
          <c:cat>
            <c:numRef>
              <c:f>Sheet1!$A$2:$A$5</c:f>
              <c:numCache>
                <c:formatCode>General</c:formatCode>
                <c:ptCount val="4"/>
                <c:pt idx="0">
                  <c:v>2022</c:v>
                </c:pt>
                <c:pt idx="1">
                  <c:v>2023</c:v>
                </c:pt>
                <c:pt idx="2">
                  <c:v>2024</c:v>
                </c:pt>
                <c:pt idx="3">
                  <c:v>2025</c:v>
                </c:pt>
              </c:numCache>
            </c:numRef>
          </c:cat>
          <c:val>
            <c:numRef>
              <c:f>Sheet1!$B$2:$B$5</c:f>
              <c:numCache>
                <c:formatCode>General</c:formatCode>
                <c:ptCount val="4"/>
                <c:pt idx="0">
                  <c:v>9.94</c:v>
                </c:pt>
                <c:pt idx="1">
                  <c:v>10.98</c:v>
                </c:pt>
                <c:pt idx="2">
                  <c:v>12.49</c:v>
                </c:pt>
                <c:pt idx="3">
                  <c:v>12.53</c:v>
                </c:pt>
              </c:numCache>
            </c:numRef>
          </c:val>
          <c:extLst>
            <c:ext xmlns:c16="http://schemas.microsoft.com/office/drawing/2014/chart" uri="{C3380CC4-5D6E-409C-BE32-E72D297353CC}">
              <c16:uniqueId val="{00000000-AC78-41D8-87FF-1CC5941A6DB3}"/>
            </c:ext>
          </c:extLst>
        </c:ser>
        <c:ser>
          <c:idx val="1"/>
          <c:order val="1"/>
          <c:tx>
            <c:strRef>
              <c:f>Sheet1!$C$1</c:f>
              <c:strCache>
                <c:ptCount val="1"/>
                <c:pt idx="0">
                  <c:v>International</c:v>
                </c:pt>
              </c:strCache>
            </c:strRef>
          </c:tx>
          <c:spPr>
            <a:solidFill>
              <a:schemeClr val="tx2">
                <a:lumMod val="50000"/>
                <a:lumOff val="50000"/>
              </a:schemeClr>
            </a:solidFill>
            <a:ln>
              <a:noFill/>
            </a:ln>
            <a:effectLst/>
          </c:spPr>
          <c:invertIfNegative val="0"/>
          <c:dLbls>
            <c:delete val="1"/>
          </c:dLbls>
          <c:cat>
            <c:numRef>
              <c:f>Sheet1!$A$2:$A$5</c:f>
              <c:numCache>
                <c:formatCode>General</c:formatCode>
                <c:ptCount val="4"/>
                <c:pt idx="0">
                  <c:v>2022</c:v>
                </c:pt>
                <c:pt idx="1">
                  <c:v>2023</c:v>
                </c:pt>
                <c:pt idx="2">
                  <c:v>2024</c:v>
                </c:pt>
                <c:pt idx="3">
                  <c:v>2025</c:v>
                </c:pt>
              </c:numCache>
            </c:numRef>
          </c:cat>
          <c:val>
            <c:numRef>
              <c:f>Sheet1!$C$2:$C$5</c:f>
              <c:numCache>
                <c:formatCode>General</c:formatCode>
                <c:ptCount val="4"/>
                <c:pt idx="0">
                  <c:v>3.21</c:v>
                </c:pt>
                <c:pt idx="1">
                  <c:v>3.4</c:v>
                </c:pt>
                <c:pt idx="2">
                  <c:v>3.62</c:v>
                </c:pt>
                <c:pt idx="3">
                  <c:v>3.61</c:v>
                </c:pt>
              </c:numCache>
            </c:numRef>
          </c:val>
          <c:extLst>
            <c:ext xmlns:c16="http://schemas.microsoft.com/office/drawing/2014/chart" uri="{C3380CC4-5D6E-409C-BE32-E72D297353CC}">
              <c16:uniqueId val="{00000001-AC78-41D8-87FF-1CC5941A6DB3}"/>
            </c:ext>
          </c:extLst>
        </c:ser>
        <c:dLbls>
          <c:showLegendKey val="0"/>
          <c:showVal val="1"/>
          <c:showCatName val="0"/>
          <c:showSerName val="0"/>
          <c:showPercent val="0"/>
          <c:showBubbleSize val="0"/>
        </c:dLbls>
        <c:gapWidth val="150"/>
        <c:overlap val="100"/>
        <c:axId val="1283658640"/>
        <c:axId val="1283659600"/>
      </c:barChart>
      <c:catAx>
        <c:axId val="128365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3659600"/>
        <c:crosses val="autoZero"/>
        <c:auto val="1"/>
        <c:lblAlgn val="ctr"/>
        <c:lblOffset val="100"/>
        <c:noMultiLvlLbl val="0"/>
      </c:catAx>
      <c:valAx>
        <c:axId val="1283659600"/>
        <c:scaling>
          <c:orientation val="minMax"/>
          <c:max val="20"/>
          <c:min val="1"/>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Revenue</a:t>
                </a:r>
                <a:r>
                  <a:rPr lang="en-GB" baseline="0"/>
                  <a:t> ($B)</a:t>
                </a:r>
                <a:endParaRPr lang="en-GB"/>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3658640"/>
        <c:crosses val="autoZero"/>
        <c:crossBetween val="between"/>
      </c:valAx>
      <c:spPr>
        <a:noFill/>
        <a:ln>
          <a:noFill/>
        </a:ln>
        <a:effectLst/>
      </c:spPr>
    </c:plotArea>
    <c:legend>
      <c:legendPos val="b"/>
      <c:layout>
        <c:manualLayout>
          <c:xMode val="edge"/>
          <c:yMode val="edge"/>
          <c:x val="7.1540332470017148E-2"/>
          <c:y val="0.86710667715685963"/>
          <c:w val="0.89999991519487366"/>
          <c:h val="0.1100950349189996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Gross</c:v>
                </c:pt>
              </c:strCache>
            </c:strRef>
          </c:tx>
          <c:spPr>
            <a:ln w="28575" cap="rnd">
              <a:solidFill>
                <a:schemeClr val="tx2">
                  <a:lumMod val="25000"/>
                  <a:lumOff val="75000"/>
                </a:schemeClr>
              </a:solidFill>
              <a:round/>
            </a:ln>
            <a:effectLst/>
          </c:spPr>
          <c:marker>
            <c:symbol val="circle"/>
            <c:size val="5"/>
            <c:spPr>
              <a:solidFill>
                <a:schemeClr val="accent1"/>
              </a:solidFill>
              <a:ln w="9525">
                <a:solidFill>
                  <a:schemeClr val="tx2">
                    <a:lumMod val="25000"/>
                    <a:lumOff val="75000"/>
                  </a:schemeClr>
                </a:solidFill>
              </a:ln>
              <a:effectLst/>
            </c:spPr>
          </c:marker>
          <c:cat>
            <c:numRef>
              <c:f>Sheet1!$A$2:$A$5</c:f>
              <c:numCache>
                <c:formatCode>General</c:formatCode>
                <c:ptCount val="4"/>
                <c:pt idx="0">
                  <c:v>2022</c:v>
                </c:pt>
                <c:pt idx="1">
                  <c:v>2023</c:v>
                </c:pt>
                <c:pt idx="2">
                  <c:v>2024</c:v>
                </c:pt>
                <c:pt idx="3">
                  <c:v>2025</c:v>
                </c:pt>
              </c:numCache>
            </c:numRef>
          </c:cat>
          <c:val>
            <c:numRef>
              <c:f>Sheet1!$B$2:$B$5</c:f>
              <c:numCache>
                <c:formatCode>General</c:formatCode>
                <c:ptCount val="4"/>
                <c:pt idx="0">
                  <c:v>6.5</c:v>
                </c:pt>
                <c:pt idx="1">
                  <c:v>6.54</c:v>
                </c:pt>
                <c:pt idx="2">
                  <c:v>6.84</c:v>
                </c:pt>
                <c:pt idx="3">
                  <c:v>7.7</c:v>
                </c:pt>
              </c:numCache>
            </c:numRef>
          </c:val>
          <c:smooth val="0"/>
          <c:extLst>
            <c:ext xmlns:c16="http://schemas.microsoft.com/office/drawing/2014/chart" uri="{C3380CC4-5D6E-409C-BE32-E72D297353CC}">
              <c16:uniqueId val="{00000000-FE21-43BA-B153-F1807E5BD7CF}"/>
            </c:ext>
          </c:extLst>
        </c:ser>
        <c:ser>
          <c:idx val="1"/>
          <c:order val="1"/>
          <c:tx>
            <c:strRef>
              <c:f>Sheet1!$C$1</c:f>
              <c:strCache>
                <c:ptCount val="1"/>
                <c:pt idx="0">
                  <c:v>Operating</c:v>
                </c:pt>
              </c:strCache>
            </c:strRef>
          </c:tx>
          <c:spPr>
            <a:ln w="28575" cap="rnd">
              <a:solidFill>
                <a:schemeClr val="tx2">
                  <a:lumMod val="50000"/>
                  <a:lumOff val="50000"/>
                </a:schemeClr>
              </a:solidFill>
              <a:round/>
            </a:ln>
            <a:effectLst/>
          </c:spPr>
          <c:marker>
            <c:symbol val="circle"/>
            <c:size val="5"/>
            <c:spPr>
              <a:solidFill>
                <a:schemeClr val="accent1">
                  <a:lumMod val="40000"/>
                  <a:lumOff val="60000"/>
                </a:schemeClr>
              </a:solidFill>
              <a:ln w="9525">
                <a:solidFill>
                  <a:schemeClr val="tx2">
                    <a:lumMod val="50000"/>
                    <a:lumOff val="50000"/>
                  </a:schemeClr>
                </a:solidFill>
              </a:ln>
              <a:effectLst/>
            </c:spPr>
          </c:marker>
          <c:cat>
            <c:numRef>
              <c:f>Sheet1!$A$2:$A$5</c:f>
              <c:numCache>
                <c:formatCode>General</c:formatCode>
                <c:ptCount val="4"/>
                <c:pt idx="0">
                  <c:v>2022</c:v>
                </c:pt>
                <c:pt idx="1">
                  <c:v>2023</c:v>
                </c:pt>
                <c:pt idx="2">
                  <c:v>2024</c:v>
                </c:pt>
                <c:pt idx="3">
                  <c:v>2025</c:v>
                </c:pt>
              </c:numCache>
            </c:numRef>
          </c:cat>
          <c:val>
            <c:numRef>
              <c:f>Sheet1!$C$2:$C$5</c:f>
              <c:numCache>
                <c:formatCode>General</c:formatCode>
                <c:ptCount val="4"/>
                <c:pt idx="0">
                  <c:v>4.75</c:v>
                </c:pt>
                <c:pt idx="1">
                  <c:v>2.25</c:v>
                </c:pt>
                <c:pt idx="2">
                  <c:v>5.56</c:v>
                </c:pt>
                <c:pt idx="3">
                  <c:v>6.34</c:v>
                </c:pt>
              </c:numCache>
            </c:numRef>
          </c:val>
          <c:smooth val="0"/>
          <c:extLst>
            <c:ext xmlns:c16="http://schemas.microsoft.com/office/drawing/2014/chart" uri="{C3380CC4-5D6E-409C-BE32-E72D297353CC}">
              <c16:uniqueId val="{00000001-FE21-43BA-B153-F1807E5BD7CF}"/>
            </c:ext>
          </c:extLst>
        </c:ser>
        <c:ser>
          <c:idx val="2"/>
          <c:order val="2"/>
          <c:tx>
            <c:strRef>
              <c:f>Sheet1!$D$1</c:f>
              <c:strCache>
                <c:ptCount val="1"/>
                <c:pt idx="0">
                  <c:v>Net</c:v>
                </c:pt>
              </c:strCache>
            </c:strRef>
          </c:tx>
          <c:spPr>
            <a:ln w="28575" cap="rnd">
              <a:solidFill>
                <a:schemeClr val="accent1">
                  <a:lumMod val="50000"/>
                </a:schemeClr>
              </a:solidFill>
              <a:round/>
            </a:ln>
            <a:effectLst/>
          </c:spPr>
          <c:marker>
            <c:symbol val="circle"/>
            <c:size val="5"/>
            <c:spPr>
              <a:solidFill>
                <a:schemeClr val="accent3"/>
              </a:solidFill>
              <a:ln w="9525">
                <a:solidFill>
                  <a:schemeClr val="accent1">
                    <a:lumMod val="50000"/>
                  </a:schemeClr>
                </a:solidFill>
              </a:ln>
              <a:effectLst/>
            </c:spPr>
          </c:marker>
          <c:cat>
            <c:numRef>
              <c:f>Sheet1!$A$2:$A$5</c:f>
              <c:numCache>
                <c:formatCode>General</c:formatCode>
                <c:ptCount val="4"/>
                <c:pt idx="0">
                  <c:v>2022</c:v>
                </c:pt>
                <c:pt idx="1">
                  <c:v>2023</c:v>
                </c:pt>
                <c:pt idx="2">
                  <c:v>2024</c:v>
                </c:pt>
                <c:pt idx="3">
                  <c:v>2025</c:v>
                </c:pt>
              </c:numCache>
            </c:numRef>
          </c:cat>
          <c:val>
            <c:numRef>
              <c:f>Sheet1!$D$2:$D$5</c:f>
              <c:numCache>
                <c:formatCode>General</c:formatCode>
                <c:ptCount val="4"/>
                <c:pt idx="0">
                  <c:v>2.54</c:v>
                </c:pt>
                <c:pt idx="1">
                  <c:v>0.42</c:v>
                </c:pt>
                <c:pt idx="2">
                  <c:v>2.93</c:v>
                </c:pt>
                <c:pt idx="3">
                  <c:v>2.94</c:v>
                </c:pt>
              </c:numCache>
            </c:numRef>
          </c:val>
          <c:smooth val="0"/>
          <c:extLst>
            <c:ext xmlns:c16="http://schemas.microsoft.com/office/drawing/2014/chart" uri="{C3380CC4-5D6E-409C-BE32-E72D297353CC}">
              <c16:uniqueId val="{00000002-FE21-43BA-B153-F1807E5BD7CF}"/>
            </c:ext>
          </c:extLst>
        </c:ser>
        <c:dLbls>
          <c:showLegendKey val="0"/>
          <c:showVal val="0"/>
          <c:showCatName val="0"/>
          <c:showSerName val="0"/>
          <c:showPercent val="0"/>
          <c:showBubbleSize val="0"/>
        </c:dLbls>
        <c:marker val="1"/>
        <c:smooth val="0"/>
        <c:axId val="1285022544"/>
        <c:axId val="1285024464"/>
      </c:lineChart>
      <c:catAx>
        <c:axId val="1285022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5024464"/>
        <c:crosses val="autoZero"/>
        <c:auto val="1"/>
        <c:lblAlgn val="ctr"/>
        <c:lblOffset val="100"/>
        <c:noMultiLvlLbl val="0"/>
      </c:catAx>
      <c:valAx>
        <c:axId val="1285024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50225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Shares outstanding (M)</c:v>
                </c:pt>
              </c:strCache>
            </c:strRef>
          </c:tx>
          <c:spPr>
            <a:solidFill>
              <a:schemeClr val="accent1"/>
            </a:solidFill>
            <a:ln>
              <a:noFill/>
            </a:ln>
            <a:effectLst/>
          </c:spPr>
          <c:invertIfNegative val="0"/>
          <c:dLbls>
            <c:dLbl>
              <c:idx val="0"/>
              <c:tx>
                <c:rich>
                  <a:bodyPr/>
                  <a:lstStyle/>
                  <a:p>
                    <a:fld id="{0B4B0915-AF33-4DE0-B038-9FDF6A1B05A8}" type="VALUE">
                      <a:rPr lang="en-US" sz="900">
                        <a:solidFill>
                          <a:schemeClr val="bg1"/>
                        </a:solidFill>
                      </a:rPr>
                      <a:pPr/>
                      <a:t>[VALUE]</a:t>
                    </a:fld>
                    <a:endParaRPr lang="en-GB"/>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64D4-4E7F-8EBA-2472036CFF90}"/>
                </c:ext>
              </c:extLst>
            </c:dLbl>
            <c:dLbl>
              <c:idx val="1"/>
              <c:tx>
                <c:rich>
                  <a:bodyPr/>
                  <a:lstStyle/>
                  <a:p>
                    <a:fld id="{05D47C9C-1D44-4416-9F7E-5A8C81AB18A6}" type="VALUE">
                      <a:rPr lang="en-US" sz="900">
                        <a:solidFill>
                          <a:schemeClr val="bg1"/>
                        </a:solidFill>
                      </a:rPr>
                      <a:pPr/>
                      <a:t>[VALUE]</a:t>
                    </a:fld>
                    <a:endParaRPr lang="en-GB"/>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64D4-4E7F-8EBA-2472036CFF9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2020</c:v>
                </c:pt>
                <c:pt idx="1">
                  <c:v>2026</c:v>
                </c:pt>
              </c:numCache>
            </c:numRef>
          </c:cat>
          <c:val>
            <c:numRef>
              <c:f>Sheet1!$B$2:$B$3</c:f>
              <c:numCache>
                <c:formatCode>General</c:formatCode>
                <c:ptCount val="2"/>
                <c:pt idx="0">
                  <c:v>161</c:v>
                </c:pt>
                <c:pt idx="1">
                  <c:v>131</c:v>
                </c:pt>
              </c:numCache>
            </c:numRef>
          </c:val>
          <c:extLst>
            <c:ext xmlns:c16="http://schemas.microsoft.com/office/drawing/2014/chart" uri="{C3380CC4-5D6E-409C-BE32-E72D297353CC}">
              <c16:uniqueId val="{00000000-64D4-4E7F-8EBA-2472036CFF90}"/>
            </c:ext>
          </c:extLst>
        </c:ser>
        <c:dLbls>
          <c:showLegendKey val="0"/>
          <c:showVal val="0"/>
          <c:showCatName val="0"/>
          <c:showSerName val="0"/>
          <c:showPercent val="0"/>
          <c:showBubbleSize val="0"/>
        </c:dLbls>
        <c:gapWidth val="150"/>
        <c:overlap val="100"/>
        <c:axId val="1345684751"/>
        <c:axId val="1345690031"/>
      </c:barChart>
      <c:catAx>
        <c:axId val="134568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5690031"/>
        <c:crosses val="autoZero"/>
        <c:auto val="1"/>
        <c:lblAlgn val="ctr"/>
        <c:lblOffset val="100"/>
        <c:noMultiLvlLbl val="0"/>
      </c:catAx>
      <c:valAx>
        <c:axId val="134569003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45684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87E2E1-118B-4377-8EA2-B05DAE00A6B9}" type="datetimeFigureOut">
              <a:rPr lang="en-GB" smtClean="0"/>
              <a:t>05/05/2026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14DAF-CB7F-4300-A8DA-D908335E2E36}" type="slidenum">
              <a:rPr lang="en-GB" smtClean="0"/>
              <a:t>‹#›</a:t>
            </a:fld>
            <a:endParaRPr lang="en-GB"/>
          </a:p>
        </p:txBody>
      </p:sp>
    </p:spTree>
    <p:extLst>
      <p:ext uri="{BB962C8B-B14F-4D97-AF65-F5344CB8AC3E}">
        <p14:creationId xmlns:p14="http://schemas.microsoft.com/office/powerpoint/2010/main" val="3866163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7014DAF-CB7F-4300-A8DA-D908335E2E36}" type="slidenum">
              <a:rPr lang="en-GB" smtClean="0"/>
              <a:t>3</a:t>
            </a:fld>
            <a:endParaRPr lang="en-GB"/>
          </a:p>
        </p:txBody>
      </p:sp>
    </p:spTree>
    <p:extLst>
      <p:ext uri="{BB962C8B-B14F-4D97-AF65-F5344CB8AC3E}">
        <p14:creationId xmlns:p14="http://schemas.microsoft.com/office/powerpoint/2010/main" val="3140223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7014DAF-CB7F-4300-A8DA-D908335E2E36}" type="slidenum">
              <a:rPr lang="en-GB" smtClean="0"/>
              <a:t>4</a:t>
            </a:fld>
            <a:endParaRPr lang="en-GB"/>
          </a:p>
        </p:txBody>
      </p:sp>
    </p:spTree>
    <p:extLst>
      <p:ext uri="{BB962C8B-B14F-4D97-AF65-F5344CB8AC3E}">
        <p14:creationId xmlns:p14="http://schemas.microsoft.com/office/powerpoint/2010/main" val="2443634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7014DAF-CB7F-4300-A8DA-D908335E2E36}" type="slidenum">
              <a:rPr lang="en-GB" smtClean="0"/>
              <a:t>5</a:t>
            </a:fld>
            <a:endParaRPr lang="en-GB"/>
          </a:p>
        </p:txBody>
      </p:sp>
    </p:spTree>
    <p:extLst>
      <p:ext uri="{BB962C8B-B14F-4D97-AF65-F5344CB8AC3E}">
        <p14:creationId xmlns:p14="http://schemas.microsoft.com/office/powerpoint/2010/main" val="610813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7014DAF-CB7F-4300-A8DA-D908335E2E36}" type="slidenum">
              <a:rPr lang="en-GB" smtClean="0"/>
              <a:t>8</a:t>
            </a:fld>
            <a:endParaRPr lang="en-GB"/>
          </a:p>
        </p:txBody>
      </p:sp>
    </p:spTree>
    <p:extLst>
      <p:ext uri="{BB962C8B-B14F-4D97-AF65-F5344CB8AC3E}">
        <p14:creationId xmlns:p14="http://schemas.microsoft.com/office/powerpoint/2010/main" val="2720429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7014DAF-CB7F-4300-A8DA-D908335E2E36}" type="slidenum">
              <a:rPr lang="en-GB" smtClean="0"/>
              <a:t>9</a:t>
            </a:fld>
            <a:endParaRPr lang="en-GB"/>
          </a:p>
        </p:txBody>
      </p:sp>
    </p:spTree>
    <p:extLst>
      <p:ext uri="{BB962C8B-B14F-4D97-AF65-F5344CB8AC3E}">
        <p14:creationId xmlns:p14="http://schemas.microsoft.com/office/powerpoint/2010/main" val="790384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05/05/2026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05/05/2026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05/05/2026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05/05/2026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05/05/2026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05/05/2026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05/05/2026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image" Target="../media/image4.png"/><Relationship Id="rId7" Type="http://schemas.openxmlformats.org/officeDocument/2006/relationships/chart" Target="../charts/chart4.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hyperlink" Target="https://seekingalpha.com/symbol/ACM/peers/comparison" TargetMode="External"/><Relationship Id="rId13" Type="http://schemas.openxmlformats.org/officeDocument/2006/relationships/hyperlink" Target="https://environment-analyst.com/global/110879/energy-water-and-sustainability-services-drive-record-es-consulting-growth#:~:text=Climate%20change%20and%20energy%20services,much%20of%20this%20upward%20trend" TargetMode="External"/><Relationship Id="rId18" Type="http://schemas.openxmlformats.org/officeDocument/2006/relationships/hyperlink" Target="https://tradingeconomics.com/united-states/gdp-growth" TargetMode="External"/><Relationship Id="rId26" Type="http://schemas.openxmlformats.org/officeDocument/2006/relationships/image" Target="../media/image4.png"/><Relationship Id="rId3" Type="http://schemas.openxmlformats.org/officeDocument/2006/relationships/hyperlink" Target="https://aecom.com/press-releases/tomtom-and-aecom-partner-to-deliver-enhanced-global-infrastructure-planning-and-road-traffic-management/#:~:text=AMSTERDAM%20(February%2012%2C%202026),a%20new%20era%20of%20transportation" TargetMode="External"/><Relationship Id="rId21" Type="http://schemas.openxmlformats.org/officeDocument/2006/relationships/hyperlink" Target="https://aecom.com/wp-content/uploads/documents/safety/AECOM_Management_System_Manual.pdf" TargetMode="External"/><Relationship Id="rId7" Type="http://schemas.openxmlformats.org/officeDocument/2006/relationships/hyperlink" Target="https://portersfiveforce.com/blogs/competitors/aecom" TargetMode="External"/><Relationship Id="rId12" Type="http://schemas.openxmlformats.org/officeDocument/2006/relationships/hyperlink" Target="https://aecom.com/markets/transportation/" TargetMode="External"/><Relationship Id="rId17" Type="http://schemas.openxmlformats.org/officeDocument/2006/relationships/hyperlink" Target="https://github.com/PavanAnanthSharma/Breeden-Litzenberger-formula-for-risk-neutral-densities" TargetMode="External"/><Relationship Id="rId25" Type="http://schemas.openxmlformats.org/officeDocument/2006/relationships/image" Target="../media/image3.png"/><Relationship Id="rId2" Type="http://schemas.openxmlformats.org/officeDocument/2006/relationships/hyperlink" Target="https://aecom.com/en-uk/" TargetMode="External"/><Relationship Id="rId16" Type="http://schemas.openxmlformats.org/officeDocument/2006/relationships/hyperlink" Target="https://newsroom.fluor.com/news-releases/news-details/2026/Fluor-Reports-Fourth-Quarter-and-Full-Year-2025-Results/default.aspx" TargetMode="External"/><Relationship Id="rId20" Type="http://schemas.openxmlformats.org/officeDocument/2006/relationships/hyperlink" Target="https://aecom.com/annual-report/" TargetMode="External"/><Relationship Id="rId1" Type="http://schemas.openxmlformats.org/officeDocument/2006/relationships/slideLayout" Target="../slideLayouts/slideLayout7.xml"/><Relationship Id="rId6" Type="http://schemas.openxmlformats.org/officeDocument/2006/relationships/hyperlink" Target="https://mlq.ai/stocks/ACM/revenue-segments/" TargetMode="External"/><Relationship Id="rId11" Type="http://schemas.openxmlformats.org/officeDocument/2006/relationships/hyperlink" Target="https://media.valuethemarkets.com/investing-research/vtm-investing-research-report-aecom.pdf?utm_source=chatgpt.com" TargetMode="External"/><Relationship Id="rId24" Type="http://schemas.openxmlformats.org/officeDocument/2006/relationships/hyperlink" Target="NULL" TargetMode="External"/><Relationship Id="rId5" Type="http://schemas.openxmlformats.org/officeDocument/2006/relationships/hyperlink" Target="https://csimarket.com/stocks/ACM-Business-Segments#:~:text=AECOM,%20a%20global%20premier%20infrastructure,both%20aesthetic%20and%20functional%20requirements" TargetMode="External"/><Relationship Id="rId15" Type="http://schemas.openxmlformats.org/officeDocument/2006/relationships/hyperlink" Target="https://investors.aecom.com/static-files/db5f5d07-71c4-4546-a0cf-71cd0f61eba4" TargetMode="External"/><Relationship Id="rId23" Type="http://schemas.openxmlformats.org/officeDocument/2006/relationships/hyperlink" Target="https://reports.weforum.org/docs/WEF_Bridging_the_%E2%82%AC6.5_Trillion_Water_Infrastructure_Gap_A_Playbook_2025.pdf" TargetMode="External"/><Relationship Id="rId10" Type="http://schemas.openxmlformats.org/officeDocument/2006/relationships/hyperlink" Target="https://www.grandviewresearch.com/industry-analysis/architectural-engineering-construction-services-market-report#:~:text=Architectural%2C%20Engineering%2C%20And%20Construction%20Services%20Market%20Summary,transportation%20networks%2C%20and%20utility%20infrastructure" TargetMode="External"/><Relationship Id="rId19" Type="http://schemas.openxmlformats.org/officeDocument/2006/relationships/hyperlink" Target="https://arxiv.org/abs/2310.14881" TargetMode="External"/><Relationship Id="rId4" Type="http://schemas.openxmlformats.org/officeDocument/2006/relationships/hyperlink" Target="https://www.dcfmodeling.com/products/acm-business-model-canvas?srsltid=AfmBOoq3bXHgLvTh_Vl8VpNc38FPvkb4vPtTRFFRiBMSZsBYr4rPm5rE" TargetMode="External"/><Relationship Id="rId9" Type="http://schemas.openxmlformats.org/officeDocument/2006/relationships/hyperlink" Target="https://simplywall.st/stocks/us/capital-goods/nyse-acm/aecom/valuation" TargetMode="External"/><Relationship Id="rId14" Type="http://schemas.openxmlformats.org/officeDocument/2006/relationships/hyperlink" Target="https://uk.investing.com/news/company-news/aecom-q1-2026-presentation-record-backlog-drives-raised-guidance-shares-climb-93CH-4499371" TargetMode="External"/><Relationship Id="rId22" Type="http://schemas.openxmlformats.org/officeDocument/2006/relationships/hyperlink" Target="https://www.water.org.uk/investing-future/infrastructure-healt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0E0042-57A8-3A40-7292-10E9D353CAA6}"/>
              </a:ext>
            </a:extLst>
          </p:cNvPr>
          <p:cNvSpPr/>
          <p:nvPr/>
        </p:nvSpPr>
        <p:spPr>
          <a:xfrm>
            <a:off x="5981700" y="2062162"/>
            <a:ext cx="6036129" cy="2733675"/>
          </a:xfrm>
          <a:prstGeom prst="rect">
            <a:avLst/>
          </a:prstGeom>
          <a:solidFill>
            <a:schemeClr val="bg1">
              <a:lumMod val="75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50" name="Picture 2" descr="AECOM">
            <a:extLst>
              <a:ext uri="{FF2B5EF4-FFF2-40B4-BE49-F238E27FC236}">
                <a16:creationId xmlns:a16="http://schemas.microsoft.com/office/drawing/2014/main" id="{4DA0B989-543F-FFF3-C8AD-9A70D7B20C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47" r="41888"/>
          <a:stretch>
            <a:fillRect/>
          </a:stretch>
        </p:blipFill>
        <p:spPr bwMode="auto">
          <a:xfrm>
            <a:off x="0" y="0"/>
            <a:ext cx="5725886"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2A962A3-9DFA-E058-2378-387B89AEA8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39048" y="6370973"/>
            <a:ext cx="2178781" cy="379088"/>
          </a:xfrm>
          <a:prstGeom prst="rect">
            <a:avLst/>
          </a:prstGeom>
        </p:spPr>
      </p:pic>
      <p:sp>
        <p:nvSpPr>
          <p:cNvPr id="5" name="TextBox 4">
            <a:extLst>
              <a:ext uri="{FF2B5EF4-FFF2-40B4-BE49-F238E27FC236}">
                <a16:creationId xmlns:a16="http://schemas.microsoft.com/office/drawing/2014/main" id="{E9DCAE7D-2B83-4E2E-B258-0DCE803E7044}"/>
              </a:ext>
            </a:extLst>
          </p:cNvPr>
          <p:cNvSpPr txBox="1"/>
          <p:nvPr/>
        </p:nvSpPr>
        <p:spPr>
          <a:xfrm>
            <a:off x="6041571" y="-461756"/>
            <a:ext cx="5606143" cy="7325082"/>
          </a:xfrm>
          <a:prstGeom prst="rect">
            <a:avLst/>
          </a:prstGeom>
          <a:noFill/>
        </p:spPr>
        <p:txBody>
          <a:bodyPr wrap="square" lIns="91440" tIns="45720" rIns="91440" bIns="45720" rtlCol="0" anchor="t">
            <a:spAutoFit/>
          </a:bodyPr>
          <a:lstStyle/>
          <a:p>
            <a:endParaRPr lang="en-GB" sz="4000" b="1">
              <a:latin typeface="Arial Black" panose="020B0A04020102020204" pitchFamily="34" charset="0"/>
            </a:endParaRPr>
          </a:p>
          <a:p>
            <a:endParaRPr lang="en-GB" sz="4000" b="1">
              <a:latin typeface="Arial Black" panose="020B0A04020102020204" pitchFamily="34" charset="0"/>
            </a:endParaRPr>
          </a:p>
          <a:p>
            <a:endParaRPr lang="en-GB" b="1"/>
          </a:p>
          <a:p>
            <a:endParaRPr lang="en-GB" b="1"/>
          </a:p>
          <a:p>
            <a:endParaRPr lang="en-GB" b="1"/>
          </a:p>
          <a:p>
            <a:endParaRPr lang="en-GB" b="1"/>
          </a:p>
          <a:p>
            <a:endParaRPr lang="en-GB">
              <a:latin typeface="Aptos" panose="020B0004020202020204" pitchFamily="34" charset="0"/>
            </a:endParaRPr>
          </a:p>
          <a:p>
            <a:r>
              <a:rPr lang="en-GB">
                <a:latin typeface="Aptos"/>
              </a:rPr>
              <a:t>Ticker: ACM</a:t>
            </a:r>
          </a:p>
          <a:p>
            <a:endParaRPr lang="en-GB">
              <a:latin typeface="Aptos" panose="020B0004020202020204" pitchFamily="34" charset="0"/>
            </a:endParaRPr>
          </a:p>
          <a:p>
            <a:r>
              <a:rPr lang="en-GB" sz="1600">
                <a:latin typeface="Aptos"/>
              </a:rPr>
              <a:t>Current share price: </a:t>
            </a:r>
            <a:r>
              <a:rPr lang="en-GB" sz="1200">
                <a:latin typeface="Aptos"/>
              </a:rPr>
              <a:t>$84.49</a:t>
            </a:r>
            <a:endParaRPr lang="en-GB" sz="1600">
              <a:latin typeface="Aptos"/>
            </a:endParaRPr>
          </a:p>
          <a:p>
            <a:r>
              <a:rPr lang="en-GB" sz="1600">
                <a:latin typeface="Aptos"/>
              </a:rPr>
              <a:t>Target price: </a:t>
            </a:r>
            <a:r>
              <a:rPr lang="en-GB" sz="1200">
                <a:latin typeface="Aptos"/>
              </a:rPr>
              <a:t>$124.81</a:t>
            </a:r>
          </a:p>
          <a:p>
            <a:r>
              <a:rPr lang="en-GB" sz="1600">
                <a:latin typeface="Aptos"/>
              </a:rPr>
              <a:t>Return: </a:t>
            </a:r>
            <a:r>
              <a:rPr lang="en-GB" sz="1200">
                <a:latin typeface="Aptos"/>
              </a:rPr>
              <a:t>47.7%</a:t>
            </a:r>
            <a:endParaRPr lang="en-GB" sz="1600">
              <a:latin typeface="Aptos"/>
            </a:endParaRPr>
          </a:p>
          <a:p>
            <a:r>
              <a:rPr lang="en-GB" sz="1600">
                <a:latin typeface="Aptos"/>
              </a:rPr>
              <a:t>Recommendation: </a:t>
            </a:r>
            <a:r>
              <a:rPr lang="en-GB" sz="1200">
                <a:latin typeface="Aptos"/>
              </a:rPr>
              <a:t>Buy (2-3 years hold)</a:t>
            </a:r>
          </a:p>
          <a:p>
            <a:endParaRPr lang="en-GB" sz="1600">
              <a:latin typeface="Aptos" panose="020B0004020202020204" pitchFamily="34" charset="0"/>
            </a:endParaRPr>
          </a:p>
          <a:p>
            <a:r>
              <a:rPr lang="en-GB" sz="1200">
                <a:latin typeface="Aptos"/>
              </a:rPr>
              <a:t>Alex Caesar-Giles |  Dylan Taylor |  Sayeb Salam</a:t>
            </a:r>
          </a:p>
          <a:p>
            <a:endParaRPr lang="en-GB" sz="1600" b="1"/>
          </a:p>
          <a:p>
            <a:endParaRPr lang="en-GB" sz="1600" b="1"/>
          </a:p>
          <a:p>
            <a:endParaRPr lang="en-GB" sz="1600" b="1"/>
          </a:p>
          <a:p>
            <a:endParaRPr lang="en-GB" sz="1600" b="1"/>
          </a:p>
          <a:p>
            <a:endParaRPr lang="en-GB" sz="1600" b="1"/>
          </a:p>
          <a:p>
            <a:endParaRPr lang="en-GB" sz="1600" b="1"/>
          </a:p>
          <a:p>
            <a:endParaRPr lang="en-GB" sz="1600" b="1"/>
          </a:p>
          <a:p>
            <a:endParaRPr lang="en-GB" sz="1600" b="1"/>
          </a:p>
          <a:p>
            <a:endParaRPr lang="en-GB" sz="1600" b="1"/>
          </a:p>
          <a:p>
            <a:endParaRPr lang="en-GB" sz="1600" b="1"/>
          </a:p>
        </p:txBody>
      </p:sp>
      <p:cxnSp>
        <p:nvCxnSpPr>
          <p:cNvPr id="8" name="Straight Connector 7">
            <a:extLst>
              <a:ext uri="{FF2B5EF4-FFF2-40B4-BE49-F238E27FC236}">
                <a16:creationId xmlns:a16="http://schemas.microsoft.com/office/drawing/2014/main" id="{8D2A37D6-8938-5AB5-56ED-C11B77D3EBEF}"/>
              </a:ext>
            </a:extLst>
          </p:cNvPr>
          <p:cNvCxnSpPr/>
          <p:nvPr/>
        </p:nvCxnSpPr>
        <p:spPr>
          <a:xfrm>
            <a:off x="6041571" y="3809999"/>
            <a:ext cx="571500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6896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D959093-F5CA-E11D-964A-25BE81726F6E}"/>
              </a:ext>
            </a:extLst>
          </p:cNvPr>
          <p:cNvCxnSpPr>
            <a:cxnSpLocks/>
          </p:cNvCxnSpPr>
          <p:nvPr/>
        </p:nvCxnSpPr>
        <p:spPr>
          <a:xfrm>
            <a:off x="169333" y="504536"/>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3E1ED2AE-BC0A-1F1F-8FE7-C3FC5242517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03375" y="101379"/>
            <a:ext cx="1514453" cy="3428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F3B248B-103E-051F-BE8F-30219DE54D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333" y="6599485"/>
            <a:ext cx="1081034" cy="188090"/>
          </a:xfrm>
          <a:prstGeom prst="rect">
            <a:avLst/>
          </a:prstGeom>
        </p:spPr>
      </p:pic>
      <p:sp>
        <p:nvSpPr>
          <p:cNvPr id="5" name="TextBox 4">
            <a:extLst>
              <a:ext uri="{FF2B5EF4-FFF2-40B4-BE49-F238E27FC236}">
                <a16:creationId xmlns:a16="http://schemas.microsoft.com/office/drawing/2014/main" id="{E5DB62C4-0895-D610-8A64-BE76370797C7}"/>
              </a:ext>
            </a:extLst>
          </p:cNvPr>
          <p:cNvSpPr txBox="1"/>
          <p:nvPr/>
        </p:nvSpPr>
        <p:spPr>
          <a:xfrm>
            <a:off x="169332" y="42871"/>
            <a:ext cx="9946109" cy="461665"/>
          </a:xfrm>
          <a:prstGeom prst="rect">
            <a:avLst/>
          </a:prstGeom>
          <a:noFill/>
        </p:spPr>
        <p:txBody>
          <a:bodyPr wrap="square" rtlCol="0">
            <a:spAutoFit/>
          </a:bodyPr>
          <a:lstStyle/>
          <a:p>
            <a:r>
              <a:rPr lang="en-GB" sz="2400">
                <a:latin typeface="Times New Roman" panose="02020603050405020304" pitchFamily="18" charset="0"/>
                <a:cs typeface="Times New Roman" panose="02020603050405020304" pitchFamily="18" charset="0"/>
              </a:rPr>
              <a:t>Pitch summary</a:t>
            </a:r>
          </a:p>
        </p:txBody>
      </p:sp>
      <p:pic>
        <p:nvPicPr>
          <p:cNvPr id="11" name="Picture 10">
            <a:extLst>
              <a:ext uri="{FF2B5EF4-FFF2-40B4-BE49-F238E27FC236}">
                <a16:creationId xmlns:a16="http://schemas.microsoft.com/office/drawing/2014/main" id="{3A76C816-B2BB-0BA5-6665-DECE88FE4128}"/>
              </a:ext>
            </a:extLst>
          </p:cNvPr>
          <p:cNvPicPr>
            <a:picLocks noChangeAspect="1"/>
          </p:cNvPicPr>
          <p:nvPr/>
        </p:nvPicPr>
        <p:blipFill>
          <a:blip r:embed="rId4"/>
          <a:stretch>
            <a:fillRect/>
          </a:stretch>
        </p:blipFill>
        <p:spPr>
          <a:xfrm>
            <a:off x="6091162" y="1168264"/>
            <a:ext cx="5924247" cy="2008971"/>
          </a:xfrm>
          <a:prstGeom prst="rect">
            <a:avLst/>
          </a:prstGeom>
        </p:spPr>
      </p:pic>
      <p:cxnSp>
        <p:nvCxnSpPr>
          <p:cNvPr id="14" name="Straight Arrow Connector 13">
            <a:extLst>
              <a:ext uri="{FF2B5EF4-FFF2-40B4-BE49-F238E27FC236}">
                <a16:creationId xmlns:a16="http://schemas.microsoft.com/office/drawing/2014/main" id="{F9E4F618-A648-BAB7-A819-7D387B0C99B7}"/>
              </a:ext>
            </a:extLst>
          </p:cNvPr>
          <p:cNvCxnSpPr>
            <a:cxnSpLocks/>
          </p:cNvCxnSpPr>
          <p:nvPr/>
        </p:nvCxnSpPr>
        <p:spPr>
          <a:xfrm flipH="1">
            <a:off x="10820136" y="1979875"/>
            <a:ext cx="409073" cy="541421"/>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DC400D9-8D8F-8023-4FF9-1C7DF2678CC1}"/>
              </a:ext>
            </a:extLst>
          </p:cNvPr>
          <p:cNvSpPr txBox="1"/>
          <p:nvPr/>
        </p:nvSpPr>
        <p:spPr>
          <a:xfrm>
            <a:off x="9402470" y="2321102"/>
            <a:ext cx="1449612" cy="707886"/>
          </a:xfrm>
          <a:prstGeom prst="rect">
            <a:avLst/>
          </a:prstGeom>
          <a:noFill/>
        </p:spPr>
        <p:txBody>
          <a:bodyPr wrap="square" rtlCol="0">
            <a:spAutoFit/>
          </a:bodyPr>
          <a:lstStyle/>
          <a:p>
            <a:r>
              <a:rPr lang="en-GB" sz="800" dirty="0"/>
              <a:t>AECOM earnings guidance disappointed investors, with losses from Middle East projects damaging the bottom line for the quarter</a:t>
            </a:r>
          </a:p>
        </p:txBody>
      </p:sp>
      <p:sp>
        <p:nvSpPr>
          <p:cNvPr id="22" name="Rectangle 21">
            <a:extLst>
              <a:ext uri="{FF2B5EF4-FFF2-40B4-BE49-F238E27FC236}">
                <a16:creationId xmlns:a16="http://schemas.microsoft.com/office/drawing/2014/main" id="{73C1F78B-8CCA-E5A1-10EF-F8F0393C87BC}"/>
              </a:ext>
            </a:extLst>
          </p:cNvPr>
          <p:cNvSpPr/>
          <p:nvPr/>
        </p:nvSpPr>
        <p:spPr>
          <a:xfrm>
            <a:off x="169332" y="966201"/>
            <a:ext cx="5569729" cy="229923"/>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Narrative</a:t>
            </a:r>
          </a:p>
        </p:txBody>
      </p:sp>
      <p:cxnSp>
        <p:nvCxnSpPr>
          <p:cNvPr id="23" name="Straight Connector 22">
            <a:extLst>
              <a:ext uri="{FF2B5EF4-FFF2-40B4-BE49-F238E27FC236}">
                <a16:creationId xmlns:a16="http://schemas.microsoft.com/office/drawing/2014/main" id="{3F4240DF-8763-6D72-5278-F1AB3663CB85}"/>
              </a:ext>
            </a:extLst>
          </p:cNvPr>
          <p:cNvCxnSpPr>
            <a:cxnSpLocks/>
          </p:cNvCxnSpPr>
          <p:nvPr/>
        </p:nvCxnSpPr>
        <p:spPr>
          <a:xfrm>
            <a:off x="169330" y="1196124"/>
            <a:ext cx="5569731" cy="0"/>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E4127DC0-DFBE-34CE-C805-FCDA7E4BB303}"/>
              </a:ext>
            </a:extLst>
          </p:cNvPr>
          <p:cNvSpPr txBox="1"/>
          <p:nvPr/>
        </p:nvSpPr>
        <p:spPr>
          <a:xfrm>
            <a:off x="620018" y="1303291"/>
            <a:ext cx="5119043" cy="4924425"/>
          </a:xfrm>
          <a:prstGeom prst="rect">
            <a:avLst/>
          </a:prstGeom>
          <a:noFill/>
        </p:spPr>
        <p:txBody>
          <a:bodyPr wrap="square" rtlCol="0">
            <a:spAutoFit/>
          </a:bodyPr>
          <a:lstStyle/>
          <a:p>
            <a:r>
              <a:rPr lang="en-GB" sz="1200" b="1"/>
              <a:t>What's driving demand:</a:t>
            </a:r>
            <a:r>
              <a:rPr lang="en-GB" sz="1200"/>
              <a:t> </a:t>
            </a:r>
            <a:r>
              <a:rPr lang="en-GB" sz="1100"/>
              <a:t>Global trends such as rapid urbanisation, AI infrastructure and tightening sustainability regulation are accelerating demand for large-scale developments including transportation networks, water systems, data centres and urban regeneration.</a:t>
            </a:r>
          </a:p>
          <a:p>
            <a:endParaRPr lang="en-GB" sz="1100"/>
          </a:p>
          <a:p>
            <a:r>
              <a:rPr lang="en-GB" sz="1200" b="1"/>
              <a:t>Where AECOM fits</a:t>
            </a:r>
            <a:r>
              <a:rPr lang="en-GB" sz="1100" b="1"/>
              <a:t>:</a:t>
            </a:r>
            <a:r>
              <a:rPr lang="en-GB" sz="1100"/>
              <a:t> AECOM provides governments and private clients with end-to-end services across the full project lifecycle, planning, engineering, procurement, design, and construction management. With over 30 years of expertise and consistent recognition as a go-to partner for complex, high-stakes infrastructure, AECOM is structurally positioned to capture this demand.</a:t>
            </a:r>
          </a:p>
          <a:p>
            <a:endParaRPr lang="en-GB" sz="1100"/>
          </a:p>
          <a:p>
            <a:r>
              <a:rPr lang="en-GB" sz="1200" b="1"/>
              <a:t>Why the stock is down</a:t>
            </a:r>
            <a:r>
              <a:rPr lang="en-GB" sz="1100" b="1"/>
              <a:t>:</a:t>
            </a:r>
            <a:r>
              <a:rPr lang="en-GB" sz="1100"/>
              <a:t> AECOM fell over 30% from its 52-week high following Q4 2025 results. The sell-off was driven by a combination of higher tax rates, a 225% spike in restructuring costs, US government shutdown disruptions, and a 42% collapse in Middle East regional revenue from cancelled projects, compounded by investor concern over a planned divestiture of the construction arm.</a:t>
            </a:r>
          </a:p>
          <a:p>
            <a:endParaRPr lang="en-GB" sz="1100"/>
          </a:p>
          <a:p>
            <a:r>
              <a:rPr lang="en-GB" sz="1200" b="1"/>
              <a:t>Why the market is wrong:</a:t>
            </a:r>
            <a:r>
              <a:rPr lang="en-GB" sz="1200"/>
              <a:t> </a:t>
            </a:r>
            <a:r>
              <a:rPr lang="en-GB" sz="1100"/>
              <a:t>These headwinds are temporary and largely external. Q1 2026 earnings beat expectations, forward guidance has been raised, and management reversed the construction divestiture, recognising it as a key beneficiary of infrastructure tailwinds. The market has not yet repriced for the improved outlook.</a:t>
            </a:r>
          </a:p>
          <a:p>
            <a:endParaRPr lang="en-GB" sz="1200"/>
          </a:p>
          <a:p>
            <a:r>
              <a:rPr lang="en-GB" sz="1200" b="1"/>
              <a:t>Our core thesis:</a:t>
            </a:r>
            <a:r>
              <a:rPr lang="en-GB" sz="1200"/>
              <a:t> </a:t>
            </a:r>
            <a:r>
              <a:rPr lang="en-GB" sz="1100"/>
              <a:t>AECOM is transitioning toward higher-margin advisory and AI-enabled services, structurally reducing earnings cyclicality. With a record $25.9B backlog growing at 9% YoY, revenue visibility is strong, and the market is still pricing in yesterday's headwinds.</a:t>
            </a:r>
          </a:p>
        </p:txBody>
      </p:sp>
      <p:sp>
        <p:nvSpPr>
          <p:cNvPr id="26" name="Rectangle: Rounded Corners 25">
            <a:extLst>
              <a:ext uri="{FF2B5EF4-FFF2-40B4-BE49-F238E27FC236}">
                <a16:creationId xmlns:a16="http://schemas.microsoft.com/office/drawing/2014/main" id="{B9B502D0-AAB0-0CFC-CC16-84E0BB2A32CA}"/>
              </a:ext>
            </a:extLst>
          </p:cNvPr>
          <p:cNvSpPr/>
          <p:nvPr/>
        </p:nvSpPr>
        <p:spPr>
          <a:xfrm>
            <a:off x="6091162" y="3312414"/>
            <a:ext cx="6008040" cy="225134"/>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Valuation summary</a:t>
            </a:r>
          </a:p>
        </p:txBody>
      </p:sp>
      <p:sp>
        <p:nvSpPr>
          <p:cNvPr id="27" name="Rectangle: Rounded Corners 26">
            <a:extLst>
              <a:ext uri="{FF2B5EF4-FFF2-40B4-BE49-F238E27FC236}">
                <a16:creationId xmlns:a16="http://schemas.microsoft.com/office/drawing/2014/main" id="{820CF1B9-8C1B-20A5-987B-8DA1EBEA6A2E}"/>
              </a:ext>
            </a:extLst>
          </p:cNvPr>
          <p:cNvSpPr/>
          <p:nvPr/>
        </p:nvSpPr>
        <p:spPr>
          <a:xfrm>
            <a:off x="6091162" y="985181"/>
            <a:ext cx="5956697" cy="225134"/>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Share price analysis</a:t>
            </a:r>
          </a:p>
        </p:txBody>
      </p:sp>
      <p:cxnSp>
        <p:nvCxnSpPr>
          <p:cNvPr id="6" name="Straight Arrow Connector 5">
            <a:extLst>
              <a:ext uri="{FF2B5EF4-FFF2-40B4-BE49-F238E27FC236}">
                <a16:creationId xmlns:a16="http://schemas.microsoft.com/office/drawing/2014/main" id="{76A7E9A1-3368-2307-6C65-78BC6FC0BC4E}"/>
              </a:ext>
            </a:extLst>
          </p:cNvPr>
          <p:cNvCxnSpPr>
            <a:cxnSpLocks/>
            <a:endCxn id="10" idx="3"/>
          </p:cNvCxnSpPr>
          <p:nvPr/>
        </p:nvCxnSpPr>
        <p:spPr>
          <a:xfrm flipH="1" flipV="1">
            <a:off x="9857232" y="1534124"/>
            <a:ext cx="795528" cy="150604"/>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BCF9988-C1B4-5119-277B-388FB7316253}"/>
              </a:ext>
            </a:extLst>
          </p:cNvPr>
          <p:cNvSpPr txBox="1"/>
          <p:nvPr/>
        </p:nvSpPr>
        <p:spPr>
          <a:xfrm>
            <a:off x="7735824" y="1303291"/>
            <a:ext cx="2121408" cy="461665"/>
          </a:xfrm>
          <a:prstGeom prst="rect">
            <a:avLst/>
          </a:prstGeom>
          <a:noFill/>
        </p:spPr>
        <p:txBody>
          <a:bodyPr wrap="square" rtlCol="0">
            <a:spAutoFit/>
          </a:bodyPr>
          <a:lstStyle/>
          <a:p>
            <a:r>
              <a:rPr lang="en-GB" sz="800"/>
              <a:t>Strong earnings guidance by management backed by increasing revenues and talks of margin expansion</a:t>
            </a:r>
          </a:p>
        </p:txBody>
      </p:sp>
      <p:sp>
        <p:nvSpPr>
          <p:cNvPr id="7" name="TextBox 6">
            <a:extLst>
              <a:ext uri="{FF2B5EF4-FFF2-40B4-BE49-F238E27FC236}">
                <a16:creationId xmlns:a16="http://schemas.microsoft.com/office/drawing/2014/main" id="{19AFB29D-3899-F4BA-E67C-A71EA3220459}"/>
              </a:ext>
            </a:extLst>
          </p:cNvPr>
          <p:cNvSpPr txBox="1"/>
          <p:nvPr/>
        </p:nvSpPr>
        <p:spPr>
          <a:xfrm>
            <a:off x="169330" y="504536"/>
            <a:ext cx="10081947" cy="430887"/>
          </a:xfrm>
          <a:prstGeom prst="rect">
            <a:avLst/>
          </a:prstGeom>
          <a:noFill/>
        </p:spPr>
        <p:txBody>
          <a:bodyPr wrap="square" rtlCol="0">
            <a:spAutoFit/>
          </a:bodyPr>
          <a:lstStyle/>
          <a:p>
            <a:r>
              <a:rPr lang="en-GB" sz="1100" b="1"/>
              <a:t>AECOM is undervalued because the market is pricing it as a cyclical construction firm, while it is transitioning into a higher-margin consulting and AI-enabled infrastructure services company with growing backlog visibility and expanding margins.</a:t>
            </a:r>
          </a:p>
        </p:txBody>
      </p:sp>
      <p:grpSp>
        <p:nvGrpSpPr>
          <p:cNvPr id="8" name="Group 7">
            <a:extLst>
              <a:ext uri="{FF2B5EF4-FFF2-40B4-BE49-F238E27FC236}">
                <a16:creationId xmlns:a16="http://schemas.microsoft.com/office/drawing/2014/main" id="{37D052B5-50D6-F013-8C00-171DDCF2B9DF}"/>
              </a:ext>
            </a:extLst>
          </p:cNvPr>
          <p:cNvGrpSpPr/>
          <p:nvPr/>
        </p:nvGrpSpPr>
        <p:grpSpPr>
          <a:xfrm>
            <a:off x="6300872" y="3585134"/>
            <a:ext cx="5510128" cy="3171487"/>
            <a:chOff x="0" y="0"/>
            <a:chExt cx="4572000" cy="2743200"/>
          </a:xfrm>
        </p:grpSpPr>
        <p:graphicFrame>
          <p:nvGraphicFramePr>
            <p:cNvPr id="9" name="Chart 8">
              <a:extLst>
                <a:ext uri="{FF2B5EF4-FFF2-40B4-BE49-F238E27FC236}">
                  <a16:creationId xmlns:a16="http://schemas.microsoft.com/office/drawing/2014/main" id="{2DF643CE-89E0-E430-67FE-6B52EF90E07B}"/>
                </a:ext>
              </a:extLst>
            </p:cNvPr>
            <p:cNvGraphicFramePr/>
            <p:nvPr>
              <p:extLst>
                <p:ext uri="{D42A27DB-BD31-4B8C-83A1-F6EECF244321}">
                  <p14:modId xmlns:p14="http://schemas.microsoft.com/office/powerpoint/2010/main" val="794278236"/>
                </p:ext>
              </p:extLst>
            </p:nvPr>
          </p:nvGraphicFramePr>
          <p:xfrm>
            <a:off x="0" y="0"/>
            <a:ext cx="4572000" cy="2743200"/>
          </p:xfrm>
          <a:graphic>
            <a:graphicData uri="http://schemas.openxmlformats.org/drawingml/2006/chart">
              <c:chart xmlns:c="http://schemas.openxmlformats.org/drawingml/2006/chart" xmlns:r="http://schemas.openxmlformats.org/officeDocument/2006/relationships" r:id="rId5"/>
            </a:graphicData>
          </a:graphic>
        </p:graphicFrame>
        <p:cxnSp>
          <p:nvCxnSpPr>
            <p:cNvPr id="12" name="Straight Connector 11">
              <a:extLst>
                <a:ext uri="{FF2B5EF4-FFF2-40B4-BE49-F238E27FC236}">
                  <a16:creationId xmlns:a16="http://schemas.microsoft.com/office/drawing/2014/main" id="{4FD85D8A-C2DC-61FF-A9C3-87D462B4A338}"/>
                </a:ext>
              </a:extLst>
            </p:cNvPr>
            <p:cNvCxnSpPr>
              <a:cxnSpLocks/>
            </p:cNvCxnSpPr>
            <p:nvPr/>
          </p:nvCxnSpPr>
          <p:spPr>
            <a:xfrm>
              <a:off x="2996189" y="372397"/>
              <a:ext cx="0" cy="2082679"/>
            </a:xfrm>
            <a:prstGeom prst="line">
              <a:avLst/>
            </a:prstGeom>
            <a:ln w="254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3" name="Flowchart: Connector 12">
            <a:extLst>
              <a:ext uri="{FF2B5EF4-FFF2-40B4-BE49-F238E27FC236}">
                <a16:creationId xmlns:a16="http://schemas.microsoft.com/office/drawing/2014/main" id="{E4A0065E-5266-F31A-EB42-DF8DB57972C5}"/>
              </a:ext>
            </a:extLst>
          </p:cNvPr>
          <p:cNvSpPr/>
          <p:nvPr/>
        </p:nvSpPr>
        <p:spPr>
          <a:xfrm>
            <a:off x="206933" y="1492223"/>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1</a:t>
            </a:r>
          </a:p>
        </p:txBody>
      </p:sp>
      <p:sp>
        <p:nvSpPr>
          <p:cNvPr id="15" name="Flowchart: Connector 14">
            <a:extLst>
              <a:ext uri="{FF2B5EF4-FFF2-40B4-BE49-F238E27FC236}">
                <a16:creationId xmlns:a16="http://schemas.microsoft.com/office/drawing/2014/main" id="{F784833F-B4D0-841C-5BDD-54F7C9F48720}"/>
              </a:ext>
            </a:extLst>
          </p:cNvPr>
          <p:cNvSpPr/>
          <p:nvPr/>
        </p:nvSpPr>
        <p:spPr>
          <a:xfrm>
            <a:off x="204530" y="4647842"/>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4</a:t>
            </a:r>
          </a:p>
        </p:txBody>
      </p:sp>
      <p:sp>
        <p:nvSpPr>
          <p:cNvPr id="16" name="Flowchart: Connector 15">
            <a:extLst>
              <a:ext uri="{FF2B5EF4-FFF2-40B4-BE49-F238E27FC236}">
                <a16:creationId xmlns:a16="http://schemas.microsoft.com/office/drawing/2014/main" id="{E9DB5E4D-6BCE-6C61-6DF6-EFE23E4BD272}"/>
              </a:ext>
            </a:extLst>
          </p:cNvPr>
          <p:cNvSpPr/>
          <p:nvPr/>
        </p:nvSpPr>
        <p:spPr>
          <a:xfrm>
            <a:off x="204530" y="5635081"/>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5</a:t>
            </a:r>
          </a:p>
        </p:txBody>
      </p:sp>
      <p:sp>
        <p:nvSpPr>
          <p:cNvPr id="17" name="Flowchart: Connector 16">
            <a:extLst>
              <a:ext uri="{FF2B5EF4-FFF2-40B4-BE49-F238E27FC236}">
                <a16:creationId xmlns:a16="http://schemas.microsoft.com/office/drawing/2014/main" id="{4274794F-925E-4EC9-FB2E-E48C5407A6A5}"/>
              </a:ext>
            </a:extLst>
          </p:cNvPr>
          <p:cNvSpPr/>
          <p:nvPr/>
        </p:nvSpPr>
        <p:spPr>
          <a:xfrm>
            <a:off x="204530" y="3512794"/>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3</a:t>
            </a:r>
          </a:p>
        </p:txBody>
      </p:sp>
      <p:sp>
        <p:nvSpPr>
          <p:cNvPr id="18" name="Flowchart: Connector 17">
            <a:extLst>
              <a:ext uri="{FF2B5EF4-FFF2-40B4-BE49-F238E27FC236}">
                <a16:creationId xmlns:a16="http://schemas.microsoft.com/office/drawing/2014/main" id="{C4B6622C-B1A9-34A1-BB27-6B0B3437D74B}"/>
              </a:ext>
            </a:extLst>
          </p:cNvPr>
          <p:cNvSpPr/>
          <p:nvPr/>
        </p:nvSpPr>
        <p:spPr>
          <a:xfrm>
            <a:off x="204531" y="2479221"/>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2</a:t>
            </a:r>
          </a:p>
        </p:txBody>
      </p:sp>
    </p:spTree>
    <p:extLst>
      <p:ext uri="{BB962C8B-B14F-4D97-AF65-F5344CB8AC3E}">
        <p14:creationId xmlns:p14="http://schemas.microsoft.com/office/powerpoint/2010/main" val="2206052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791537-EC74-483F-BD40-3DA8125080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332" y="6627039"/>
            <a:ext cx="1081034" cy="188090"/>
          </a:xfrm>
          <a:prstGeom prst="rect">
            <a:avLst/>
          </a:prstGeom>
        </p:spPr>
      </p:pic>
      <p:cxnSp>
        <p:nvCxnSpPr>
          <p:cNvPr id="6" name="Straight Connector 5">
            <a:extLst>
              <a:ext uri="{FF2B5EF4-FFF2-40B4-BE49-F238E27FC236}">
                <a16:creationId xmlns:a16="http://schemas.microsoft.com/office/drawing/2014/main" id="{E5E38627-B86A-600F-322E-E775250E1A47}"/>
              </a:ext>
            </a:extLst>
          </p:cNvPr>
          <p:cNvCxnSpPr>
            <a:cxnSpLocks/>
          </p:cNvCxnSpPr>
          <p:nvPr/>
        </p:nvCxnSpPr>
        <p:spPr>
          <a:xfrm>
            <a:off x="169333" y="504536"/>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1E6E5C1-4E12-0211-2EFC-1CEAAC8480F6}"/>
              </a:ext>
            </a:extLst>
          </p:cNvPr>
          <p:cNvSpPr txBox="1"/>
          <p:nvPr/>
        </p:nvSpPr>
        <p:spPr>
          <a:xfrm>
            <a:off x="169332" y="42871"/>
            <a:ext cx="9946109" cy="461665"/>
          </a:xfrm>
          <a:prstGeom prst="rect">
            <a:avLst/>
          </a:prstGeom>
          <a:noFill/>
        </p:spPr>
        <p:txBody>
          <a:bodyPr wrap="square" rtlCol="0">
            <a:spAutoFit/>
          </a:bodyPr>
          <a:lstStyle/>
          <a:p>
            <a:r>
              <a:rPr lang="en-GB" sz="2400">
                <a:latin typeface="Times New Roman" panose="02020603050405020304" pitchFamily="18" charset="0"/>
                <a:cs typeface="Times New Roman" panose="02020603050405020304" pitchFamily="18" charset="0"/>
              </a:rPr>
              <a:t>Business overview – </a:t>
            </a:r>
            <a:r>
              <a:rPr lang="en-GB" sz="2000">
                <a:latin typeface="Times New Roman" panose="02020603050405020304" pitchFamily="18" charset="0"/>
                <a:cs typeface="Times New Roman" panose="02020603050405020304" pitchFamily="18" charset="0"/>
              </a:rPr>
              <a:t>Diverse expertise from global scale with strong economic moat </a:t>
            </a:r>
            <a:endParaRPr lang="en-GB" sz="240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48523DD9-AC1B-79C8-B5B3-ECB69F33FCB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03375" y="101379"/>
            <a:ext cx="1514453" cy="34289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E3AB034-45FF-7E0B-737C-3AC1B13C04D6}"/>
              </a:ext>
            </a:extLst>
          </p:cNvPr>
          <p:cNvSpPr/>
          <p:nvPr/>
        </p:nvSpPr>
        <p:spPr>
          <a:xfrm>
            <a:off x="169333" y="735961"/>
            <a:ext cx="6421961" cy="288701"/>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Business Model Overview</a:t>
            </a:r>
          </a:p>
        </p:txBody>
      </p:sp>
      <p:cxnSp>
        <p:nvCxnSpPr>
          <p:cNvPr id="5" name="Straight Connector 4">
            <a:extLst>
              <a:ext uri="{FF2B5EF4-FFF2-40B4-BE49-F238E27FC236}">
                <a16:creationId xmlns:a16="http://schemas.microsoft.com/office/drawing/2014/main" id="{00A5D004-3EA1-22A2-96B4-701727A13BB4}"/>
              </a:ext>
            </a:extLst>
          </p:cNvPr>
          <p:cNvCxnSpPr>
            <a:cxnSpLocks/>
          </p:cNvCxnSpPr>
          <p:nvPr/>
        </p:nvCxnSpPr>
        <p:spPr>
          <a:xfrm>
            <a:off x="169333" y="1033962"/>
            <a:ext cx="6421960" cy="0"/>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5FD6AD6-3269-EEA0-8276-C917346050AF}"/>
              </a:ext>
            </a:extLst>
          </p:cNvPr>
          <p:cNvSpPr txBox="1"/>
          <p:nvPr/>
        </p:nvSpPr>
        <p:spPr>
          <a:xfrm>
            <a:off x="162783" y="1197151"/>
            <a:ext cx="2922349" cy="4139595"/>
          </a:xfrm>
          <a:prstGeom prst="rect">
            <a:avLst/>
          </a:prstGeom>
          <a:noFill/>
        </p:spPr>
        <p:txBody>
          <a:bodyPr wrap="square" rtlCol="0">
            <a:spAutoFit/>
          </a:bodyPr>
          <a:lstStyle/>
          <a:p>
            <a:pPr marL="171450" indent="-171450">
              <a:buFont typeface="Arial" panose="020B0604020202020204" pitchFamily="34" charset="0"/>
              <a:buChar char="•"/>
            </a:pPr>
            <a:r>
              <a:rPr lang="en-GB" sz="1050"/>
              <a:t>AECOM is a US-based </a:t>
            </a:r>
            <a:r>
              <a:rPr lang="en-GB" sz="1050" b="1"/>
              <a:t>global infrastructure leader </a:t>
            </a:r>
            <a:r>
              <a:rPr lang="en-GB" sz="1050"/>
              <a:t>that delivers professional services such as </a:t>
            </a:r>
            <a:r>
              <a:rPr lang="en-GB" sz="1050" b="1"/>
              <a:t>planning, design, engineering, and construction management </a:t>
            </a:r>
            <a:r>
              <a:rPr lang="en-GB" sz="1050"/>
              <a:t>for public and private clients worldwide</a:t>
            </a:r>
          </a:p>
          <a:p>
            <a:pPr marL="171450" indent="-171450">
              <a:buFont typeface="Arial" panose="020B0604020202020204" pitchFamily="34" charset="0"/>
              <a:buChar char="•"/>
            </a:pPr>
            <a:endParaRPr lang="en-GB" sz="1050"/>
          </a:p>
          <a:p>
            <a:pPr marL="171450" indent="-171450">
              <a:buFont typeface="Arial" panose="020B0604020202020204" pitchFamily="34" charset="0"/>
              <a:buChar char="•"/>
            </a:pPr>
            <a:r>
              <a:rPr lang="en-GB" sz="1050"/>
              <a:t>Support clients to solve urgent and complex projects spanning </a:t>
            </a:r>
            <a:r>
              <a:rPr lang="en-GB" sz="1050" b="1"/>
              <a:t>transportation, infrastructure, water, construction and energy</a:t>
            </a:r>
          </a:p>
          <a:p>
            <a:pPr marL="171450" indent="-171450">
              <a:buFont typeface="Arial" panose="020B0604020202020204" pitchFamily="34" charset="0"/>
              <a:buChar char="•"/>
            </a:pPr>
            <a:endParaRPr lang="en-GB" sz="1050" b="1"/>
          </a:p>
          <a:p>
            <a:pPr marL="171450" indent="-171450">
              <a:buFont typeface="Arial" panose="020B0604020202020204" pitchFamily="34" charset="0"/>
              <a:buChar char="•"/>
            </a:pPr>
            <a:r>
              <a:rPr lang="en-GB" sz="1050"/>
              <a:t>Predominantly operates as a fee-based professional services business, generating revenue through expertise</a:t>
            </a:r>
          </a:p>
          <a:p>
            <a:pPr marL="171450" indent="-171450">
              <a:buFont typeface="Arial" panose="020B0604020202020204" pitchFamily="34" charset="0"/>
              <a:buChar char="•"/>
            </a:pPr>
            <a:endParaRPr lang="en-GB" sz="1050"/>
          </a:p>
          <a:p>
            <a:pPr marL="171450" indent="-171450">
              <a:buFont typeface="Arial" panose="020B0604020202020204" pitchFamily="34" charset="0"/>
              <a:buChar char="•"/>
            </a:pPr>
            <a:r>
              <a:rPr lang="en-GB" sz="1050"/>
              <a:t>Asset-light business model with recurring revenue tied to long-term contracts with governments and private firms </a:t>
            </a:r>
          </a:p>
          <a:p>
            <a:pPr marL="171450" indent="-171450">
              <a:buFont typeface="Arial" panose="020B0604020202020204" pitchFamily="34" charset="0"/>
              <a:buChar char="•"/>
            </a:pPr>
            <a:endParaRPr lang="en-GB" sz="1050" b="1"/>
          </a:p>
          <a:p>
            <a:pPr marL="171450" indent="-171450">
              <a:buFont typeface="Arial" panose="020B0604020202020204" pitchFamily="34" charset="0"/>
              <a:buChar char="•"/>
            </a:pPr>
            <a:r>
              <a:rPr lang="en-GB" sz="1050" b="1"/>
              <a:t>AA</a:t>
            </a:r>
            <a:r>
              <a:rPr lang="en-GB" sz="1050"/>
              <a:t> MSCI ESG rating</a:t>
            </a:r>
          </a:p>
          <a:p>
            <a:pPr marL="171450" indent="-171450">
              <a:buFont typeface="Arial" panose="020B0604020202020204" pitchFamily="34" charset="0"/>
              <a:buChar char="•"/>
            </a:pPr>
            <a:endParaRPr lang="en-GB" sz="1050"/>
          </a:p>
          <a:p>
            <a:pPr marL="171450" indent="-171450">
              <a:buFont typeface="Arial" panose="020B0604020202020204" pitchFamily="34" charset="0"/>
              <a:buChar char="•"/>
            </a:pPr>
            <a:endParaRPr lang="en-GB" sz="1050"/>
          </a:p>
          <a:p>
            <a:pPr marL="171450" indent="-171450">
              <a:buFont typeface="Arial" panose="020B0604020202020204" pitchFamily="34" charset="0"/>
              <a:buChar char="•"/>
            </a:pPr>
            <a:endParaRPr lang="en-GB" sz="1050"/>
          </a:p>
          <a:p>
            <a:endParaRPr lang="en-GB" sz="1050"/>
          </a:p>
          <a:p>
            <a:endParaRPr lang="en-GB" sz="1100"/>
          </a:p>
        </p:txBody>
      </p:sp>
      <p:sp>
        <p:nvSpPr>
          <p:cNvPr id="10" name="Rectangle 9">
            <a:extLst>
              <a:ext uri="{FF2B5EF4-FFF2-40B4-BE49-F238E27FC236}">
                <a16:creationId xmlns:a16="http://schemas.microsoft.com/office/drawing/2014/main" id="{EB1845E7-21F9-20CD-110D-E9722C3B89F8}"/>
              </a:ext>
            </a:extLst>
          </p:cNvPr>
          <p:cNvSpPr/>
          <p:nvPr/>
        </p:nvSpPr>
        <p:spPr>
          <a:xfrm>
            <a:off x="3098801" y="1104113"/>
            <a:ext cx="3492495" cy="28870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bg1"/>
                </a:solidFill>
                <a:latin typeface="Times New Roman" panose="02020603050405020304" pitchFamily="18" charset="0"/>
                <a:cs typeface="Times New Roman" panose="02020603050405020304" pitchFamily="18" charset="0"/>
              </a:rPr>
              <a:t>Key operations</a:t>
            </a:r>
          </a:p>
        </p:txBody>
      </p:sp>
      <p:sp>
        <p:nvSpPr>
          <p:cNvPr id="12" name="Rectangle 11">
            <a:extLst>
              <a:ext uri="{FF2B5EF4-FFF2-40B4-BE49-F238E27FC236}">
                <a16:creationId xmlns:a16="http://schemas.microsoft.com/office/drawing/2014/main" id="{10A746C8-35F1-31CA-AC3A-447126065D39}"/>
              </a:ext>
            </a:extLst>
          </p:cNvPr>
          <p:cNvSpPr/>
          <p:nvPr/>
        </p:nvSpPr>
        <p:spPr>
          <a:xfrm>
            <a:off x="3098797" y="1425030"/>
            <a:ext cx="3492499" cy="716618"/>
          </a:xfrm>
          <a:prstGeom prst="rect">
            <a:avLst/>
          </a:prstGeom>
          <a:solidFill>
            <a:schemeClr val="tx2">
              <a:lumMod val="25000"/>
              <a:lumOff val="75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a:solidFill>
                  <a:schemeClr val="tx1"/>
                </a:solidFill>
              </a:rPr>
              <a:t>Design and consulting (DCS) </a:t>
            </a:r>
          </a:p>
          <a:p>
            <a:r>
              <a:rPr lang="en-GB" sz="1100">
                <a:solidFill>
                  <a:schemeClr val="tx1"/>
                </a:solidFill>
              </a:rPr>
              <a:t>Provide high-end design, architecture, engineering and consulting in markets like water, buildings and public infrastructure</a:t>
            </a:r>
            <a:endParaRPr lang="en-GB" sz="1200">
              <a:solidFill>
                <a:schemeClr val="tx1"/>
              </a:solidFill>
            </a:endParaRPr>
          </a:p>
        </p:txBody>
      </p:sp>
      <p:sp>
        <p:nvSpPr>
          <p:cNvPr id="16" name="Rectangle 15">
            <a:extLst>
              <a:ext uri="{FF2B5EF4-FFF2-40B4-BE49-F238E27FC236}">
                <a16:creationId xmlns:a16="http://schemas.microsoft.com/office/drawing/2014/main" id="{E8A234F7-9A55-4EB5-9189-8209381E590E}"/>
              </a:ext>
            </a:extLst>
          </p:cNvPr>
          <p:cNvSpPr/>
          <p:nvPr/>
        </p:nvSpPr>
        <p:spPr>
          <a:xfrm>
            <a:off x="3098795" y="2173864"/>
            <a:ext cx="3492499" cy="812084"/>
          </a:xfrm>
          <a:prstGeom prst="rect">
            <a:avLst/>
          </a:prstGeom>
          <a:solidFill>
            <a:schemeClr val="tx2">
              <a:lumMod val="25000"/>
              <a:lumOff val="75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1200" b="1"/>
          </a:p>
          <a:p>
            <a:endParaRPr lang="en-GB" sz="1200" b="1"/>
          </a:p>
          <a:p>
            <a:r>
              <a:rPr lang="en-GB" sz="1200" b="1">
                <a:solidFill>
                  <a:schemeClr val="tx1"/>
                </a:solidFill>
              </a:rPr>
              <a:t>Construction services (CS)</a:t>
            </a:r>
          </a:p>
          <a:p>
            <a:r>
              <a:rPr lang="en-GB" sz="1100">
                <a:solidFill>
                  <a:schemeClr val="tx1"/>
                </a:solidFill>
              </a:rPr>
              <a:t>The builder of some of the most iconic buildings. With updated plans to keep this sector due to belief it is prime to capitalise on growing demand</a:t>
            </a:r>
            <a:endParaRPr lang="en-GB" sz="1200" b="1"/>
          </a:p>
          <a:p>
            <a:pPr algn="ctr"/>
            <a:endParaRPr lang="en-GB"/>
          </a:p>
        </p:txBody>
      </p:sp>
      <p:sp>
        <p:nvSpPr>
          <p:cNvPr id="17" name="Rectangle 16">
            <a:extLst>
              <a:ext uri="{FF2B5EF4-FFF2-40B4-BE49-F238E27FC236}">
                <a16:creationId xmlns:a16="http://schemas.microsoft.com/office/drawing/2014/main" id="{FCC9D7CD-8F69-AFA8-6AC5-48622AC44EB4}"/>
              </a:ext>
            </a:extLst>
          </p:cNvPr>
          <p:cNvSpPr/>
          <p:nvPr/>
        </p:nvSpPr>
        <p:spPr>
          <a:xfrm>
            <a:off x="3098795" y="3022071"/>
            <a:ext cx="3492499" cy="812084"/>
          </a:xfrm>
          <a:prstGeom prst="rect">
            <a:avLst/>
          </a:prstGeom>
          <a:solidFill>
            <a:schemeClr val="tx2">
              <a:lumMod val="25000"/>
              <a:lumOff val="75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a:solidFill>
                  <a:schemeClr val="tx1"/>
                </a:solidFill>
              </a:rPr>
              <a:t>Advisory services (AS)</a:t>
            </a:r>
          </a:p>
          <a:p>
            <a:r>
              <a:rPr lang="en-GB" sz="1100">
                <a:solidFill>
                  <a:schemeClr val="tx1"/>
                </a:solidFill>
              </a:rPr>
              <a:t>Unit providing strategic consulting and programme planning services, capturing higher-margin work earlier in the project lifecycle than traditional engineering.</a:t>
            </a:r>
          </a:p>
        </p:txBody>
      </p:sp>
      <p:sp>
        <p:nvSpPr>
          <p:cNvPr id="18" name="Rectangle 17">
            <a:extLst>
              <a:ext uri="{FF2B5EF4-FFF2-40B4-BE49-F238E27FC236}">
                <a16:creationId xmlns:a16="http://schemas.microsoft.com/office/drawing/2014/main" id="{159DA4B1-F8D6-E8FC-9E7D-62CB5D8B8DE2}"/>
              </a:ext>
            </a:extLst>
          </p:cNvPr>
          <p:cNvSpPr/>
          <p:nvPr/>
        </p:nvSpPr>
        <p:spPr>
          <a:xfrm>
            <a:off x="3098794" y="3867828"/>
            <a:ext cx="3492499" cy="816984"/>
          </a:xfrm>
          <a:prstGeom prst="rect">
            <a:avLst/>
          </a:prstGeom>
          <a:solidFill>
            <a:schemeClr val="tx2">
              <a:lumMod val="25000"/>
              <a:lumOff val="75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a:solidFill>
                  <a:schemeClr val="tx1"/>
                </a:solidFill>
              </a:rPr>
              <a:t>Management services (MS)</a:t>
            </a:r>
          </a:p>
          <a:p>
            <a:r>
              <a:rPr lang="en-GB" sz="1100">
                <a:solidFill>
                  <a:schemeClr val="tx1"/>
                </a:solidFill>
              </a:rPr>
              <a:t>Works with governments across the globe supporting maintenance, design and nuclear services such as disposal and safety analysis</a:t>
            </a:r>
          </a:p>
        </p:txBody>
      </p:sp>
      <p:sp>
        <p:nvSpPr>
          <p:cNvPr id="22" name="Rectangle 21">
            <a:extLst>
              <a:ext uri="{FF2B5EF4-FFF2-40B4-BE49-F238E27FC236}">
                <a16:creationId xmlns:a16="http://schemas.microsoft.com/office/drawing/2014/main" id="{10416EDA-7CAF-BC8F-10DF-3F3ABCD87D56}"/>
              </a:ext>
            </a:extLst>
          </p:cNvPr>
          <p:cNvSpPr/>
          <p:nvPr/>
        </p:nvSpPr>
        <p:spPr>
          <a:xfrm>
            <a:off x="169333" y="4765887"/>
            <a:ext cx="11848496" cy="283685"/>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AECOM moats</a:t>
            </a:r>
          </a:p>
        </p:txBody>
      </p:sp>
      <p:cxnSp>
        <p:nvCxnSpPr>
          <p:cNvPr id="23" name="Straight Connector 22">
            <a:extLst>
              <a:ext uri="{FF2B5EF4-FFF2-40B4-BE49-F238E27FC236}">
                <a16:creationId xmlns:a16="http://schemas.microsoft.com/office/drawing/2014/main" id="{1AC04094-4EB5-FF49-5469-1772767DD92D}"/>
              </a:ext>
            </a:extLst>
          </p:cNvPr>
          <p:cNvCxnSpPr>
            <a:cxnSpLocks/>
          </p:cNvCxnSpPr>
          <p:nvPr/>
        </p:nvCxnSpPr>
        <p:spPr>
          <a:xfrm>
            <a:off x="162784" y="5042935"/>
            <a:ext cx="11855044" cy="6637"/>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344669F1-A271-7E0C-B1CC-47A51A94F2FA}"/>
              </a:ext>
            </a:extLst>
          </p:cNvPr>
          <p:cNvSpPr/>
          <p:nvPr/>
        </p:nvSpPr>
        <p:spPr>
          <a:xfrm>
            <a:off x="6794500" y="735960"/>
            <a:ext cx="5223329" cy="288702"/>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Financials</a:t>
            </a:r>
          </a:p>
        </p:txBody>
      </p:sp>
      <p:cxnSp>
        <p:nvCxnSpPr>
          <p:cNvPr id="33" name="Straight Connector 32">
            <a:extLst>
              <a:ext uri="{FF2B5EF4-FFF2-40B4-BE49-F238E27FC236}">
                <a16:creationId xmlns:a16="http://schemas.microsoft.com/office/drawing/2014/main" id="{FDADA226-4E11-C31D-606D-8122FAF3C448}"/>
              </a:ext>
            </a:extLst>
          </p:cNvPr>
          <p:cNvCxnSpPr>
            <a:cxnSpLocks/>
          </p:cNvCxnSpPr>
          <p:nvPr/>
        </p:nvCxnSpPr>
        <p:spPr>
          <a:xfrm>
            <a:off x="6794500" y="1033962"/>
            <a:ext cx="5223328" cy="0"/>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graphicFrame>
        <p:nvGraphicFramePr>
          <p:cNvPr id="39" name="Chart 38">
            <a:extLst>
              <a:ext uri="{FF2B5EF4-FFF2-40B4-BE49-F238E27FC236}">
                <a16:creationId xmlns:a16="http://schemas.microsoft.com/office/drawing/2014/main" id="{3BF96D5C-04B6-43CB-A8F9-2BD888B8C9E0}"/>
              </a:ext>
            </a:extLst>
          </p:cNvPr>
          <p:cNvGraphicFramePr/>
          <p:nvPr>
            <p:extLst>
              <p:ext uri="{D42A27DB-BD31-4B8C-83A1-F6EECF244321}">
                <p14:modId xmlns:p14="http://schemas.microsoft.com/office/powerpoint/2010/main" val="4209091071"/>
              </p:ext>
            </p:extLst>
          </p:nvPr>
        </p:nvGraphicFramePr>
        <p:xfrm>
          <a:off x="6690787" y="1111185"/>
          <a:ext cx="2514600" cy="185147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2" name="Chart 41">
            <a:extLst>
              <a:ext uri="{FF2B5EF4-FFF2-40B4-BE49-F238E27FC236}">
                <a16:creationId xmlns:a16="http://schemas.microsoft.com/office/drawing/2014/main" id="{8DEDF959-17EB-235B-DC42-54E80F52A698}"/>
              </a:ext>
            </a:extLst>
          </p:cNvPr>
          <p:cNvGraphicFramePr/>
          <p:nvPr>
            <p:extLst>
              <p:ext uri="{D42A27DB-BD31-4B8C-83A1-F6EECF244321}">
                <p14:modId xmlns:p14="http://schemas.microsoft.com/office/powerpoint/2010/main" val="476247475"/>
              </p:ext>
            </p:extLst>
          </p:nvPr>
        </p:nvGraphicFramePr>
        <p:xfrm>
          <a:off x="9496679" y="1058874"/>
          <a:ext cx="2514601" cy="1851471"/>
        </p:xfrm>
        <a:graphic>
          <a:graphicData uri="http://schemas.openxmlformats.org/drawingml/2006/chart">
            <c:chart xmlns:c="http://schemas.openxmlformats.org/drawingml/2006/chart" xmlns:r="http://schemas.openxmlformats.org/officeDocument/2006/relationships" r:id="rId6"/>
          </a:graphicData>
        </a:graphic>
      </p:graphicFrame>
      <p:sp>
        <p:nvSpPr>
          <p:cNvPr id="43" name="TextBox 42">
            <a:extLst>
              <a:ext uri="{FF2B5EF4-FFF2-40B4-BE49-F238E27FC236}">
                <a16:creationId xmlns:a16="http://schemas.microsoft.com/office/drawing/2014/main" id="{66ED5278-9F85-1F5A-7E16-9451BEC87AC5}"/>
              </a:ext>
            </a:extLst>
          </p:cNvPr>
          <p:cNvSpPr txBox="1"/>
          <p:nvPr/>
        </p:nvSpPr>
        <p:spPr>
          <a:xfrm>
            <a:off x="8789889" y="1043263"/>
            <a:ext cx="1325553" cy="307777"/>
          </a:xfrm>
          <a:prstGeom prst="rect">
            <a:avLst/>
          </a:prstGeom>
          <a:noFill/>
        </p:spPr>
        <p:txBody>
          <a:bodyPr wrap="square" rtlCol="0">
            <a:spAutoFit/>
          </a:bodyPr>
          <a:lstStyle/>
          <a:p>
            <a:r>
              <a:rPr lang="en-GB" sz="1400" b="1"/>
              <a:t>Revenue split</a:t>
            </a:r>
          </a:p>
        </p:txBody>
      </p:sp>
      <p:graphicFrame>
        <p:nvGraphicFramePr>
          <p:cNvPr id="50" name="Chart 49">
            <a:extLst>
              <a:ext uri="{FF2B5EF4-FFF2-40B4-BE49-F238E27FC236}">
                <a16:creationId xmlns:a16="http://schemas.microsoft.com/office/drawing/2014/main" id="{CEE09434-2372-3D56-554E-68690CFF28B2}"/>
              </a:ext>
            </a:extLst>
          </p:cNvPr>
          <p:cNvGraphicFramePr/>
          <p:nvPr>
            <p:extLst>
              <p:ext uri="{D42A27DB-BD31-4B8C-83A1-F6EECF244321}">
                <p14:modId xmlns:p14="http://schemas.microsoft.com/office/powerpoint/2010/main" val="1856266318"/>
              </p:ext>
            </p:extLst>
          </p:nvPr>
        </p:nvGraphicFramePr>
        <p:xfrm>
          <a:off x="6734859" y="2434055"/>
          <a:ext cx="2358348" cy="2360606"/>
        </p:xfrm>
        <a:graphic>
          <a:graphicData uri="http://schemas.openxmlformats.org/drawingml/2006/chart">
            <c:chart xmlns:c="http://schemas.openxmlformats.org/drawingml/2006/chart" xmlns:r="http://schemas.openxmlformats.org/officeDocument/2006/relationships" r:id="rId7"/>
          </a:graphicData>
        </a:graphic>
      </p:graphicFrame>
      <p:sp>
        <p:nvSpPr>
          <p:cNvPr id="52" name="TextBox 51">
            <a:extLst>
              <a:ext uri="{FF2B5EF4-FFF2-40B4-BE49-F238E27FC236}">
                <a16:creationId xmlns:a16="http://schemas.microsoft.com/office/drawing/2014/main" id="{8EF87DD5-035A-258B-E290-B113C8E726E0}"/>
              </a:ext>
            </a:extLst>
          </p:cNvPr>
          <p:cNvSpPr txBox="1"/>
          <p:nvPr/>
        </p:nvSpPr>
        <p:spPr>
          <a:xfrm>
            <a:off x="7348549" y="2897987"/>
            <a:ext cx="565484" cy="230832"/>
          </a:xfrm>
          <a:prstGeom prst="rect">
            <a:avLst/>
          </a:prstGeom>
          <a:noFill/>
        </p:spPr>
        <p:txBody>
          <a:bodyPr wrap="square" rtlCol="0">
            <a:spAutoFit/>
          </a:bodyPr>
          <a:lstStyle/>
          <a:p>
            <a:r>
              <a:rPr lang="en-GB" sz="900"/>
              <a:t>13.15B</a:t>
            </a:r>
          </a:p>
        </p:txBody>
      </p:sp>
      <p:sp>
        <p:nvSpPr>
          <p:cNvPr id="55" name="TextBox 54">
            <a:extLst>
              <a:ext uri="{FF2B5EF4-FFF2-40B4-BE49-F238E27FC236}">
                <a16:creationId xmlns:a16="http://schemas.microsoft.com/office/drawing/2014/main" id="{5EC68045-7203-D2D2-CB80-A42A493DEB26}"/>
              </a:ext>
            </a:extLst>
          </p:cNvPr>
          <p:cNvSpPr txBox="1"/>
          <p:nvPr/>
        </p:nvSpPr>
        <p:spPr>
          <a:xfrm>
            <a:off x="7741357" y="2782571"/>
            <a:ext cx="565484" cy="230832"/>
          </a:xfrm>
          <a:prstGeom prst="rect">
            <a:avLst/>
          </a:prstGeom>
          <a:noFill/>
        </p:spPr>
        <p:txBody>
          <a:bodyPr wrap="square" rtlCol="0">
            <a:spAutoFit/>
          </a:bodyPr>
          <a:lstStyle/>
          <a:p>
            <a:r>
              <a:rPr lang="en-GB" sz="900"/>
              <a:t>14.38B</a:t>
            </a:r>
          </a:p>
        </p:txBody>
      </p:sp>
      <p:sp>
        <p:nvSpPr>
          <p:cNvPr id="56" name="TextBox 55">
            <a:extLst>
              <a:ext uri="{FF2B5EF4-FFF2-40B4-BE49-F238E27FC236}">
                <a16:creationId xmlns:a16="http://schemas.microsoft.com/office/drawing/2014/main" id="{F322A170-B3EE-D2A0-7A71-B785FCC13708}"/>
              </a:ext>
            </a:extLst>
          </p:cNvPr>
          <p:cNvSpPr txBox="1"/>
          <p:nvPr/>
        </p:nvSpPr>
        <p:spPr>
          <a:xfrm>
            <a:off x="8148576" y="2714815"/>
            <a:ext cx="565484" cy="230832"/>
          </a:xfrm>
          <a:prstGeom prst="rect">
            <a:avLst/>
          </a:prstGeom>
          <a:noFill/>
        </p:spPr>
        <p:txBody>
          <a:bodyPr wrap="square" rtlCol="0">
            <a:spAutoFit/>
          </a:bodyPr>
          <a:lstStyle/>
          <a:p>
            <a:r>
              <a:rPr lang="en-GB" sz="900"/>
              <a:t>16.11B</a:t>
            </a:r>
          </a:p>
        </p:txBody>
      </p:sp>
      <p:sp>
        <p:nvSpPr>
          <p:cNvPr id="57" name="TextBox 56">
            <a:extLst>
              <a:ext uri="{FF2B5EF4-FFF2-40B4-BE49-F238E27FC236}">
                <a16:creationId xmlns:a16="http://schemas.microsoft.com/office/drawing/2014/main" id="{86CE24D8-1035-8EEF-6623-70F188A65C23}"/>
              </a:ext>
            </a:extLst>
          </p:cNvPr>
          <p:cNvSpPr txBox="1"/>
          <p:nvPr/>
        </p:nvSpPr>
        <p:spPr>
          <a:xfrm>
            <a:off x="8541384" y="2665822"/>
            <a:ext cx="565484" cy="230832"/>
          </a:xfrm>
          <a:prstGeom prst="rect">
            <a:avLst/>
          </a:prstGeom>
          <a:noFill/>
        </p:spPr>
        <p:txBody>
          <a:bodyPr wrap="square" rtlCol="0">
            <a:spAutoFit/>
          </a:bodyPr>
          <a:lstStyle/>
          <a:p>
            <a:r>
              <a:rPr lang="en-GB" sz="900"/>
              <a:t>16.14B</a:t>
            </a:r>
          </a:p>
        </p:txBody>
      </p:sp>
      <p:graphicFrame>
        <p:nvGraphicFramePr>
          <p:cNvPr id="60" name="Chart 59">
            <a:extLst>
              <a:ext uri="{FF2B5EF4-FFF2-40B4-BE49-F238E27FC236}">
                <a16:creationId xmlns:a16="http://schemas.microsoft.com/office/drawing/2014/main" id="{28840505-D286-AA8E-DE34-3B95819A2BEE}"/>
              </a:ext>
            </a:extLst>
          </p:cNvPr>
          <p:cNvGraphicFramePr/>
          <p:nvPr>
            <p:extLst>
              <p:ext uri="{D42A27DB-BD31-4B8C-83A1-F6EECF244321}">
                <p14:modId xmlns:p14="http://schemas.microsoft.com/office/powerpoint/2010/main" val="2844885949"/>
              </p:ext>
            </p:extLst>
          </p:nvPr>
        </p:nvGraphicFramePr>
        <p:xfrm>
          <a:off x="9035943" y="2706828"/>
          <a:ext cx="3039151" cy="2014384"/>
        </p:xfrm>
        <a:graphic>
          <a:graphicData uri="http://schemas.openxmlformats.org/drawingml/2006/chart">
            <c:chart xmlns:c="http://schemas.openxmlformats.org/drawingml/2006/chart" xmlns:r="http://schemas.openxmlformats.org/officeDocument/2006/relationships" r:id="rId8"/>
          </a:graphicData>
        </a:graphic>
      </p:graphicFrame>
      <p:sp>
        <p:nvSpPr>
          <p:cNvPr id="4" name="Rectangle: Rounded Corners 3">
            <a:extLst>
              <a:ext uri="{FF2B5EF4-FFF2-40B4-BE49-F238E27FC236}">
                <a16:creationId xmlns:a16="http://schemas.microsoft.com/office/drawing/2014/main" id="{6502B6EF-B75E-3F84-18AF-E38B1BB49262}"/>
              </a:ext>
            </a:extLst>
          </p:cNvPr>
          <p:cNvSpPr/>
          <p:nvPr/>
        </p:nvSpPr>
        <p:spPr>
          <a:xfrm>
            <a:off x="162784" y="5142079"/>
            <a:ext cx="3335867" cy="143731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46% of revenue</a:t>
            </a:r>
          </a:p>
          <a:p>
            <a:pPr algn="ctr"/>
            <a:r>
              <a:rPr lang="en-GB" sz="1400" b="1">
                <a:solidFill>
                  <a:schemeClr val="tx1"/>
                </a:solidFill>
              </a:rPr>
              <a:t>Government relations</a:t>
            </a:r>
          </a:p>
          <a:p>
            <a:pPr marL="171450" indent="-171450">
              <a:buFont typeface="Arial" panose="020B0604020202020204" pitchFamily="34" charset="0"/>
              <a:buChar char="•"/>
            </a:pPr>
            <a:r>
              <a:rPr lang="en-GB" sz="1050">
                <a:solidFill>
                  <a:schemeClr val="tx1"/>
                </a:solidFill>
              </a:rPr>
              <a:t>Just under half of 2025 revenue came from public infrastructure projects tied to government contracts</a:t>
            </a:r>
          </a:p>
          <a:p>
            <a:pPr marL="171450" indent="-171450">
              <a:buFont typeface="Arial" panose="020B0604020202020204" pitchFamily="34" charset="0"/>
              <a:buChar char="•"/>
            </a:pPr>
            <a:r>
              <a:rPr lang="en-GB" sz="1050">
                <a:solidFill>
                  <a:schemeClr val="tx1"/>
                </a:solidFill>
              </a:rPr>
              <a:t>Security clearance required to compete</a:t>
            </a:r>
          </a:p>
          <a:p>
            <a:pPr marL="171450" indent="-171450">
              <a:buFont typeface="Arial" panose="020B0604020202020204" pitchFamily="34" charset="0"/>
              <a:buChar char="•"/>
            </a:pPr>
            <a:r>
              <a:rPr lang="en-GB" sz="1050">
                <a:solidFill>
                  <a:schemeClr val="tx1"/>
                </a:solidFill>
              </a:rPr>
              <a:t>Entrenched multi-year framework agreements</a:t>
            </a:r>
          </a:p>
          <a:p>
            <a:pPr marL="171450" indent="-171450">
              <a:buFont typeface="Arial" panose="020B0604020202020204" pitchFamily="34" charset="0"/>
              <a:buChar char="•"/>
            </a:pPr>
            <a:r>
              <a:rPr lang="en-GB" sz="1050">
                <a:solidFill>
                  <a:schemeClr val="tx1"/>
                </a:solidFill>
              </a:rPr>
              <a:t>Proven track record essential to win work</a:t>
            </a:r>
            <a:endParaRPr lang="en-GB" sz="1000">
              <a:solidFill>
                <a:schemeClr val="tx1"/>
              </a:solidFill>
            </a:endParaRPr>
          </a:p>
        </p:txBody>
      </p:sp>
      <p:sp>
        <p:nvSpPr>
          <p:cNvPr id="9" name="Rectangle: Rounded Corners 8">
            <a:extLst>
              <a:ext uri="{FF2B5EF4-FFF2-40B4-BE49-F238E27FC236}">
                <a16:creationId xmlns:a16="http://schemas.microsoft.com/office/drawing/2014/main" id="{541CC321-3E8A-0874-3AA1-C93D0E4AC30A}"/>
              </a:ext>
            </a:extLst>
          </p:cNvPr>
          <p:cNvSpPr/>
          <p:nvPr/>
        </p:nvSpPr>
        <p:spPr>
          <a:xfrm>
            <a:off x="3574138" y="5142080"/>
            <a:ext cx="3017156" cy="1585094"/>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80% + bid win rate</a:t>
            </a:r>
          </a:p>
          <a:p>
            <a:pPr algn="ctr"/>
            <a:r>
              <a:rPr lang="en-GB" sz="1400" b="1">
                <a:solidFill>
                  <a:schemeClr val="tx1"/>
                </a:solidFill>
              </a:rPr>
              <a:t>Reputation</a:t>
            </a:r>
          </a:p>
          <a:p>
            <a:pPr marL="171450" indent="-171450">
              <a:buFont typeface="Arial" panose="020B0604020202020204" pitchFamily="34" charset="0"/>
              <a:buChar char="•"/>
            </a:pPr>
            <a:r>
              <a:rPr lang="en-GB" sz="1050">
                <a:solidFill>
                  <a:schemeClr val="tx1"/>
                </a:solidFill>
              </a:rPr>
              <a:t>No.1 in Industry Fortune most admired list</a:t>
            </a:r>
          </a:p>
          <a:p>
            <a:pPr marL="171450" indent="-171450">
              <a:buFont typeface="Arial" panose="020B0604020202020204" pitchFamily="34" charset="0"/>
              <a:buChar char="•"/>
            </a:pPr>
            <a:r>
              <a:rPr lang="en-GB" sz="1050">
                <a:solidFill>
                  <a:schemeClr val="tx1"/>
                </a:solidFill>
              </a:rPr>
              <a:t>Consistently beating competitors to high-value contracts as shown in bid win rate</a:t>
            </a:r>
          </a:p>
          <a:p>
            <a:pPr marL="171450" indent="-171450">
              <a:buFont typeface="Arial" panose="020B0604020202020204" pitchFamily="34" charset="0"/>
              <a:buChar char="•"/>
            </a:pPr>
            <a:r>
              <a:rPr lang="en-GB" sz="1050">
                <a:solidFill>
                  <a:schemeClr val="tx1"/>
                </a:solidFill>
              </a:rPr>
              <a:t>30+ years of complex project delivery</a:t>
            </a:r>
          </a:p>
          <a:p>
            <a:pPr marL="171450" indent="-171450">
              <a:buFont typeface="Arial" panose="020B0604020202020204" pitchFamily="34" charset="0"/>
              <a:buChar char="•"/>
            </a:pPr>
            <a:r>
              <a:rPr lang="en-GB" sz="1050">
                <a:solidFill>
                  <a:schemeClr val="tx1"/>
                </a:solidFill>
              </a:rPr>
              <a:t>Trusted first call partner for governments</a:t>
            </a:r>
          </a:p>
          <a:p>
            <a:pPr marL="171450" indent="-171450">
              <a:buFont typeface="Arial" panose="020B0604020202020204" pitchFamily="34" charset="0"/>
              <a:buChar char="•"/>
            </a:pPr>
            <a:endParaRPr lang="en-GB" sz="1050">
              <a:solidFill>
                <a:schemeClr val="tx1"/>
              </a:solidFill>
            </a:endParaRPr>
          </a:p>
          <a:p>
            <a:pPr marL="171450" indent="-171450">
              <a:buFont typeface="Arial" panose="020B0604020202020204" pitchFamily="34" charset="0"/>
              <a:buChar char="•"/>
            </a:pPr>
            <a:endParaRPr lang="en-GB" sz="1050">
              <a:solidFill>
                <a:schemeClr val="tx1"/>
              </a:solidFill>
            </a:endParaRPr>
          </a:p>
        </p:txBody>
      </p:sp>
      <p:sp>
        <p:nvSpPr>
          <p:cNvPr id="19" name="Rectangle: Rounded Corners 18">
            <a:extLst>
              <a:ext uri="{FF2B5EF4-FFF2-40B4-BE49-F238E27FC236}">
                <a16:creationId xmlns:a16="http://schemas.microsoft.com/office/drawing/2014/main" id="{608BE7F5-602A-631B-90FD-3506D4C4CC4D}"/>
              </a:ext>
            </a:extLst>
          </p:cNvPr>
          <p:cNvSpPr/>
          <p:nvPr/>
        </p:nvSpPr>
        <p:spPr>
          <a:xfrm>
            <a:off x="6660232" y="5142080"/>
            <a:ext cx="3017156" cy="1585094"/>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High exit cost</a:t>
            </a:r>
          </a:p>
          <a:p>
            <a:pPr algn="ctr"/>
            <a:r>
              <a:rPr lang="en-GB" sz="1400" b="1">
                <a:solidFill>
                  <a:schemeClr val="tx1"/>
                </a:solidFill>
              </a:rPr>
              <a:t>End-to-end services</a:t>
            </a:r>
          </a:p>
          <a:p>
            <a:pPr marL="171450" indent="-171450">
              <a:buFont typeface="Arial" panose="020B0604020202020204" pitchFamily="34" charset="0"/>
              <a:buChar char="•"/>
            </a:pPr>
            <a:r>
              <a:rPr lang="en-GB" sz="1050">
                <a:solidFill>
                  <a:schemeClr val="tx1"/>
                </a:solidFill>
              </a:rPr>
              <a:t>Proprietary design knowledge accumulates per client</a:t>
            </a:r>
          </a:p>
          <a:p>
            <a:pPr marL="171450" indent="-171450">
              <a:buFont typeface="Arial" panose="020B0604020202020204" pitchFamily="34" charset="0"/>
              <a:buChar char="•"/>
            </a:pPr>
            <a:r>
              <a:rPr lang="en-GB" sz="1050">
                <a:solidFill>
                  <a:schemeClr val="tx1"/>
                </a:solidFill>
              </a:rPr>
              <a:t>Replacing AECOM risks delays and redesign costs</a:t>
            </a:r>
          </a:p>
          <a:p>
            <a:pPr marL="171450" indent="-171450">
              <a:buFont typeface="Arial" panose="020B0604020202020204" pitchFamily="34" charset="0"/>
              <a:buChar char="•"/>
            </a:pPr>
            <a:r>
              <a:rPr lang="en-GB" sz="1050">
                <a:solidFill>
                  <a:schemeClr val="tx1"/>
                </a:solidFill>
              </a:rPr>
              <a:t>Clients retained across all project phases through end-to-end services</a:t>
            </a:r>
          </a:p>
          <a:p>
            <a:pPr algn="ctr"/>
            <a:endParaRPr lang="en-GB" sz="1050">
              <a:solidFill>
                <a:schemeClr val="tx1"/>
              </a:solidFill>
            </a:endParaRPr>
          </a:p>
        </p:txBody>
      </p:sp>
      <p:sp>
        <p:nvSpPr>
          <p:cNvPr id="20" name="Rectangle: Rounded Corners 19">
            <a:extLst>
              <a:ext uri="{FF2B5EF4-FFF2-40B4-BE49-F238E27FC236}">
                <a16:creationId xmlns:a16="http://schemas.microsoft.com/office/drawing/2014/main" id="{49BFBEA9-798C-6489-686B-04ACE08B1C10}"/>
              </a:ext>
            </a:extLst>
          </p:cNvPr>
          <p:cNvSpPr/>
          <p:nvPr/>
        </p:nvSpPr>
        <p:spPr>
          <a:xfrm>
            <a:off x="9746326" y="5142080"/>
            <a:ext cx="2377698" cy="1585094"/>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Global presence</a:t>
            </a:r>
          </a:p>
          <a:p>
            <a:pPr algn="ctr"/>
            <a:r>
              <a:rPr lang="en-GB" sz="1400" b="1" dirty="0">
                <a:solidFill>
                  <a:schemeClr val="tx1"/>
                </a:solidFill>
              </a:rPr>
              <a:t>Economies of scale</a:t>
            </a:r>
          </a:p>
          <a:p>
            <a:pPr marL="171450" indent="-171450">
              <a:buFont typeface="Arial" panose="020B0604020202020204" pitchFamily="34" charset="0"/>
              <a:buChar char="•"/>
            </a:pPr>
            <a:r>
              <a:rPr lang="en-GB" sz="1050" dirty="0">
                <a:solidFill>
                  <a:schemeClr val="tx1"/>
                </a:solidFill>
              </a:rPr>
              <a:t>Rapid deployment of specialist teams globally</a:t>
            </a:r>
          </a:p>
          <a:p>
            <a:pPr marL="171450" indent="-171450">
              <a:buFont typeface="Arial" panose="020B0604020202020204" pitchFamily="34" charset="0"/>
              <a:buChar char="•"/>
            </a:pPr>
            <a:r>
              <a:rPr lang="en-GB" sz="1050" dirty="0">
                <a:solidFill>
                  <a:schemeClr val="tx1"/>
                </a:solidFill>
              </a:rPr>
              <a:t>Centralised procurement drives cost savings</a:t>
            </a:r>
          </a:p>
          <a:p>
            <a:pPr marL="171450" indent="-171450">
              <a:buFont typeface="Arial" panose="020B0604020202020204" pitchFamily="34" charset="0"/>
              <a:buChar char="•"/>
            </a:pPr>
            <a:r>
              <a:rPr lang="en-GB" sz="1050" dirty="0">
                <a:solidFill>
                  <a:schemeClr val="tx1"/>
                </a:solidFill>
              </a:rPr>
              <a:t>Cross-border expertise lowers bid-risk</a:t>
            </a:r>
          </a:p>
        </p:txBody>
      </p:sp>
    </p:spTree>
    <p:extLst>
      <p:ext uri="{BB962C8B-B14F-4D97-AF65-F5344CB8AC3E}">
        <p14:creationId xmlns:p14="http://schemas.microsoft.com/office/powerpoint/2010/main" val="1278900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D360F866-ED22-BA1D-0E21-91CB3C364DEE}"/>
              </a:ext>
            </a:extLst>
          </p:cNvPr>
          <p:cNvCxnSpPr>
            <a:cxnSpLocks/>
          </p:cNvCxnSpPr>
          <p:nvPr/>
        </p:nvCxnSpPr>
        <p:spPr>
          <a:xfrm>
            <a:off x="169333" y="504536"/>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25EB2F67-D6A7-4D60-66FF-F4350D1410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03375" y="101379"/>
            <a:ext cx="1514453" cy="3428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CD07959-303E-8F96-4B9C-7358D93AB2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sp>
        <p:nvSpPr>
          <p:cNvPr id="6" name="TextBox 5">
            <a:extLst>
              <a:ext uri="{FF2B5EF4-FFF2-40B4-BE49-F238E27FC236}">
                <a16:creationId xmlns:a16="http://schemas.microsoft.com/office/drawing/2014/main" id="{8C082A8A-0922-6905-E51D-5D8D31DD48EC}"/>
              </a:ext>
            </a:extLst>
          </p:cNvPr>
          <p:cNvSpPr txBox="1"/>
          <p:nvPr/>
        </p:nvSpPr>
        <p:spPr>
          <a:xfrm>
            <a:off x="169333" y="41993"/>
            <a:ext cx="6096000" cy="461665"/>
          </a:xfrm>
          <a:prstGeom prst="rect">
            <a:avLst/>
          </a:prstGeom>
          <a:noFill/>
        </p:spPr>
        <p:txBody>
          <a:bodyPr wrap="square">
            <a:spAutoFit/>
          </a:bodyPr>
          <a:lstStyle/>
          <a:p>
            <a:r>
              <a:rPr lang="en-GB" sz="2400">
                <a:latin typeface="Times New Roman" panose="02020603050405020304" pitchFamily="18" charset="0"/>
                <a:cs typeface="Times New Roman" panose="02020603050405020304" pitchFamily="18" charset="0"/>
              </a:rPr>
              <a:t>Industry overview</a:t>
            </a:r>
            <a:endParaRPr lang="en-GB" sz="2400"/>
          </a:p>
        </p:txBody>
      </p:sp>
      <p:sp>
        <p:nvSpPr>
          <p:cNvPr id="7" name="Rectangle 6">
            <a:extLst>
              <a:ext uri="{FF2B5EF4-FFF2-40B4-BE49-F238E27FC236}">
                <a16:creationId xmlns:a16="http://schemas.microsoft.com/office/drawing/2014/main" id="{95D248D3-21BE-384C-16F5-F72BBE785662}"/>
              </a:ext>
            </a:extLst>
          </p:cNvPr>
          <p:cNvSpPr/>
          <p:nvPr/>
        </p:nvSpPr>
        <p:spPr>
          <a:xfrm>
            <a:off x="5770033" y="4397022"/>
            <a:ext cx="990600" cy="46989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New competition</a:t>
            </a:r>
          </a:p>
        </p:txBody>
      </p:sp>
      <p:sp>
        <p:nvSpPr>
          <p:cNvPr id="8" name="Rectangle 7">
            <a:extLst>
              <a:ext uri="{FF2B5EF4-FFF2-40B4-BE49-F238E27FC236}">
                <a16:creationId xmlns:a16="http://schemas.microsoft.com/office/drawing/2014/main" id="{9956F0B6-D47F-7934-9819-71E5CD85417B}"/>
              </a:ext>
            </a:extLst>
          </p:cNvPr>
          <p:cNvSpPr/>
          <p:nvPr/>
        </p:nvSpPr>
        <p:spPr>
          <a:xfrm>
            <a:off x="5770033" y="4892538"/>
            <a:ext cx="990600" cy="46989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Power of buyers</a:t>
            </a:r>
          </a:p>
        </p:txBody>
      </p:sp>
      <p:sp>
        <p:nvSpPr>
          <p:cNvPr id="9" name="Rectangle 8">
            <a:extLst>
              <a:ext uri="{FF2B5EF4-FFF2-40B4-BE49-F238E27FC236}">
                <a16:creationId xmlns:a16="http://schemas.microsoft.com/office/drawing/2014/main" id="{4D6BD384-5DE4-282F-B59F-B9344409EC94}"/>
              </a:ext>
            </a:extLst>
          </p:cNvPr>
          <p:cNvSpPr/>
          <p:nvPr/>
        </p:nvSpPr>
        <p:spPr>
          <a:xfrm>
            <a:off x="5770033" y="5388054"/>
            <a:ext cx="990600" cy="46989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Power of suppliers</a:t>
            </a:r>
          </a:p>
        </p:txBody>
      </p:sp>
      <p:sp>
        <p:nvSpPr>
          <p:cNvPr id="10" name="Rectangle 9">
            <a:extLst>
              <a:ext uri="{FF2B5EF4-FFF2-40B4-BE49-F238E27FC236}">
                <a16:creationId xmlns:a16="http://schemas.microsoft.com/office/drawing/2014/main" id="{780865C8-0123-C615-F73F-BA35FEEFAD75}"/>
              </a:ext>
            </a:extLst>
          </p:cNvPr>
          <p:cNvSpPr/>
          <p:nvPr/>
        </p:nvSpPr>
        <p:spPr>
          <a:xfrm>
            <a:off x="5770033" y="5883570"/>
            <a:ext cx="990600" cy="46989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Threat of substitutes</a:t>
            </a:r>
          </a:p>
        </p:txBody>
      </p:sp>
      <p:sp>
        <p:nvSpPr>
          <p:cNvPr id="11" name="Rectangle 10">
            <a:extLst>
              <a:ext uri="{FF2B5EF4-FFF2-40B4-BE49-F238E27FC236}">
                <a16:creationId xmlns:a16="http://schemas.microsoft.com/office/drawing/2014/main" id="{2C217E12-217D-5704-8540-4EE5EBA8A942}"/>
              </a:ext>
            </a:extLst>
          </p:cNvPr>
          <p:cNvSpPr/>
          <p:nvPr/>
        </p:nvSpPr>
        <p:spPr>
          <a:xfrm>
            <a:off x="5770033" y="6379087"/>
            <a:ext cx="990600" cy="46989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Competition</a:t>
            </a:r>
          </a:p>
        </p:txBody>
      </p:sp>
      <p:sp>
        <p:nvSpPr>
          <p:cNvPr id="12" name="Rectangle 11">
            <a:extLst>
              <a:ext uri="{FF2B5EF4-FFF2-40B4-BE49-F238E27FC236}">
                <a16:creationId xmlns:a16="http://schemas.microsoft.com/office/drawing/2014/main" id="{C7C757E8-DFAF-B052-B22F-157F904B66C6}"/>
              </a:ext>
            </a:extLst>
          </p:cNvPr>
          <p:cNvSpPr/>
          <p:nvPr/>
        </p:nvSpPr>
        <p:spPr>
          <a:xfrm>
            <a:off x="5770034" y="3967687"/>
            <a:ext cx="6247796" cy="336012"/>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Porter’s 5 forces highlights AECOM’s strong position in a competitive market </a:t>
            </a:r>
          </a:p>
        </p:txBody>
      </p:sp>
      <p:cxnSp>
        <p:nvCxnSpPr>
          <p:cNvPr id="13" name="Straight Connector 12">
            <a:extLst>
              <a:ext uri="{FF2B5EF4-FFF2-40B4-BE49-F238E27FC236}">
                <a16:creationId xmlns:a16="http://schemas.microsoft.com/office/drawing/2014/main" id="{368D736C-91B6-7604-5096-C412BB289E28}"/>
              </a:ext>
            </a:extLst>
          </p:cNvPr>
          <p:cNvCxnSpPr>
            <a:cxnSpLocks/>
          </p:cNvCxnSpPr>
          <p:nvPr/>
        </p:nvCxnSpPr>
        <p:spPr>
          <a:xfrm>
            <a:off x="5770033" y="4296261"/>
            <a:ext cx="6247795" cy="0"/>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DF0B264F-D91C-BFA2-F468-B21F1A1CF205}"/>
              </a:ext>
            </a:extLst>
          </p:cNvPr>
          <p:cNvSpPr/>
          <p:nvPr/>
        </p:nvSpPr>
        <p:spPr>
          <a:xfrm>
            <a:off x="6760633" y="4397023"/>
            <a:ext cx="5257195" cy="469893"/>
          </a:xfrm>
          <a:prstGeom prst="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dirty="0">
                <a:solidFill>
                  <a:schemeClr val="tx1"/>
                </a:solidFill>
              </a:rPr>
              <a:t>Low</a:t>
            </a:r>
            <a:r>
              <a:rPr lang="en-GB" sz="1100" b="1" dirty="0">
                <a:solidFill>
                  <a:schemeClr val="tx1"/>
                </a:solidFill>
              </a:rPr>
              <a:t>: </a:t>
            </a:r>
            <a:r>
              <a:rPr lang="en-GB" sz="1100" dirty="0">
                <a:solidFill>
                  <a:schemeClr val="tx1"/>
                </a:solidFill>
              </a:rPr>
              <a:t>High barrier of entry due to large capital requirements, large levels of regulatory approvals and a reliance on reputation for large-scale projects </a:t>
            </a:r>
            <a:endParaRPr lang="en-GB" sz="1200" dirty="0">
              <a:solidFill>
                <a:schemeClr val="tx1"/>
              </a:solidFill>
            </a:endParaRPr>
          </a:p>
        </p:txBody>
      </p:sp>
      <p:sp>
        <p:nvSpPr>
          <p:cNvPr id="17" name="Rectangle 16">
            <a:extLst>
              <a:ext uri="{FF2B5EF4-FFF2-40B4-BE49-F238E27FC236}">
                <a16:creationId xmlns:a16="http://schemas.microsoft.com/office/drawing/2014/main" id="{C6F07735-8922-EBC1-E16A-0FC6EFA8FA48}"/>
              </a:ext>
            </a:extLst>
          </p:cNvPr>
          <p:cNvSpPr/>
          <p:nvPr/>
        </p:nvSpPr>
        <p:spPr>
          <a:xfrm>
            <a:off x="6760633" y="4892538"/>
            <a:ext cx="5257195" cy="469893"/>
          </a:xfrm>
          <a:prstGeom prst="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dirty="0">
                <a:solidFill>
                  <a:schemeClr val="tx1"/>
                </a:solidFill>
              </a:rPr>
              <a:t>High</a:t>
            </a:r>
            <a:r>
              <a:rPr lang="en-GB" sz="1100" dirty="0">
                <a:solidFill>
                  <a:schemeClr val="tx1"/>
                </a:solidFill>
              </a:rPr>
              <a:t>: Large buyers such as governments and corporations have strong bargaining power. Price competition from others promotes competitive bidding</a:t>
            </a:r>
          </a:p>
        </p:txBody>
      </p:sp>
      <p:sp>
        <p:nvSpPr>
          <p:cNvPr id="18" name="Rectangle 17">
            <a:extLst>
              <a:ext uri="{FF2B5EF4-FFF2-40B4-BE49-F238E27FC236}">
                <a16:creationId xmlns:a16="http://schemas.microsoft.com/office/drawing/2014/main" id="{A5960CDB-D834-367F-BD96-956AA88280E2}"/>
              </a:ext>
            </a:extLst>
          </p:cNvPr>
          <p:cNvSpPr/>
          <p:nvPr/>
        </p:nvSpPr>
        <p:spPr>
          <a:xfrm>
            <a:off x="6760633" y="5388054"/>
            <a:ext cx="5257195" cy="469893"/>
          </a:xfrm>
          <a:prstGeom prst="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a:solidFill>
                  <a:schemeClr val="tx1"/>
                </a:solidFill>
              </a:rPr>
              <a:t>Moderate</a:t>
            </a:r>
            <a:r>
              <a:rPr lang="en-GB" sz="1200">
                <a:solidFill>
                  <a:schemeClr val="tx1"/>
                </a:solidFill>
              </a:rPr>
              <a:t>: </a:t>
            </a:r>
            <a:r>
              <a:rPr lang="en-GB" sz="1050">
                <a:solidFill>
                  <a:schemeClr val="tx1"/>
                </a:solidFill>
              </a:rPr>
              <a:t>Highly specialised suppliers such as technology vendors may demand premium rates. AECOM’s scale advantage allows bulk procurement and strong negotiating power</a:t>
            </a:r>
            <a:endParaRPr lang="en-GB" sz="1200">
              <a:solidFill>
                <a:schemeClr val="tx1"/>
              </a:solidFill>
            </a:endParaRPr>
          </a:p>
        </p:txBody>
      </p:sp>
      <p:sp>
        <p:nvSpPr>
          <p:cNvPr id="19" name="Rectangle 18">
            <a:extLst>
              <a:ext uri="{FF2B5EF4-FFF2-40B4-BE49-F238E27FC236}">
                <a16:creationId xmlns:a16="http://schemas.microsoft.com/office/drawing/2014/main" id="{2D8C33AF-4DA0-F5F8-691B-D76BB7FB6ABE}"/>
              </a:ext>
            </a:extLst>
          </p:cNvPr>
          <p:cNvSpPr/>
          <p:nvPr/>
        </p:nvSpPr>
        <p:spPr>
          <a:xfrm>
            <a:off x="6760633" y="5883570"/>
            <a:ext cx="5257195" cy="469893"/>
          </a:xfrm>
          <a:prstGeom prst="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a:solidFill>
                  <a:schemeClr val="tx1"/>
                </a:solidFill>
              </a:rPr>
              <a:t>Low</a:t>
            </a:r>
            <a:r>
              <a:rPr lang="en-GB" sz="1200">
                <a:solidFill>
                  <a:schemeClr val="tx1"/>
                </a:solidFill>
              </a:rPr>
              <a:t>: </a:t>
            </a:r>
            <a:r>
              <a:rPr lang="en-GB" sz="1100">
                <a:solidFill>
                  <a:schemeClr val="tx1"/>
                </a:solidFill>
              </a:rPr>
              <a:t>Engineering and consulting work cannot easily be replaced fully by software or internal teams for large and complex infrastructure projects</a:t>
            </a:r>
            <a:endParaRPr lang="en-GB" sz="1200">
              <a:solidFill>
                <a:schemeClr val="tx1"/>
              </a:solidFill>
            </a:endParaRPr>
          </a:p>
        </p:txBody>
      </p:sp>
      <p:sp>
        <p:nvSpPr>
          <p:cNvPr id="20" name="Rectangle 19">
            <a:extLst>
              <a:ext uri="{FF2B5EF4-FFF2-40B4-BE49-F238E27FC236}">
                <a16:creationId xmlns:a16="http://schemas.microsoft.com/office/drawing/2014/main" id="{12341B93-6E9D-0D43-C4DE-70639349F80F}"/>
              </a:ext>
            </a:extLst>
          </p:cNvPr>
          <p:cNvSpPr/>
          <p:nvPr/>
        </p:nvSpPr>
        <p:spPr>
          <a:xfrm>
            <a:off x="6760633" y="6379087"/>
            <a:ext cx="5257195" cy="469893"/>
          </a:xfrm>
          <a:prstGeom prst="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a:solidFill>
                  <a:schemeClr val="tx1"/>
                </a:solidFill>
              </a:rPr>
              <a:t>High</a:t>
            </a:r>
            <a:r>
              <a:rPr lang="en-GB" sz="1200">
                <a:solidFill>
                  <a:schemeClr val="tx1"/>
                </a:solidFill>
              </a:rPr>
              <a:t>: </a:t>
            </a:r>
            <a:r>
              <a:rPr lang="en-GB" sz="1100">
                <a:solidFill>
                  <a:schemeClr val="tx1"/>
                </a:solidFill>
              </a:rPr>
              <a:t>Fragmented market with heavy competition for large contracts with differentiation coming from reputation, scale and access to framework agreements</a:t>
            </a:r>
            <a:endParaRPr lang="en-GB" sz="1200">
              <a:solidFill>
                <a:schemeClr val="tx1"/>
              </a:solidFill>
            </a:endParaRPr>
          </a:p>
        </p:txBody>
      </p:sp>
      <p:sp>
        <p:nvSpPr>
          <p:cNvPr id="27" name="Rectangle: Rounded Corners 26">
            <a:extLst>
              <a:ext uri="{FF2B5EF4-FFF2-40B4-BE49-F238E27FC236}">
                <a16:creationId xmlns:a16="http://schemas.microsoft.com/office/drawing/2014/main" id="{D27BC0DB-F60F-06C3-EFA9-CD13EF4A1903}"/>
              </a:ext>
            </a:extLst>
          </p:cNvPr>
          <p:cNvSpPr/>
          <p:nvPr/>
        </p:nvSpPr>
        <p:spPr>
          <a:xfrm>
            <a:off x="169330" y="4012215"/>
            <a:ext cx="2628459" cy="22698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Tailwinds</a:t>
            </a:r>
          </a:p>
        </p:txBody>
      </p:sp>
      <p:sp>
        <p:nvSpPr>
          <p:cNvPr id="28" name="Rectangle: Rounded Corners 27">
            <a:extLst>
              <a:ext uri="{FF2B5EF4-FFF2-40B4-BE49-F238E27FC236}">
                <a16:creationId xmlns:a16="http://schemas.microsoft.com/office/drawing/2014/main" id="{F71633ED-67B5-6E8E-8F81-1344F066A446}"/>
              </a:ext>
            </a:extLst>
          </p:cNvPr>
          <p:cNvSpPr/>
          <p:nvPr/>
        </p:nvSpPr>
        <p:spPr>
          <a:xfrm>
            <a:off x="2996673" y="4005008"/>
            <a:ext cx="2628459" cy="244175"/>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Headwinds</a:t>
            </a:r>
          </a:p>
        </p:txBody>
      </p:sp>
      <p:sp>
        <p:nvSpPr>
          <p:cNvPr id="29" name="TextBox 28">
            <a:extLst>
              <a:ext uri="{FF2B5EF4-FFF2-40B4-BE49-F238E27FC236}">
                <a16:creationId xmlns:a16="http://schemas.microsoft.com/office/drawing/2014/main" id="{C1F0DD3D-6AC0-4F29-E900-3A082C7B5FB8}"/>
              </a:ext>
            </a:extLst>
          </p:cNvPr>
          <p:cNvSpPr txBox="1"/>
          <p:nvPr/>
        </p:nvSpPr>
        <p:spPr>
          <a:xfrm>
            <a:off x="169331" y="503658"/>
            <a:ext cx="11649630" cy="430887"/>
          </a:xfrm>
          <a:prstGeom prst="rect">
            <a:avLst/>
          </a:prstGeom>
          <a:noFill/>
        </p:spPr>
        <p:txBody>
          <a:bodyPr wrap="square" rtlCol="0">
            <a:spAutoFit/>
          </a:bodyPr>
          <a:lstStyle/>
          <a:p>
            <a:r>
              <a:rPr lang="en-GB" sz="1100" b="1" dirty="0"/>
              <a:t>AECOM is  under the Architectural, Engineering and Construction umbrella however its operations extend to many sub-sectors. This sector often grows parallel to broader construction and infrastructure levels due to the reliance on each other. </a:t>
            </a:r>
          </a:p>
        </p:txBody>
      </p:sp>
      <p:sp>
        <p:nvSpPr>
          <p:cNvPr id="31" name="Rectangle 30">
            <a:extLst>
              <a:ext uri="{FF2B5EF4-FFF2-40B4-BE49-F238E27FC236}">
                <a16:creationId xmlns:a16="http://schemas.microsoft.com/office/drawing/2014/main" id="{10E95046-D5D6-4E50-EB7E-13526C890B3E}"/>
              </a:ext>
            </a:extLst>
          </p:cNvPr>
          <p:cNvSpPr/>
          <p:nvPr/>
        </p:nvSpPr>
        <p:spPr>
          <a:xfrm>
            <a:off x="169332" y="898125"/>
            <a:ext cx="7447126" cy="202536"/>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AECOM’s current market positioning</a:t>
            </a:r>
          </a:p>
        </p:txBody>
      </p:sp>
      <p:cxnSp>
        <p:nvCxnSpPr>
          <p:cNvPr id="33" name="Straight Connector 32">
            <a:extLst>
              <a:ext uri="{FF2B5EF4-FFF2-40B4-BE49-F238E27FC236}">
                <a16:creationId xmlns:a16="http://schemas.microsoft.com/office/drawing/2014/main" id="{D1B9DAE5-86D9-A632-43F4-591895BF4CDE}"/>
              </a:ext>
            </a:extLst>
          </p:cNvPr>
          <p:cNvCxnSpPr>
            <a:cxnSpLocks/>
          </p:cNvCxnSpPr>
          <p:nvPr/>
        </p:nvCxnSpPr>
        <p:spPr>
          <a:xfrm>
            <a:off x="169332" y="1106148"/>
            <a:ext cx="7447126" cy="0"/>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5E5EC283-7AFA-82BC-EDDA-3FFFF051ECEA}"/>
              </a:ext>
            </a:extLst>
          </p:cNvPr>
          <p:cNvGrpSpPr/>
          <p:nvPr/>
        </p:nvGrpSpPr>
        <p:grpSpPr>
          <a:xfrm>
            <a:off x="114325" y="4322699"/>
            <a:ext cx="2738468" cy="2254687"/>
            <a:chOff x="106650" y="4426948"/>
            <a:chExt cx="2738468" cy="2254687"/>
          </a:xfrm>
        </p:grpSpPr>
        <p:sp>
          <p:nvSpPr>
            <p:cNvPr id="34" name="Isosceles Triangle 33">
              <a:extLst>
                <a:ext uri="{FF2B5EF4-FFF2-40B4-BE49-F238E27FC236}">
                  <a16:creationId xmlns:a16="http://schemas.microsoft.com/office/drawing/2014/main" id="{07B05DDB-5B86-6369-9E47-99E695049F82}"/>
                </a:ext>
              </a:extLst>
            </p:cNvPr>
            <p:cNvSpPr/>
            <p:nvPr/>
          </p:nvSpPr>
          <p:spPr>
            <a:xfrm>
              <a:off x="116503" y="4509767"/>
              <a:ext cx="212806" cy="142367"/>
            </a:xfrm>
            <a:prstGeom prst="triangle">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CCED579E-E07A-4588-89A2-BC310DDA5449}"/>
                </a:ext>
              </a:extLst>
            </p:cNvPr>
            <p:cNvSpPr txBox="1"/>
            <p:nvPr/>
          </p:nvSpPr>
          <p:spPr>
            <a:xfrm>
              <a:off x="388521" y="4426948"/>
              <a:ext cx="2456597" cy="746358"/>
            </a:xfrm>
            <a:prstGeom prst="rect">
              <a:avLst/>
            </a:prstGeom>
            <a:noFill/>
          </p:spPr>
          <p:txBody>
            <a:bodyPr wrap="square" rtlCol="0">
              <a:spAutoFit/>
            </a:bodyPr>
            <a:lstStyle/>
            <a:p>
              <a:r>
                <a:rPr lang="en-GB" sz="1100" b="1"/>
                <a:t>Water infrastructure deficit</a:t>
              </a:r>
            </a:p>
            <a:p>
              <a:r>
                <a:rPr lang="en-GB" sz="1050"/>
                <a:t>US alone faces $625 Billion in water infrastructure needs with global estimates for 2030 being $6.7 Trillion</a:t>
              </a:r>
            </a:p>
          </p:txBody>
        </p:sp>
        <p:sp>
          <p:nvSpPr>
            <p:cNvPr id="36" name="Isosceles Triangle 35">
              <a:extLst>
                <a:ext uri="{FF2B5EF4-FFF2-40B4-BE49-F238E27FC236}">
                  <a16:creationId xmlns:a16="http://schemas.microsoft.com/office/drawing/2014/main" id="{2ACFCAEA-5314-E4C2-5C6D-4A5C4F7445A9}"/>
                </a:ext>
              </a:extLst>
            </p:cNvPr>
            <p:cNvSpPr/>
            <p:nvPr/>
          </p:nvSpPr>
          <p:spPr>
            <a:xfrm>
              <a:off x="106650" y="5277258"/>
              <a:ext cx="212806" cy="142367"/>
            </a:xfrm>
            <a:prstGeom prst="triangle">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934AF5DA-E28C-B049-CF73-FAA5F42045F4}"/>
                </a:ext>
              </a:extLst>
            </p:cNvPr>
            <p:cNvSpPr txBox="1"/>
            <p:nvPr/>
          </p:nvSpPr>
          <p:spPr>
            <a:xfrm>
              <a:off x="388521" y="5179230"/>
              <a:ext cx="2456597" cy="746358"/>
            </a:xfrm>
            <a:prstGeom prst="rect">
              <a:avLst/>
            </a:prstGeom>
            <a:noFill/>
          </p:spPr>
          <p:txBody>
            <a:bodyPr wrap="square" rtlCol="0">
              <a:spAutoFit/>
            </a:bodyPr>
            <a:lstStyle/>
            <a:p>
              <a:r>
                <a:rPr lang="en-GB" sz="1100" b="1"/>
                <a:t>Climate based infrastructure</a:t>
              </a:r>
            </a:p>
            <a:p>
              <a:r>
                <a:rPr lang="en-GB" sz="1050"/>
                <a:t>Global grid investment projected to hit $5.8 Trillion between 2026-2035 with US accounting for $1 Trillion of this</a:t>
              </a:r>
            </a:p>
          </p:txBody>
        </p:sp>
        <p:sp>
          <p:nvSpPr>
            <p:cNvPr id="39" name="Isosceles Triangle 38">
              <a:extLst>
                <a:ext uri="{FF2B5EF4-FFF2-40B4-BE49-F238E27FC236}">
                  <a16:creationId xmlns:a16="http://schemas.microsoft.com/office/drawing/2014/main" id="{50C9359F-BC1D-3FF8-E617-8AB097AAD1FD}"/>
                </a:ext>
              </a:extLst>
            </p:cNvPr>
            <p:cNvSpPr/>
            <p:nvPr/>
          </p:nvSpPr>
          <p:spPr>
            <a:xfrm>
              <a:off x="106650" y="6021547"/>
              <a:ext cx="212806" cy="142367"/>
            </a:xfrm>
            <a:prstGeom prst="triangle">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DD2CAB9B-536E-6308-9156-2705DE135172}"/>
                </a:ext>
              </a:extLst>
            </p:cNvPr>
            <p:cNvSpPr txBox="1"/>
            <p:nvPr/>
          </p:nvSpPr>
          <p:spPr>
            <a:xfrm>
              <a:off x="388521" y="5912194"/>
              <a:ext cx="2456597" cy="769441"/>
            </a:xfrm>
            <a:prstGeom prst="rect">
              <a:avLst/>
            </a:prstGeom>
            <a:noFill/>
          </p:spPr>
          <p:txBody>
            <a:bodyPr wrap="square" rtlCol="0">
              <a:spAutoFit/>
            </a:bodyPr>
            <a:lstStyle/>
            <a:p>
              <a:r>
                <a:rPr lang="en-GB" sz="1100" b="1"/>
                <a:t>Urbanisation trends</a:t>
              </a:r>
            </a:p>
            <a:p>
              <a:r>
                <a:rPr lang="en-GB" sz="1050"/>
                <a:t>68% of the population is expected to live in cities by 2050. Increased demand for urban construction</a:t>
              </a:r>
            </a:p>
          </p:txBody>
        </p:sp>
      </p:grpSp>
      <p:grpSp>
        <p:nvGrpSpPr>
          <p:cNvPr id="24" name="Group 23">
            <a:extLst>
              <a:ext uri="{FF2B5EF4-FFF2-40B4-BE49-F238E27FC236}">
                <a16:creationId xmlns:a16="http://schemas.microsoft.com/office/drawing/2014/main" id="{F9D3C212-5591-508B-A4D0-8C9A332A1B1C}"/>
              </a:ext>
            </a:extLst>
          </p:cNvPr>
          <p:cNvGrpSpPr/>
          <p:nvPr/>
        </p:nvGrpSpPr>
        <p:grpSpPr>
          <a:xfrm>
            <a:off x="2852793" y="4318289"/>
            <a:ext cx="2797684" cy="2253072"/>
            <a:chOff x="2835267" y="4428200"/>
            <a:chExt cx="2797684" cy="2253072"/>
          </a:xfrm>
        </p:grpSpPr>
        <p:sp>
          <p:nvSpPr>
            <p:cNvPr id="42" name="Isosceles Triangle 41">
              <a:extLst>
                <a:ext uri="{FF2B5EF4-FFF2-40B4-BE49-F238E27FC236}">
                  <a16:creationId xmlns:a16="http://schemas.microsoft.com/office/drawing/2014/main" id="{F0981083-F23C-713F-9ECA-B41A2144C1CA}"/>
                </a:ext>
              </a:extLst>
            </p:cNvPr>
            <p:cNvSpPr/>
            <p:nvPr/>
          </p:nvSpPr>
          <p:spPr>
            <a:xfrm rot="10800000">
              <a:off x="2835268" y="4537110"/>
              <a:ext cx="212806" cy="142367"/>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772A1C6D-CE6F-03EA-6CCE-D8E20FD389C1}"/>
                </a:ext>
              </a:extLst>
            </p:cNvPr>
            <p:cNvSpPr txBox="1"/>
            <p:nvPr/>
          </p:nvSpPr>
          <p:spPr>
            <a:xfrm>
              <a:off x="3038223" y="4428200"/>
              <a:ext cx="2594728" cy="938719"/>
            </a:xfrm>
            <a:prstGeom prst="rect">
              <a:avLst/>
            </a:prstGeom>
            <a:noFill/>
          </p:spPr>
          <p:txBody>
            <a:bodyPr wrap="square" rtlCol="0">
              <a:spAutoFit/>
            </a:bodyPr>
            <a:lstStyle/>
            <a:p>
              <a:r>
                <a:rPr lang="en-GB" sz="1100" b="1"/>
                <a:t>Evolving regulatory landscape</a:t>
              </a:r>
            </a:p>
            <a:p>
              <a:r>
                <a:rPr lang="en-GB" sz="1050"/>
                <a:t>Cost pressures such as 40-year high tariff rates on construction goods and tighter environmental targets increased project abandonment by 88.2% in 2025</a:t>
              </a:r>
            </a:p>
          </p:txBody>
        </p:sp>
        <p:sp>
          <p:nvSpPr>
            <p:cNvPr id="44" name="Isosceles Triangle 43">
              <a:extLst>
                <a:ext uri="{FF2B5EF4-FFF2-40B4-BE49-F238E27FC236}">
                  <a16:creationId xmlns:a16="http://schemas.microsoft.com/office/drawing/2014/main" id="{3A68C91E-C873-9B64-BD11-646BCF3FE2AC}"/>
                </a:ext>
              </a:extLst>
            </p:cNvPr>
            <p:cNvSpPr/>
            <p:nvPr/>
          </p:nvSpPr>
          <p:spPr>
            <a:xfrm rot="10800000">
              <a:off x="2835267" y="5513711"/>
              <a:ext cx="212806" cy="142367"/>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6A72D3DD-A9B4-9E90-54AE-12AB4A65A707}"/>
                </a:ext>
              </a:extLst>
            </p:cNvPr>
            <p:cNvSpPr txBox="1"/>
            <p:nvPr/>
          </p:nvSpPr>
          <p:spPr>
            <a:xfrm>
              <a:off x="3038223" y="5403999"/>
              <a:ext cx="2586909" cy="1277273"/>
            </a:xfrm>
            <a:prstGeom prst="rect">
              <a:avLst/>
            </a:prstGeom>
            <a:noFill/>
          </p:spPr>
          <p:txBody>
            <a:bodyPr wrap="square" rtlCol="0">
              <a:spAutoFit/>
            </a:bodyPr>
            <a:lstStyle/>
            <a:p>
              <a:r>
                <a:rPr lang="en-GB" sz="1100" b="1"/>
                <a:t>Chronic labour shortages</a:t>
              </a:r>
            </a:p>
            <a:p>
              <a:r>
                <a:rPr lang="en-GB" sz="1050"/>
                <a:t>Need for 499,000 new workers required in 2026 to sustain demand, with potential to lose $124 Billion in output if positions remain unfilled. Combined with 41% of workers in construction expected to retire by 2031</a:t>
              </a:r>
            </a:p>
          </p:txBody>
        </p:sp>
      </p:grpSp>
      <p:pic>
        <p:nvPicPr>
          <p:cNvPr id="53" name="Picture 52">
            <a:extLst>
              <a:ext uri="{FF2B5EF4-FFF2-40B4-BE49-F238E27FC236}">
                <a16:creationId xmlns:a16="http://schemas.microsoft.com/office/drawing/2014/main" id="{7B8232D5-8B8C-1C21-8DF0-DCE0C1822540}"/>
              </a:ext>
            </a:extLst>
          </p:cNvPr>
          <p:cNvPicPr>
            <a:picLocks noChangeAspect="1"/>
          </p:cNvPicPr>
          <p:nvPr/>
        </p:nvPicPr>
        <p:blipFill>
          <a:blip r:embed="rId5"/>
          <a:stretch>
            <a:fillRect/>
          </a:stretch>
        </p:blipFill>
        <p:spPr>
          <a:xfrm>
            <a:off x="7601240" y="1322285"/>
            <a:ext cx="4505843" cy="2165926"/>
          </a:xfrm>
          <a:prstGeom prst="rect">
            <a:avLst/>
          </a:prstGeom>
        </p:spPr>
      </p:pic>
      <p:cxnSp>
        <p:nvCxnSpPr>
          <p:cNvPr id="55" name="Straight Arrow Connector 54">
            <a:extLst>
              <a:ext uri="{FF2B5EF4-FFF2-40B4-BE49-F238E27FC236}">
                <a16:creationId xmlns:a16="http://schemas.microsoft.com/office/drawing/2014/main" id="{F956EB39-4C6D-4865-9596-FF0CA3693F1C}"/>
              </a:ext>
            </a:extLst>
          </p:cNvPr>
          <p:cNvCxnSpPr>
            <a:cxnSpLocks/>
          </p:cNvCxnSpPr>
          <p:nvPr/>
        </p:nvCxnSpPr>
        <p:spPr>
          <a:xfrm flipV="1">
            <a:off x="9397357" y="1473902"/>
            <a:ext cx="2121353" cy="964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C90352C2-E492-605E-4F7D-E061485724CE}"/>
              </a:ext>
            </a:extLst>
          </p:cNvPr>
          <p:cNvSpPr txBox="1"/>
          <p:nvPr/>
        </p:nvSpPr>
        <p:spPr>
          <a:xfrm>
            <a:off x="9806751" y="1497130"/>
            <a:ext cx="962527" cy="253916"/>
          </a:xfrm>
          <a:prstGeom prst="rect">
            <a:avLst/>
          </a:prstGeom>
          <a:noFill/>
        </p:spPr>
        <p:txBody>
          <a:bodyPr wrap="square" rtlCol="0">
            <a:spAutoFit/>
          </a:bodyPr>
          <a:lstStyle/>
          <a:p>
            <a:r>
              <a:rPr lang="en-GB" sz="1050"/>
              <a:t>16.5% CAGR</a:t>
            </a:r>
          </a:p>
        </p:txBody>
      </p:sp>
      <p:sp>
        <p:nvSpPr>
          <p:cNvPr id="57" name="Rectangle 56">
            <a:extLst>
              <a:ext uri="{FF2B5EF4-FFF2-40B4-BE49-F238E27FC236}">
                <a16:creationId xmlns:a16="http://schemas.microsoft.com/office/drawing/2014/main" id="{66636393-2348-398B-81B9-48C3816F549B}"/>
              </a:ext>
            </a:extLst>
          </p:cNvPr>
          <p:cNvSpPr/>
          <p:nvPr/>
        </p:nvSpPr>
        <p:spPr>
          <a:xfrm>
            <a:off x="8659504" y="3596185"/>
            <a:ext cx="61415" cy="68239"/>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97A6F799-E327-003A-2397-F86BD96C4832}"/>
              </a:ext>
            </a:extLst>
          </p:cNvPr>
          <p:cNvSpPr/>
          <p:nvPr/>
        </p:nvSpPr>
        <p:spPr>
          <a:xfrm>
            <a:off x="8659504" y="3757354"/>
            <a:ext cx="61415" cy="6823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FB5FD118-A709-4A84-7AE1-29EF42468320}"/>
              </a:ext>
            </a:extLst>
          </p:cNvPr>
          <p:cNvSpPr/>
          <p:nvPr/>
        </p:nvSpPr>
        <p:spPr>
          <a:xfrm>
            <a:off x="10206250" y="3600979"/>
            <a:ext cx="61415" cy="6823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22CBCD67-B40A-3442-8209-EF6E780E7887}"/>
              </a:ext>
            </a:extLst>
          </p:cNvPr>
          <p:cNvSpPr/>
          <p:nvPr/>
        </p:nvSpPr>
        <p:spPr>
          <a:xfrm>
            <a:off x="11320817" y="3600979"/>
            <a:ext cx="61415" cy="6823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7DCF3F7E-6E7B-0013-557C-63012C865618}"/>
              </a:ext>
            </a:extLst>
          </p:cNvPr>
          <p:cNvSpPr/>
          <p:nvPr/>
        </p:nvSpPr>
        <p:spPr>
          <a:xfrm>
            <a:off x="10206249" y="3777192"/>
            <a:ext cx="61415" cy="6823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TextBox 61">
            <a:extLst>
              <a:ext uri="{FF2B5EF4-FFF2-40B4-BE49-F238E27FC236}">
                <a16:creationId xmlns:a16="http://schemas.microsoft.com/office/drawing/2014/main" id="{C292989F-5896-88FD-7936-9A066BBC5E35}"/>
              </a:ext>
            </a:extLst>
          </p:cNvPr>
          <p:cNvSpPr txBox="1"/>
          <p:nvPr/>
        </p:nvSpPr>
        <p:spPr>
          <a:xfrm>
            <a:off x="8659504" y="3520233"/>
            <a:ext cx="984913" cy="215444"/>
          </a:xfrm>
          <a:prstGeom prst="rect">
            <a:avLst/>
          </a:prstGeom>
          <a:noFill/>
        </p:spPr>
        <p:txBody>
          <a:bodyPr wrap="square" rtlCol="0">
            <a:spAutoFit/>
          </a:bodyPr>
          <a:lstStyle/>
          <a:p>
            <a:r>
              <a:rPr lang="en-GB" sz="800"/>
              <a:t>Digital services</a:t>
            </a:r>
          </a:p>
        </p:txBody>
      </p:sp>
      <p:sp>
        <p:nvSpPr>
          <p:cNvPr id="63" name="TextBox 62">
            <a:extLst>
              <a:ext uri="{FF2B5EF4-FFF2-40B4-BE49-F238E27FC236}">
                <a16:creationId xmlns:a16="http://schemas.microsoft.com/office/drawing/2014/main" id="{037003BA-E0C9-C37C-B425-3F70EA9DBAA7}"/>
              </a:ext>
            </a:extLst>
          </p:cNvPr>
          <p:cNvSpPr txBox="1"/>
          <p:nvPr/>
        </p:nvSpPr>
        <p:spPr>
          <a:xfrm>
            <a:off x="8659503" y="3678958"/>
            <a:ext cx="1362608" cy="215444"/>
          </a:xfrm>
          <a:prstGeom prst="rect">
            <a:avLst/>
          </a:prstGeom>
          <a:noFill/>
        </p:spPr>
        <p:txBody>
          <a:bodyPr wrap="square" rtlCol="0">
            <a:spAutoFit/>
          </a:bodyPr>
          <a:lstStyle/>
          <a:p>
            <a:r>
              <a:rPr lang="en-GB" sz="800"/>
              <a:t>Sustainability services</a:t>
            </a:r>
          </a:p>
        </p:txBody>
      </p:sp>
      <p:sp>
        <p:nvSpPr>
          <p:cNvPr id="64" name="TextBox 63">
            <a:extLst>
              <a:ext uri="{FF2B5EF4-FFF2-40B4-BE49-F238E27FC236}">
                <a16:creationId xmlns:a16="http://schemas.microsoft.com/office/drawing/2014/main" id="{04B977D8-105C-918C-CEF3-63566C38DA19}"/>
              </a:ext>
            </a:extLst>
          </p:cNvPr>
          <p:cNvSpPr txBox="1"/>
          <p:nvPr/>
        </p:nvSpPr>
        <p:spPr>
          <a:xfrm>
            <a:off x="10236956" y="3699476"/>
            <a:ext cx="1281754" cy="215444"/>
          </a:xfrm>
          <a:prstGeom prst="rect">
            <a:avLst/>
          </a:prstGeom>
          <a:noFill/>
        </p:spPr>
        <p:txBody>
          <a:bodyPr wrap="square" rtlCol="0">
            <a:spAutoFit/>
          </a:bodyPr>
          <a:lstStyle/>
          <a:p>
            <a:r>
              <a:rPr lang="en-GB" sz="800"/>
              <a:t>Technical engineering</a:t>
            </a:r>
          </a:p>
        </p:txBody>
      </p:sp>
      <p:sp>
        <p:nvSpPr>
          <p:cNvPr id="65" name="TextBox 64">
            <a:extLst>
              <a:ext uri="{FF2B5EF4-FFF2-40B4-BE49-F238E27FC236}">
                <a16:creationId xmlns:a16="http://schemas.microsoft.com/office/drawing/2014/main" id="{807DCF73-B618-B68C-EC14-A11526402E44}"/>
              </a:ext>
            </a:extLst>
          </p:cNvPr>
          <p:cNvSpPr txBox="1"/>
          <p:nvPr/>
        </p:nvSpPr>
        <p:spPr>
          <a:xfrm>
            <a:off x="10228481" y="3522582"/>
            <a:ext cx="984913" cy="215444"/>
          </a:xfrm>
          <a:prstGeom prst="rect">
            <a:avLst/>
          </a:prstGeom>
          <a:noFill/>
        </p:spPr>
        <p:txBody>
          <a:bodyPr wrap="square" rtlCol="0">
            <a:spAutoFit/>
          </a:bodyPr>
          <a:lstStyle/>
          <a:p>
            <a:r>
              <a:rPr lang="en-GB" sz="800"/>
              <a:t>Built Environment </a:t>
            </a:r>
          </a:p>
        </p:txBody>
      </p:sp>
      <p:sp>
        <p:nvSpPr>
          <p:cNvPr id="66" name="TextBox 65">
            <a:extLst>
              <a:ext uri="{FF2B5EF4-FFF2-40B4-BE49-F238E27FC236}">
                <a16:creationId xmlns:a16="http://schemas.microsoft.com/office/drawing/2014/main" id="{D09DA6A9-6B21-B084-3E7F-FA564829CFE9}"/>
              </a:ext>
            </a:extLst>
          </p:cNvPr>
          <p:cNvSpPr txBox="1"/>
          <p:nvPr/>
        </p:nvSpPr>
        <p:spPr>
          <a:xfrm>
            <a:off x="11320817" y="3522582"/>
            <a:ext cx="984913" cy="215444"/>
          </a:xfrm>
          <a:prstGeom prst="rect">
            <a:avLst/>
          </a:prstGeom>
          <a:noFill/>
        </p:spPr>
        <p:txBody>
          <a:bodyPr wrap="square" rtlCol="0">
            <a:spAutoFit/>
          </a:bodyPr>
          <a:lstStyle/>
          <a:p>
            <a:r>
              <a:rPr lang="en-GB" sz="800"/>
              <a:t>City Planning</a:t>
            </a:r>
          </a:p>
        </p:txBody>
      </p:sp>
      <p:sp>
        <p:nvSpPr>
          <p:cNvPr id="5" name="TextBox 4">
            <a:extLst>
              <a:ext uri="{FF2B5EF4-FFF2-40B4-BE49-F238E27FC236}">
                <a16:creationId xmlns:a16="http://schemas.microsoft.com/office/drawing/2014/main" id="{06DB9B54-AB56-69FC-A06D-3334C54BBD46}"/>
              </a:ext>
            </a:extLst>
          </p:cNvPr>
          <p:cNvSpPr txBox="1"/>
          <p:nvPr/>
        </p:nvSpPr>
        <p:spPr>
          <a:xfrm>
            <a:off x="169330" y="1129954"/>
            <a:ext cx="3832523" cy="2754600"/>
          </a:xfrm>
          <a:prstGeom prst="rect">
            <a:avLst/>
          </a:prstGeom>
          <a:noFill/>
        </p:spPr>
        <p:txBody>
          <a:bodyPr wrap="square" rtlCol="0">
            <a:spAutoFit/>
          </a:bodyPr>
          <a:lstStyle/>
          <a:p>
            <a:r>
              <a:rPr lang="en-GB" sz="1100" b="1"/>
              <a:t>Transportation Infrastructure</a:t>
            </a:r>
          </a:p>
          <a:p>
            <a:pPr marL="171450" indent="-171450">
              <a:buFont typeface="Arial" panose="020B0604020202020204" pitchFamily="34" charset="0"/>
              <a:buChar char="•"/>
            </a:pPr>
            <a:r>
              <a:rPr lang="en-GB" sz="1000"/>
              <a:t>Ranked #1 for 23 years globally in the sector – accounted for 38% of 2024 revenue</a:t>
            </a:r>
          </a:p>
          <a:p>
            <a:pPr marL="171450" indent="-171450">
              <a:buFont typeface="Arial" panose="020B0604020202020204" pitchFamily="34" charset="0"/>
              <a:buChar char="•"/>
            </a:pPr>
            <a:r>
              <a:rPr lang="en-GB" sz="1000"/>
              <a:t>Major player in designing the Elizabeth line</a:t>
            </a:r>
          </a:p>
          <a:p>
            <a:pPr marL="171450" indent="-171450">
              <a:buFont typeface="Arial" panose="020B0604020202020204" pitchFamily="34" charset="0"/>
              <a:buChar char="•"/>
            </a:pPr>
            <a:r>
              <a:rPr lang="en-GB" sz="1000"/>
              <a:t>Top competitors – Jacobs solutions, WSP</a:t>
            </a:r>
          </a:p>
          <a:p>
            <a:r>
              <a:rPr lang="en-GB" sz="1100" b="1"/>
              <a:t>Water Infrastructure</a:t>
            </a:r>
          </a:p>
          <a:p>
            <a:pPr marL="171450" indent="-171450">
              <a:buFont typeface="Arial" panose="020B0604020202020204" pitchFamily="34" charset="0"/>
              <a:buChar char="•"/>
            </a:pPr>
            <a:r>
              <a:rPr lang="en-GB" sz="1000"/>
              <a:t>Positioned as #1 water design firm globally by Engineering News-Record, with dominance in the UK</a:t>
            </a:r>
          </a:p>
          <a:p>
            <a:pPr marL="171450" indent="-171450">
              <a:buFont typeface="Arial" panose="020B0604020202020204" pitchFamily="34" charset="0"/>
              <a:buChar char="•"/>
            </a:pPr>
            <a:r>
              <a:rPr lang="en-GB" sz="1000"/>
              <a:t>100%-win rate on re-compete contracts</a:t>
            </a:r>
          </a:p>
          <a:p>
            <a:pPr marL="171450" indent="-171450">
              <a:buFont typeface="Arial" panose="020B0604020202020204" pitchFamily="34" charset="0"/>
              <a:buChar char="•"/>
            </a:pPr>
            <a:r>
              <a:rPr lang="en-GB" sz="1000"/>
              <a:t>Secured positions on AMP8 water framework in UK</a:t>
            </a:r>
          </a:p>
          <a:p>
            <a:pPr marL="171450" indent="-171450">
              <a:buFont typeface="Arial" panose="020B0604020202020204" pitchFamily="34" charset="0"/>
              <a:buChar char="•"/>
            </a:pPr>
            <a:r>
              <a:rPr lang="en-GB" sz="1000"/>
              <a:t>Top competitors – Stantec</a:t>
            </a:r>
          </a:p>
          <a:p>
            <a:r>
              <a:rPr lang="en-GB" sz="1100" b="1"/>
              <a:t>Environmental consulting</a:t>
            </a:r>
          </a:p>
          <a:p>
            <a:pPr marL="171450" indent="-171450">
              <a:buFont typeface="Arial" panose="020B0604020202020204" pitchFamily="34" charset="0"/>
              <a:buChar char="•"/>
            </a:pPr>
            <a:r>
              <a:rPr lang="en-GB" sz="1000"/>
              <a:t>#1 in sustainability and ESG strategy with a 25% market share</a:t>
            </a:r>
          </a:p>
          <a:p>
            <a:pPr marL="171450" indent="-171450">
              <a:buFont typeface="Arial" panose="020B0604020202020204" pitchFamily="34" charset="0"/>
              <a:buChar char="•"/>
            </a:pPr>
            <a:r>
              <a:rPr lang="en-GB" sz="1000"/>
              <a:t>#1 for Climate change and energy services</a:t>
            </a:r>
          </a:p>
          <a:p>
            <a:pPr marL="171450" indent="-171450">
              <a:buFont typeface="Arial" panose="020B0604020202020204" pitchFamily="34" charset="0"/>
              <a:buChar char="•"/>
            </a:pPr>
            <a:r>
              <a:rPr lang="en-GB" sz="1000"/>
              <a:t>19.6% Market share in the overall Environmental consulting segment</a:t>
            </a:r>
          </a:p>
          <a:p>
            <a:pPr marL="171450" indent="-171450">
              <a:buFont typeface="Arial" panose="020B0604020202020204" pitchFamily="34" charset="0"/>
              <a:buChar char="•"/>
            </a:pPr>
            <a:r>
              <a:rPr lang="en-GB" sz="1000"/>
              <a:t>Top competitors – Stantec, Jacobs Solutions</a:t>
            </a:r>
          </a:p>
        </p:txBody>
      </p:sp>
      <p:sp>
        <p:nvSpPr>
          <p:cNvPr id="21" name="TextBox 20">
            <a:extLst>
              <a:ext uri="{FF2B5EF4-FFF2-40B4-BE49-F238E27FC236}">
                <a16:creationId xmlns:a16="http://schemas.microsoft.com/office/drawing/2014/main" id="{2E9F31F1-9064-9255-88D3-D809F6DDBB5E}"/>
              </a:ext>
            </a:extLst>
          </p:cNvPr>
          <p:cNvSpPr txBox="1"/>
          <p:nvPr/>
        </p:nvSpPr>
        <p:spPr>
          <a:xfrm>
            <a:off x="4001853" y="1129954"/>
            <a:ext cx="3599387" cy="2616101"/>
          </a:xfrm>
          <a:prstGeom prst="rect">
            <a:avLst/>
          </a:prstGeom>
          <a:noFill/>
        </p:spPr>
        <p:txBody>
          <a:bodyPr wrap="square" rtlCol="0">
            <a:spAutoFit/>
          </a:bodyPr>
          <a:lstStyle/>
          <a:p>
            <a:r>
              <a:rPr lang="en-GB" sz="1100" b="1" dirty="0"/>
              <a:t>Construction management</a:t>
            </a:r>
          </a:p>
          <a:p>
            <a:pPr marL="171450" indent="-171450">
              <a:buFont typeface="Arial" panose="020B0604020202020204" pitchFamily="34" charset="0"/>
              <a:buChar char="•"/>
            </a:pPr>
            <a:r>
              <a:rPr lang="en-GB" sz="1000" dirty="0"/>
              <a:t>Top-tier firm globally</a:t>
            </a:r>
          </a:p>
          <a:p>
            <a:pPr marL="171450" indent="-171450">
              <a:buFont typeface="Arial" panose="020B0604020202020204" pitchFamily="34" charset="0"/>
              <a:buChar char="•"/>
            </a:pPr>
            <a:r>
              <a:rPr lang="en-GB" sz="1000" dirty="0"/>
              <a:t>Strong and growing backlog and pipeline (2028 Olympics official partner)</a:t>
            </a:r>
          </a:p>
          <a:p>
            <a:pPr marL="171450" indent="-171450">
              <a:buFont typeface="Arial" panose="020B0604020202020204" pitchFamily="34" charset="0"/>
              <a:buChar char="•"/>
            </a:pPr>
            <a:r>
              <a:rPr lang="en-GB" sz="1000" dirty="0"/>
              <a:t>Strong track record – Burj Khalifa, One World Trade Centre</a:t>
            </a:r>
          </a:p>
          <a:p>
            <a:pPr marL="171450" indent="-171450">
              <a:buFont typeface="Arial" panose="020B0604020202020204" pitchFamily="34" charset="0"/>
              <a:buChar char="•"/>
            </a:pPr>
            <a:r>
              <a:rPr lang="en-GB" sz="1000" dirty="0"/>
              <a:t>Top competitors – Jacobs Solution, WSP, KBR, Bechtel</a:t>
            </a:r>
          </a:p>
          <a:p>
            <a:r>
              <a:rPr lang="en-GB" sz="1100" b="1" dirty="0"/>
              <a:t>Building and facilities engineering</a:t>
            </a:r>
          </a:p>
          <a:p>
            <a:pPr marL="171450" indent="-171450">
              <a:buFont typeface="Arial" panose="020B0604020202020204" pitchFamily="34" charset="0"/>
              <a:buChar char="•"/>
            </a:pPr>
            <a:r>
              <a:rPr lang="en-GB" sz="1000" dirty="0"/>
              <a:t>Ranked #1 for facilities and general building</a:t>
            </a:r>
          </a:p>
          <a:p>
            <a:pPr marL="171450" indent="-171450">
              <a:buFont typeface="Arial" panose="020B0604020202020204" pitchFamily="34" charset="0"/>
              <a:buChar char="•"/>
            </a:pPr>
            <a:r>
              <a:rPr lang="en-GB" sz="1000" dirty="0"/>
              <a:t>Notable projects such as the Mercedes Benz stadium</a:t>
            </a:r>
          </a:p>
          <a:p>
            <a:pPr marL="171450" indent="-171450">
              <a:buFont typeface="Arial" panose="020B0604020202020204" pitchFamily="34" charset="0"/>
              <a:buChar char="•"/>
            </a:pPr>
            <a:r>
              <a:rPr lang="en-GB" sz="1000" dirty="0"/>
              <a:t>Top competitors – Jacobs Solutions, Fluor, WSP</a:t>
            </a:r>
          </a:p>
          <a:p>
            <a:r>
              <a:rPr lang="en-GB" sz="1100" b="1" dirty="0"/>
              <a:t>Advisory services</a:t>
            </a:r>
          </a:p>
          <a:p>
            <a:pPr marL="171450" indent="-171450">
              <a:buFont typeface="Arial" panose="020B0604020202020204" pitchFamily="34" charset="0"/>
              <a:buChar char="•"/>
            </a:pPr>
            <a:r>
              <a:rPr lang="en-GB" sz="1000" dirty="0"/>
              <a:t>Distinct unit as of 2025 within the company</a:t>
            </a:r>
          </a:p>
          <a:p>
            <a:pPr marL="171450" indent="-171450">
              <a:buFont typeface="Arial" panose="020B0604020202020204" pitchFamily="34" charset="0"/>
              <a:buChar char="•"/>
            </a:pPr>
            <a:r>
              <a:rPr lang="en-GB" sz="1000" dirty="0"/>
              <a:t>In-house advisory services aimed at providing a more end-to-end service for clients</a:t>
            </a:r>
          </a:p>
          <a:p>
            <a:pPr marL="171450" indent="-171450">
              <a:buFont typeface="Arial" panose="020B0604020202020204" pitchFamily="34" charset="0"/>
              <a:buChar char="•"/>
            </a:pPr>
            <a:r>
              <a:rPr lang="en-GB" sz="1000" dirty="0"/>
              <a:t>Top competitors – Arup, Deloitte, McKinsey</a:t>
            </a:r>
          </a:p>
          <a:p>
            <a:endParaRPr lang="en-GB" sz="1100" dirty="0"/>
          </a:p>
        </p:txBody>
      </p:sp>
      <p:sp>
        <p:nvSpPr>
          <p:cNvPr id="14" name="Rectangle: Rounded Corners 13">
            <a:extLst>
              <a:ext uri="{FF2B5EF4-FFF2-40B4-BE49-F238E27FC236}">
                <a16:creationId xmlns:a16="http://schemas.microsoft.com/office/drawing/2014/main" id="{F9543CAB-E1A6-DEF1-C51C-384B94385D76}"/>
              </a:ext>
            </a:extLst>
          </p:cNvPr>
          <p:cNvSpPr/>
          <p:nvPr/>
        </p:nvSpPr>
        <p:spPr>
          <a:xfrm>
            <a:off x="7904474" y="898117"/>
            <a:ext cx="4033888" cy="20253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tx1"/>
                </a:solidFill>
              </a:rPr>
              <a:t>Strong industry growth estimates (2026-2033)</a:t>
            </a:r>
          </a:p>
        </p:txBody>
      </p:sp>
    </p:spTree>
    <p:extLst>
      <p:ext uri="{BB962C8B-B14F-4D97-AF65-F5344CB8AC3E}">
        <p14:creationId xmlns:p14="http://schemas.microsoft.com/office/powerpoint/2010/main" val="3742534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0179B7B-268E-7D8B-641A-2206440E4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7002" y="4417134"/>
            <a:ext cx="4730610" cy="23378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B3D9574-DB22-7D11-B3E8-7FA069E945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03375" y="101379"/>
            <a:ext cx="1514453" cy="34289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D6A5D494-FD64-91D0-F53C-51C3F87649D1}"/>
              </a:ext>
            </a:extLst>
          </p:cNvPr>
          <p:cNvCxnSpPr>
            <a:cxnSpLocks/>
          </p:cNvCxnSpPr>
          <p:nvPr/>
        </p:nvCxnSpPr>
        <p:spPr>
          <a:xfrm>
            <a:off x="169333" y="504536"/>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2EB69648-583A-79CD-7B71-05F92C79C3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sp>
        <p:nvSpPr>
          <p:cNvPr id="5" name="TextBox 4">
            <a:extLst>
              <a:ext uri="{FF2B5EF4-FFF2-40B4-BE49-F238E27FC236}">
                <a16:creationId xmlns:a16="http://schemas.microsoft.com/office/drawing/2014/main" id="{974E01E1-D1F3-16CB-8D81-72BDF9D14B38}"/>
              </a:ext>
            </a:extLst>
          </p:cNvPr>
          <p:cNvSpPr txBox="1"/>
          <p:nvPr/>
        </p:nvSpPr>
        <p:spPr>
          <a:xfrm>
            <a:off x="169332" y="41993"/>
            <a:ext cx="10066867" cy="461665"/>
          </a:xfrm>
          <a:prstGeom prst="rect">
            <a:avLst/>
          </a:prstGeom>
          <a:noFill/>
        </p:spPr>
        <p:txBody>
          <a:bodyPr wrap="square">
            <a:spAutoFit/>
          </a:bodyPr>
          <a:lstStyle/>
          <a:p>
            <a:r>
              <a:rPr lang="en-GB" sz="2400">
                <a:latin typeface="Times New Roman" panose="02020603050405020304" pitchFamily="18" charset="0"/>
                <a:cs typeface="Times New Roman" panose="02020603050405020304" pitchFamily="18" charset="0"/>
              </a:rPr>
              <a:t>Investment thesis </a:t>
            </a:r>
            <a:r>
              <a:rPr lang="en-GB" sz="1400">
                <a:latin typeface="Times New Roman" panose="02020603050405020304" pitchFamily="18" charset="0"/>
                <a:cs typeface="Times New Roman" panose="02020603050405020304" pitchFamily="18" charset="0"/>
              </a:rPr>
              <a:t>–</a:t>
            </a:r>
            <a:r>
              <a:rPr lang="en-GB" sz="2400">
                <a:latin typeface="Times New Roman" panose="02020603050405020304" pitchFamily="18" charset="0"/>
                <a:cs typeface="Times New Roman" panose="02020603050405020304" pitchFamily="18" charset="0"/>
              </a:rPr>
              <a:t> </a:t>
            </a:r>
            <a:r>
              <a:rPr lang="en-GB" sz="1400">
                <a:latin typeface="Times New Roman" panose="02020603050405020304" pitchFamily="18" charset="0"/>
                <a:cs typeface="Times New Roman" panose="02020603050405020304" pitchFamily="18" charset="0"/>
              </a:rPr>
              <a:t>Record project backlog with increasing margins, priming AECOM to capitalise on growing market </a:t>
            </a:r>
            <a:endParaRPr lang="en-GB" sz="2400"/>
          </a:p>
        </p:txBody>
      </p:sp>
      <p:sp>
        <p:nvSpPr>
          <p:cNvPr id="6" name="Rectangle 5">
            <a:extLst>
              <a:ext uri="{FF2B5EF4-FFF2-40B4-BE49-F238E27FC236}">
                <a16:creationId xmlns:a16="http://schemas.microsoft.com/office/drawing/2014/main" id="{E8DAC390-B816-C507-9551-8BB553CA5E51}"/>
              </a:ext>
            </a:extLst>
          </p:cNvPr>
          <p:cNvSpPr/>
          <p:nvPr/>
        </p:nvSpPr>
        <p:spPr>
          <a:xfrm>
            <a:off x="104231" y="792842"/>
            <a:ext cx="5551622" cy="195958"/>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Accelerating Operating Leverage through AI and Advisory services</a:t>
            </a:r>
          </a:p>
        </p:txBody>
      </p:sp>
      <p:cxnSp>
        <p:nvCxnSpPr>
          <p:cNvPr id="7" name="Straight Connector 6">
            <a:extLst>
              <a:ext uri="{FF2B5EF4-FFF2-40B4-BE49-F238E27FC236}">
                <a16:creationId xmlns:a16="http://schemas.microsoft.com/office/drawing/2014/main" id="{59E2C089-D758-FCEB-6D8E-CBE9D6D5BCC0}"/>
              </a:ext>
            </a:extLst>
          </p:cNvPr>
          <p:cNvCxnSpPr>
            <a:cxnSpLocks/>
          </p:cNvCxnSpPr>
          <p:nvPr/>
        </p:nvCxnSpPr>
        <p:spPr>
          <a:xfrm>
            <a:off x="87689" y="982815"/>
            <a:ext cx="5551622" cy="1505"/>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02D0384C-7C61-88AC-B4E3-1E0F86EA869E}"/>
              </a:ext>
            </a:extLst>
          </p:cNvPr>
          <p:cNvSpPr/>
          <p:nvPr/>
        </p:nvSpPr>
        <p:spPr>
          <a:xfrm>
            <a:off x="134782" y="4207661"/>
            <a:ext cx="5465741" cy="202537"/>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rgbClr val="000000"/>
                </a:solidFill>
              </a:rPr>
              <a:t>Strategic acquisition of Consigli</a:t>
            </a:r>
          </a:p>
        </p:txBody>
      </p:sp>
      <p:sp>
        <p:nvSpPr>
          <p:cNvPr id="14" name="Rectangle 13">
            <a:extLst>
              <a:ext uri="{FF2B5EF4-FFF2-40B4-BE49-F238E27FC236}">
                <a16:creationId xmlns:a16="http://schemas.microsoft.com/office/drawing/2014/main" id="{04FBC2D4-DB04-D108-39D9-565EAA17BD02}"/>
              </a:ext>
            </a:extLst>
          </p:cNvPr>
          <p:cNvSpPr/>
          <p:nvPr/>
        </p:nvSpPr>
        <p:spPr>
          <a:xfrm>
            <a:off x="6086176" y="781719"/>
            <a:ext cx="5915865" cy="212508"/>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Record-breaking backlog</a:t>
            </a:r>
          </a:p>
        </p:txBody>
      </p:sp>
      <p:sp>
        <p:nvSpPr>
          <p:cNvPr id="29" name="Rectangle 2">
            <a:extLst>
              <a:ext uri="{FF2B5EF4-FFF2-40B4-BE49-F238E27FC236}">
                <a16:creationId xmlns:a16="http://schemas.microsoft.com/office/drawing/2014/main" id="{42E5D4BA-7905-D3C5-8F4E-3008D556595F}"/>
              </a:ext>
            </a:extLst>
          </p:cNvPr>
          <p:cNvSpPr>
            <a:spLocks noChangeArrowheads="1"/>
          </p:cNvSpPr>
          <p:nvPr/>
        </p:nvSpPr>
        <p:spPr bwMode="auto">
          <a:xfrm>
            <a:off x="134782" y="4349154"/>
            <a:ext cx="5457437"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100"/>
              <a:t>November 2025 AECOM acquired Consigli for $390 Million</a:t>
            </a:r>
            <a:endParaRPr kumimoji="0" lang="en-US" altLang="en-US" sz="1100" b="0" i="0" u="none" strike="noStrike" cap="none" normalizeH="0" baseline="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a:ln>
                  <a:noFill/>
                </a:ln>
                <a:solidFill>
                  <a:schemeClr val="tx1"/>
                </a:solidFill>
                <a:effectLst/>
              </a:rPr>
              <a:t>Consigli automates space analysis, MEP loadings, plant room optimisation, BIM modelling and report generation, claiming up to </a:t>
            </a:r>
            <a:r>
              <a:rPr kumimoji="0" lang="en-US" altLang="en-US" sz="1100" b="1" i="0" u="none" strike="noStrike" cap="none" normalizeH="0" baseline="0">
                <a:ln>
                  <a:noFill/>
                </a:ln>
                <a:solidFill>
                  <a:schemeClr val="tx1"/>
                </a:solidFill>
                <a:effectLst/>
              </a:rPr>
              <a:t>90% reduction in engineering time and cut material use by 20%</a:t>
            </a:r>
            <a:r>
              <a:rPr kumimoji="0" lang="en-US" altLang="en-US" sz="1100" b="0" i="0" u="none" strike="noStrike" cap="none" normalizeH="0" baseline="0">
                <a:ln>
                  <a:noFill/>
                </a:ln>
                <a:solidFill>
                  <a:schemeClr val="tx1"/>
                </a:solidFill>
                <a:effectLst/>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a:ln>
                  <a:noFill/>
                </a:ln>
                <a:solidFill>
                  <a:schemeClr val="tx1"/>
                </a:solidFill>
                <a:effectLst/>
              </a:rPr>
              <a:t>AECOM had previously partnered with Consigli as a supplier; leadership concluded the technology could disrupt the industry and </a:t>
            </a:r>
            <a:r>
              <a:rPr kumimoji="0" lang="en-US" altLang="en-US" sz="1100" b="1" i="0" u="none" strike="noStrike" cap="none" normalizeH="0" baseline="0">
                <a:ln>
                  <a:noFill/>
                </a:ln>
                <a:solidFill>
                  <a:schemeClr val="tx1"/>
                </a:solidFill>
                <a:effectLst/>
              </a:rPr>
              <a:t>acquired rather than remained exposed</a:t>
            </a:r>
            <a:endParaRPr lang="en-US" altLang="en-US" sz="1100"/>
          </a:p>
          <a:p>
            <a:pPr marL="171450" lvl="0" indent="-171450" eaLnBrk="0" fontAlgn="base" hangingPunct="0">
              <a:spcBef>
                <a:spcPct val="0"/>
              </a:spcBef>
              <a:spcAft>
                <a:spcPct val="0"/>
              </a:spcAft>
              <a:buFont typeface="Arial" panose="020B0604020202020204" pitchFamily="34" charset="0"/>
              <a:buChar char="•"/>
            </a:pPr>
            <a:r>
              <a:rPr lang="en-GB" sz="1100"/>
              <a:t>AECOM is the first major AEC firm to acquire a technology company itself rather than outsource the IP</a:t>
            </a:r>
            <a:endParaRPr kumimoji="0" lang="en-US" altLang="en-US" sz="1100" b="0" i="0" u="none" strike="noStrike" cap="none" normalizeH="0" baseline="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a:ln>
                  <a:noFill/>
                </a:ln>
                <a:solidFill>
                  <a:schemeClr val="tx1"/>
                </a:solidFill>
                <a:effectLst/>
              </a:rPr>
              <a:t>Consigli founder </a:t>
            </a:r>
            <a:r>
              <a:rPr kumimoji="0" lang="en-US" altLang="en-US" sz="1100" b="1" i="0" u="none" strike="noStrike" cap="none" normalizeH="0" baseline="0">
                <a:ln>
                  <a:noFill/>
                </a:ln>
                <a:solidFill>
                  <a:schemeClr val="tx1"/>
                </a:solidFill>
                <a:effectLst/>
              </a:rPr>
              <a:t>Janne Aas-Jakobsen joins as Head of AI Engineering</a:t>
            </a:r>
            <a:r>
              <a:rPr kumimoji="0" lang="en-US" altLang="en-US" sz="1100" b="0" i="0" u="none" strike="noStrike" cap="none" normalizeH="0" baseline="0">
                <a:ln>
                  <a:noFill/>
                </a:ln>
                <a:solidFill>
                  <a:schemeClr val="tx1"/>
                </a:solidFill>
                <a:effectLst/>
              </a:rPr>
              <a:t>, retaining the platform's creator and anchoring AECOM's proprietary AI capability </a:t>
            </a:r>
          </a:p>
        </p:txBody>
      </p:sp>
      <p:sp>
        <p:nvSpPr>
          <p:cNvPr id="33" name="TextBox 32">
            <a:extLst>
              <a:ext uri="{FF2B5EF4-FFF2-40B4-BE49-F238E27FC236}">
                <a16:creationId xmlns:a16="http://schemas.microsoft.com/office/drawing/2014/main" id="{0198B8E1-09ED-0140-2C38-6B55B7C92434}"/>
              </a:ext>
            </a:extLst>
          </p:cNvPr>
          <p:cNvSpPr txBox="1"/>
          <p:nvPr/>
        </p:nvSpPr>
        <p:spPr>
          <a:xfrm>
            <a:off x="115385" y="469677"/>
            <a:ext cx="11132227" cy="323165"/>
          </a:xfrm>
          <a:prstGeom prst="rect">
            <a:avLst/>
          </a:prstGeom>
          <a:noFill/>
        </p:spPr>
        <p:txBody>
          <a:bodyPr wrap="square" rtlCol="0">
            <a:spAutoFit/>
          </a:bodyPr>
          <a:lstStyle/>
          <a:p>
            <a:r>
              <a:rPr lang="en-GB" sz="1100" b="1"/>
              <a:t>AECOM has targeted an NSR operating margin growth to 20% by 2028 with the further deployment of AECOM AI solutions and the expansion of its advisory services</a:t>
            </a:r>
          </a:p>
          <a:p>
            <a:endParaRPr lang="en-GB" sz="400"/>
          </a:p>
        </p:txBody>
      </p:sp>
      <p:grpSp>
        <p:nvGrpSpPr>
          <p:cNvPr id="27" name="Group 26">
            <a:extLst>
              <a:ext uri="{FF2B5EF4-FFF2-40B4-BE49-F238E27FC236}">
                <a16:creationId xmlns:a16="http://schemas.microsoft.com/office/drawing/2014/main" id="{7149713A-9721-99FF-08BF-B74E2DF201E9}"/>
              </a:ext>
            </a:extLst>
          </p:cNvPr>
          <p:cNvGrpSpPr/>
          <p:nvPr/>
        </p:nvGrpSpPr>
        <p:grpSpPr>
          <a:xfrm>
            <a:off x="115386" y="1142839"/>
            <a:ext cx="2723070" cy="3171404"/>
            <a:chOff x="106176" y="1173875"/>
            <a:chExt cx="2723070" cy="3171404"/>
          </a:xfrm>
        </p:grpSpPr>
        <p:sp>
          <p:nvSpPr>
            <p:cNvPr id="36" name="Rectangle 35">
              <a:extLst>
                <a:ext uri="{FF2B5EF4-FFF2-40B4-BE49-F238E27FC236}">
                  <a16:creationId xmlns:a16="http://schemas.microsoft.com/office/drawing/2014/main" id="{1D73EB49-B253-6171-50EB-B57C4AF7BFFC}"/>
                </a:ext>
              </a:extLst>
            </p:cNvPr>
            <p:cNvSpPr/>
            <p:nvPr/>
          </p:nvSpPr>
          <p:spPr>
            <a:xfrm>
              <a:off x="133013" y="1481119"/>
              <a:ext cx="2696233" cy="267497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1AF678C7-8C98-3B5F-E576-132F90DD5661}"/>
                </a:ext>
              </a:extLst>
            </p:cNvPr>
            <p:cNvSpPr txBox="1"/>
            <p:nvPr/>
          </p:nvSpPr>
          <p:spPr>
            <a:xfrm>
              <a:off x="106176" y="1190569"/>
              <a:ext cx="2641545" cy="3154710"/>
            </a:xfrm>
            <a:prstGeom prst="rect">
              <a:avLst/>
            </a:prstGeom>
            <a:noFill/>
          </p:spPr>
          <p:txBody>
            <a:bodyPr wrap="square" rtlCol="0">
              <a:spAutoFit/>
            </a:bodyPr>
            <a:lstStyle/>
            <a:p>
              <a:endParaRPr lang="en-GB" sz="1100"/>
            </a:p>
            <a:p>
              <a:r>
                <a:rPr lang="en-GB" sz="1200" b="1"/>
                <a:t>      </a:t>
              </a:r>
            </a:p>
            <a:p>
              <a:pPr marL="171450" indent="-171450">
                <a:buFont typeface="Arial" panose="020B0604020202020204" pitchFamily="34" charset="0"/>
                <a:buChar char="•"/>
              </a:pPr>
              <a:r>
                <a:rPr lang="en-GB" sz="1100"/>
                <a:t>Trained AI systems with both broad and targeted use potential, that independently perform specific, technical engineering tasks with speed, precision, and consistency</a:t>
              </a:r>
            </a:p>
            <a:p>
              <a:pPr marL="171450" indent="-171450">
                <a:buFont typeface="Arial" panose="020B0604020202020204" pitchFamily="34" charset="0"/>
                <a:buChar char="•"/>
              </a:pPr>
              <a:r>
                <a:rPr lang="en-GB" sz="1100"/>
                <a:t>Potential to automate </a:t>
              </a:r>
              <a:r>
                <a:rPr lang="en-GB" sz="1100" b="1"/>
                <a:t>80% </a:t>
              </a:r>
              <a:r>
                <a:rPr lang="en-GB" sz="1100"/>
                <a:t>of procurement and tendering processes through AI</a:t>
              </a:r>
            </a:p>
            <a:p>
              <a:pPr marL="171450" indent="-171450">
                <a:buFont typeface="Arial" panose="020B0604020202020204" pitchFamily="34" charset="0"/>
                <a:buChar char="•"/>
              </a:pPr>
              <a:r>
                <a:rPr lang="en-GB" sz="1100"/>
                <a:t>Transforms business model </a:t>
              </a:r>
              <a:r>
                <a:rPr lang="en-GB" sz="1100" b="1"/>
                <a:t>from labour-intensive and high variable costs to a more automated process</a:t>
              </a:r>
            </a:p>
            <a:p>
              <a:pPr marL="171450" indent="-171450">
                <a:buFont typeface="Arial" panose="020B0604020202020204" pitchFamily="34" charset="0"/>
                <a:buChar char="•"/>
              </a:pPr>
              <a:r>
                <a:rPr lang="en-GB" sz="1100" b="1"/>
                <a:t>30% </a:t>
              </a:r>
              <a:r>
                <a:rPr lang="en-GB" sz="1100"/>
                <a:t>of hours to be automated reducing analysis and modelling tasks</a:t>
              </a:r>
              <a:endParaRPr lang="en-GB" sz="1200" b="1"/>
            </a:p>
            <a:p>
              <a:pPr marL="171450" indent="-171450">
                <a:buFont typeface="Arial" panose="020B0604020202020204" pitchFamily="34" charset="0"/>
                <a:buChar char="•"/>
              </a:pPr>
              <a:endParaRPr lang="en-GB" sz="1100"/>
            </a:p>
            <a:p>
              <a:pPr marL="171450" indent="-171450">
                <a:buFont typeface="Arial" panose="020B0604020202020204" pitchFamily="34" charset="0"/>
                <a:buChar char="•"/>
              </a:pPr>
              <a:endParaRPr lang="en-GB" sz="1100"/>
            </a:p>
          </p:txBody>
        </p:sp>
        <p:sp>
          <p:nvSpPr>
            <p:cNvPr id="34" name="Rectangle 33">
              <a:extLst>
                <a:ext uri="{FF2B5EF4-FFF2-40B4-BE49-F238E27FC236}">
                  <a16:creationId xmlns:a16="http://schemas.microsoft.com/office/drawing/2014/main" id="{202D9E16-6E02-3146-28A8-48E5E95F504C}"/>
                </a:ext>
              </a:extLst>
            </p:cNvPr>
            <p:cNvSpPr/>
            <p:nvPr/>
          </p:nvSpPr>
          <p:spPr>
            <a:xfrm>
              <a:off x="133013" y="1173875"/>
              <a:ext cx="2696233" cy="27786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bg1"/>
                  </a:solidFill>
                  <a:latin typeface="Times New Roman" panose="02020603050405020304" pitchFamily="18" charset="0"/>
                  <a:cs typeface="Times New Roman" panose="02020603050405020304" pitchFamily="18" charset="0"/>
                </a:rPr>
                <a:t>AI efficiency</a:t>
              </a:r>
            </a:p>
          </p:txBody>
        </p:sp>
      </p:grpSp>
      <p:grpSp>
        <p:nvGrpSpPr>
          <p:cNvPr id="22" name="Group 21">
            <a:extLst>
              <a:ext uri="{FF2B5EF4-FFF2-40B4-BE49-F238E27FC236}">
                <a16:creationId xmlns:a16="http://schemas.microsoft.com/office/drawing/2014/main" id="{70C56045-D9B6-49DE-EF5C-B65F256BFA1D}"/>
              </a:ext>
            </a:extLst>
          </p:cNvPr>
          <p:cNvGrpSpPr/>
          <p:nvPr/>
        </p:nvGrpSpPr>
        <p:grpSpPr>
          <a:xfrm>
            <a:off x="2847212" y="1142839"/>
            <a:ext cx="2753311" cy="3013801"/>
            <a:chOff x="84239" y="4310464"/>
            <a:chExt cx="2753311" cy="3013801"/>
          </a:xfrm>
        </p:grpSpPr>
        <p:sp>
          <p:nvSpPr>
            <p:cNvPr id="37" name="Rectangle 36">
              <a:extLst>
                <a:ext uri="{FF2B5EF4-FFF2-40B4-BE49-F238E27FC236}">
                  <a16:creationId xmlns:a16="http://schemas.microsoft.com/office/drawing/2014/main" id="{F5BC429C-CA70-D1C4-B102-C99652E1D122}"/>
                </a:ext>
              </a:extLst>
            </p:cNvPr>
            <p:cNvSpPr/>
            <p:nvPr/>
          </p:nvSpPr>
          <p:spPr>
            <a:xfrm>
              <a:off x="133013" y="4623144"/>
              <a:ext cx="2696233" cy="267497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E47BBBC4-1FC0-87EF-A770-0E1A15EAFACE}"/>
                </a:ext>
              </a:extLst>
            </p:cNvPr>
            <p:cNvSpPr txBox="1"/>
            <p:nvPr/>
          </p:nvSpPr>
          <p:spPr>
            <a:xfrm>
              <a:off x="84239" y="4692775"/>
              <a:ext cx="2535461" cy="2631490"/>
            </a:xfrm>
            <a:prstGeom prst="rect">
              <a:avLst/>
            </a:prstGeom>
            <a:noFill/>
          </p:spPr>
          <p:txBody>
            <a:bodyPr wrap="square" rtlCol="0">
              <a:spAutoFit/>
            </a:bodyPr>
            <a:lstStyle/>
            <a:p>
              <a:pPr marL="171450" indent="-171450">
                <a:buFont typeface="Arial" panose="020B0604020202020204" pitchFamily="34" charset="0"/>
                <a:buChar char="•"/>
              </a:pPr>
              <a:r>
                <a:rPr lang="en-GB" sz="1100"/>
                <a:t>An internal shift to focus on higher-margin advisory services</a:t>
              </a:r>
            </a:p>
            <a:p>
              <a:pPr marL="171450" indent="-171450">
                <a:buFont typeface="Arial" panose="020B0604020202020204" pitchFamily="34" charset="0"/>
                <a:buChar char="•"/>
              </a:pPr>
              <a:r>
                <a:rPr lang="en-GB" sz="1100"/>
                <a:t>Advisory margins operate around </a:t>
              </a:r>
              <a:r>
                <a:rPr lang="en-GB" sz="1100" b="1"/>
                <a:t>25-35% </a:t>
              </a:r>
            </a:p>
            <a:p>
              <a:pPr marL="171450" indent="-171450">
                <a:buFont typeface="Arial" panose="020B0604020202020204" pitchFamily="34" charset="0"/>
                <a:buChar char="•"/>
              </a:pPr>
              <a:r>
                <a:rPr lang="en-GB" sz="1100"/>
                <a:t>Aims for this sector to account for </a:t>
              </a:r>
              <a:r>
                <a:rPr lang="en-GB" sz="1100" b="1"/>
                <a:t>50% </a:t>
              </a:r>
              <a:r>
                <a:rPr lang="en-GB" sz="1100"/>
                <a:t>of NSR, raising the company’s overall margin</a:t>
              </a:r>
            </a:p>
            <a:p>
              <a:pPr marL="171450" indent="-171450">
                <a:buFont typeface="Arial" panose="020B0604020202020204" pitchFamily="34" charset="0"/>
                <a:buChar char="•"/>
              </a:pPr>
              <a:r>
                <a:rPr lang="en-GB" sz="1100"/>
                <a:t>Reduce cyclicality with asset light operations on longer term contracts</a:t>
              </a:r>
            </a:p>
            <a:p>
              <a:pPr marL="171450" indent="-171450">
                <a:buFont typeface="Arial" panose="020B0604020202020204" pitchFamily="34" charset="0"/>
                <a:buChar char="•"/>
              </a:pPr>
              <a:r>
                <a:rPr lang="en-GB" sz="1100"/>
                <a:t>Bridges the gap between consulting firms and engineering firms providing an integrated end-to-end service, capturing more value across the infrastructure lifecycle</a:t>
              </a:r>
            </a:p>
            <a:p>
              <a:endParaRPr lang="en-GB" sz="1100"/>
            </a:p>
          </p:txBody>
        </p:sp>
        <p:sp>
          <p:nvSpPr>
            <p:cNvPr id="38" name="Rectangle 37">
              <a:extLst>
                <a:ext uri="{FF2B5EF4-FFF2-40B4-BE49-F238E27FC236}">
                  <a16:creationId xmlns:a16="http://schemas.microsoft.com/office/drawing/2014/main" id="{AD7F90FC-D37D-2135-45CE-A2BB14C78EDD}"/>
                </a:ext>
              </a:extLst>
            </p:cNvPr>
            <p:cNvSpPr/>
            <p:nvPr/>
          </p:nvSpPr>
          <p:spPr>
            <a:xfrm>
              <a:off x="141317" y="4310464"/>
              <a:ext cx="2696233" cy="27786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bg1"/>
                  </a:solidFill>
                  <a:latin typeface="Times New Roman" panose="02020603050405020304" pitchFamily="18" charset="0"/>
                  <a:cs typeface="Times New Roman" panose="02020603050405020304" pitchFamily="18" charset="0"/>
                </a:rPr>
                <a:t>Advisory expansion</a:t>
              </a:r>
            </a:p>
          </p:txBody>
        </p:sp>
      </p:grpSp>
      <p:grpSp>
        <p:nvGrpSpPr>
          <p:cNvPr id="52" name="Group 51">
            <a:extLst>
              <a:ext uri="{FF2B5EF4-FFF2-40B4-BE49-F238E27FC236}">
                <a16:creationId xmlns:a16="http://schemas.microsoft.com/office/drawing/2014/main" id="{D681CBD6-6788-832B-91D8-A840E12847E1}"/>
              </a:ext>
            </a:extLst>
          </p:cNvPr>
          <p:cNvGrpSpPr/>
          <p:nvPr/>
        </p:nvGrpSpPr>
        <p:grpSpPr>
          <a:xfrm>
            <a:off x="6086177" y="2537282"/>
            <a:ext cx="5915864" cy="1776961"/>
            <a:chOff x="6086177" y="2345530"/>
            <a:chExt cx="5829180" cy="1776961"/>
          </a:xfrm>
        </p:grpSpPr>
        <p:sp>
          <p:nvSpPr>
            <p:cNvPr id="15" name="Rectangle 14">
              <a:extLst>
                <a:ext uri="{FF2B5EF4-FFF2-40B4-BE49-F238E27FC236}">
                  <a16:creationId xmlns:a16="http://schemas.microsoft.com/office/drawing/2014/main" id="{233C4832-7447-2297-EE9D-D954E683617C}"/>
                </a:ext>
              </a:extLst>
            </p:cNvPr>
            <p:cNvSpPr/>
            <p:nvPr/>
          </p:nvSpPr>
          <p:spPr>
            <a:xfrm>
              <a:off x="6088502" y="2345530"/>
              <a:ext cx="2823964" cy="27862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bg1"/>
                  </a:solidFill>
                  <a:latin typeface="Times New Roman" panose="02020603050405020304" pitchFamily="18" charset="0"/>
                  <a:cs typeface="Times New Roman" panose="02020603050405020304" pitchFamily="18" charset="0"/>
                </a:rPr>
                <a:t>Growing backlog</a:t>
              </a:r>
            </a:p>
          </p:txBody>
        </p:sp>
        <p:sp>
          <p:nvSpPr>
            <p:cNvPr id="21" name="Rectangle 20">
              <a:extLst>
                <a:ext uri="{FF2B5EF4-FFF2-40B4-BE49-F238E27FC236}">
                  <a16:creationId xmlns:a16="http://schemas.microsoft.com/office/drawing/2014/main" id="{B662D6C1-6B1D-0111-4415-E617163D186F}"/>
                </a:ext>
              </a:extLst>
            </p:cNvPr>
            <p:cNvSpPr/>
            <p:nvPr/>
          </p:nvSpPr>
          <p:spPr>
            <a:xfrm>
              <a:off x="6086177" y="2658372"/>
              <a:ext cx="2826288" cy="1464119"/>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GB" sz="1100">
                <a:solidFill>
                  <a:schemeClr val="tx1"/>
                </a:solidFill>
              </a:endParaRPr>
            </a:p>
            <a:p>
              <a:pPr marL="171450" indent="-171450">
                <a:buFont typeface="Arial" panose="020B0604020202020204" pitchFamily="34" charset="0"/>
                <a:buChar char="•"/>
              </a:pPr>
              <a:r>
                <a:rPr lang="en-GB" sz="1050">
                  <a:solidFill>
                    <a:schemeClr val="tx1"/>
                  </a:solidFill>
                </a:rPr>
                <a:t>AECOM has grown its global backlog to an all time high of $25.9 Billion, a 9% increase YoY</a:t>
              </a:r>
            </a:p>
            <a:p>
              <a:pPr marL="171450" indent="-171450">
                <a:buFont typeface="Arial" panose="020B0604020202020204" pitchFamily="34" charset="0"/>
                <a:buChar char="•"/>
              </a:pPr>
              <a:r>
                <a:rPr lang="en-GB" sz="1050">
                  <a:solidFill>
                    <a:schemeClr val="tx1"/>
                  </a:solidFill>
                </a:rPr>
                <a:t>This combined with growing operating margins is putting AECOM in a strong position to benefit financially, suggesting strong revenue visibility and improving profits</a:t>
              </a:r>
            </a:p>
            <a:p>
              <a:endParaRPr lang="en-GB" sz="1100">
                <a:solidFill>
                  <a:schemeClr val="tx1"/>
                </a:solidFill>
              </a:endParaRPr>
            </a:p>
          </p:txBody>
        </p:sp>
        <p:sp>
          <p:nvSpPr>
            <p:cNvPr id="42" name="Rectangle 41">
              <a:extLst>
                <a:ext uri="{FF2B5EF4-FFF2-40B4-BE49-F238E27FC236}">
                  <a16:creationId xmlns:a16="http://schemas.microsoft.com/office/drawing/2014/main" id="{2377088D-8730-09A0-BEBD-FDA29B00D214}"/>
                </a:ext>
              </a:extLst>
            </p:cNvPr>
            <p:cNvSpPr/>
            <p:nvPr/>
          </p:nvSpPr>
          <p:spPr>
            <a:xfrm>
              <a:off x="9091393" y="2650675"/>
              <a:ext cx="2823964" cy="147181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GB" sz="1050" dirty="0">
                  <a:solidFill>
                    <a:schemeClr val="tx1"/>
                  </a:solidFill>
                </a:rPr>
                <a:t>A growing </a:t>
              </a:r>
              <a:r>
                <a:rPr lang="en-GB" sz="1050" b="1" dirty="0">
                  <a:solidFill>
                    <a:schemeClr val="tx1"/>
                  </a:solidFill>
                </a:rPr>
                <a:t>Book-to-Burn ratio </a:t>
              </a:r>
              <a:r>
                <a:rPr lang="en-GB" sz="1050" dirty="0">
                  <a:solidFill>
                    <a:schemeClr val="tx1"/>
                  </a:solidFill>
                </a:rPr>
                <a:t>(Up to </a:t>
              </a:r>
              <a:r>
                <a:rPr lang="en-GB" sz="1050" b="1" dirty="0">
                  <a:solidFill>
                    <a:schemeClr val="tx1"/>
                  </a:solidFill>
                </a:rPr>
                <a:t>1.5X</a:t>
              </a:r>
              <a:r>
                <a:rPr lang="en-GB" sz="1050" dirty="0">
                  <a:solidFill>
                    <a:schemeClr val="tx1"/>
                  </a:solidFill>
                </a:rPr>
                <a:t>) indicates that AECOM is securing new contract wins at a faster pace than it is completing its existing projects</a:t>
              </a:r>
            </a:p>
            <a:p>
              <a:pPr marL="171450" indent="-171450">
                <a:buFont typeface="Arial" panose="020B0604020202020204" pitchFamily="34" charset="0"/>
                <a:buChar char="•"/>
              </a:pPr>
              <a:r>
                <a:rPr lang="en-GB" sz="1050" dirty="0">
                  <a:solidFill>
                    <a:schemeClr val="tx1"/>
                  </a:solidFill>
                </a:rPr>
                <a:t>Demonstrates high demand for AECOM services and its ability to win large contracts</a:t>
              </a:r>
            </a:p>
            <a:p>
              <a:pPr marL="171450" indent="-171450">
                <a:buFont typeface="Arial" panose="020B0604020202020204" pitchFamily="34" charset="0"/>
                <a:buChar char="•"/>
              </a:pPr>
              <a:r>
                <a:rPr lang="en-GB" sz="1050" dirty="0">
                  <a:solidFill>
                    <a:schemeClr val="tx1"/>
                  </a:solidFill>
                </a:rPr>
                <a:t>21</a:t>
              </a:r>
              <a:r>
                <a:rPr lang="en-GB" sz="1050" baseline="30000" dirty="0">
                  <a:solidFill>
                    <a:schemeClr val="tx1"/>
                  </a:solidFill>
                </a:rPr>
                <a:t>st</a:t>
              </a:r>
              <a:r>
                <a:rPr lang="en-GB" sz="1050" dirty="0">
                  <a:solidFill>
                    <a:schemeClr val="tx1"/>
                  </a:solidFill>
                </a:rPr>
                <a:t> consecutive quarter of a Book-to-Burn ratio higher than 1.0</a:t>
              </a:r>
            </a:p>
          </p:txBody>
        </p:sp>
        <p:sp>
          <p:nvSpPr>
            <p:cNvPr id="43" name="Rectangle 42">
              <a:extLst>
                <a:ext uri="{FF2B5EF4-FFF2-40B4-BE49-F238E27FC236}">
                  <a16:creationId xmlns:a16="http://schemas.microsoft.com/office/drawing/2014/main" id="{BCAA6EA3-4FFB-DF91-D1D7-573409B22463}"/>
                </a:ext>
              </a:extLst>
            </p:cNvPr>
            <p:cNvSpPr/>
            <p:nvPr/>
          </p:nvSpPr>
          <p:spPr>
            <a:xfrm>
              <a:off x="9091393" y="2345530"/>
              <a:ext cx="2823964" cy="27862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bg1"/>
                  </a:solidFill>
                  <a:latin typeface="Times New Roman" panose="02020603050405020304" pitchFamily="18" charset="0"/>
                  <a:cs typeface="Times New Roman" panose="02020603050405020304" pitchFamily="18" charset="0"/>
                </a:rPr>
                <a:t>Book-to-Burn</a:t>
              </a:r>
            </a:p>
          </p:txBody>
        </p:sp>
      </p:grpSp>
      <p:sp>
        <p:nvSpPr>
          <p:cNvPr id="44" name="Rectangle: Rounded Corners 43">
            <a:extLst>
              <a:ext uri="{FF2B5EF4-FFF2-40B4-BE49-F238E27FC236}">
                <a16:creationId xmlns:a16="http://schemas.microsoft.com/office/drawing/2014/main" id="{37588DFC-D10C-0994-E203-B10AA3909D1F}"/>
              </a:ext>
            </a:extLst>
          </p:cNvPr>
          <p:cNvSpPr/>
          <p:nvPr/>
        </p:nvSpPr>
        <p:spPr>
          <a:xfrm>
            <a:off x="6070391" y="4382773"/>
            <a:ext cx="5931651" cy="20237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NSR operating margin expansion</a:t>
            </a:r>
          </a:p>
        </p:txBody>
      </p:sp>
      <p:cxnSp>
        <p:nvCxnSpPr>
          <p:cNvPr id="46" name="Straight Connector 45">
            <a:extLst>
              <a:ext uri="{FF2B5EF4-FFF2-40B4-BE49-F238E27FC236}">
                <a16:creationId xmlns:a16="http://schemas.microsoft.com/office/drawing/2014/main" id="{70EC2281-6028-0073-9B80-024423F9904B}"/>
              </a:ext>
            </a:extLst>
          </p:cNvPr>
          <p:cNvCxnSpPr>
            <a:cxnSpLocks/>
          </p:cNvCxnSpPr>
          <p:nvPr/>
        </p:nvCxnSpPr>
        <p:spPr>
          <a:xfrm>
            <a:off x="6070391" y="994226"/>
            <a:ext cx="5931651" cy="12708"/>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51" name="Picture 8">
            <a:extLst>
              <a:ext uri="{FF2B5EF4-FFF2-40B4-BE49-F238E27FC236}">
                <a16:creationId xmlns:a16="http://schemas.microsoft.com/office/drawing/2014/main" id="{E9844C8C-D691-E03A-DB76-BD82CF0D50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0379" y="1005011"/>
            <a:ext cx="2375048" cy="150612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8D9B68A-25A0-940D-979D-66F440AE474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27286" y="1033455"/>
            <a:ext cx="2152178" cy="1506128"/>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A1315D72-9358-3A33-4B82-5B110A9693F1}"/>
              </a:ext>
            </a:extLst>
          </p:cNvPr>
          <p:cNvSpPr txBox="1"/>
          <p:nvPr/>
        </p:nvSpPr>
        <p:spPr>
          <a:xfrm>
            <a:off x="11247613" y="1205260"/>
            <a:ext cx="392212" cy="215444"/>
          </a:xfrm>
          <a:prstGeom prst="rect">
            <a:avLst/>
          </a:prstGeom>
          <a:noFill/>
        </p:spPr>
        <p:txBody>
          <a:bodyPr wrap="square" rtlCol="0">
            <a:spAutoFit/>
          </a:bodyPr>
          <a:lstStyle/>
          <a:p>
            <a:r>
              <a:rPr lang="en-GB" sz="800"/>
              <a:t>1.5x</a:t>
            </a:r>
          </a:p>
        </p:txBody>
      </p:sp>
      <p:sp>
        <p:nvSpPr>
          <p:cNvPr id="11" name="TextBox 10">
            <a:extLst>
              <a:ext uri="{FF2B5EF4-FFF2-40B4-BE49-F238E27FC236}">
                <a16:creationId xmlns:a16="http://schemas.microsoft.com/office/drawing/2014/main" id="{06D27225-D98B-EC2A-A797-5677A776C69B}"/>
              </a:ext>
            </a:extLst>
          </p:cNvPr>
          <p:cNvSpPr txBox="1"/>
          <p:nvPr/>
        </p:nvSpPr>
        <p:spPr>
          <a:xfrm>
            <a:off x="8253396" y="1139429"/>
            <a:ext cx="532019" cy="215444"/>
          </a:xfrm>
          <a:prstGeom prst="rect">
            <a:avLst/>
          </a:prstGeom>
          <a:noFill/>
        </p:spPr>
        <p:txBody>
          <a:bodyPr wrap="square" rtlCol="0">
            <a:spAutoFit/>
          </a:bodyPr>
          <a:lstStyle/>
          <a:p>
            <a:r>
              <a:rPr lang="en-GB" sz="800"/>
              <a:t>25.9B</a:t>
            </a:r>
          </a:p>
        </p:txBody>
      </p:sp>
      <p:sp>
        <p:nvSpPr>
          <p:cNvPr id="16" name="TextBox 15">
            <a:extLst>
              <a:ext uri="{FF2B5EF4-FFF2-40B4-BE49-F238E27FC236}">
                <a16:creationId xmlns:a16="http://schemas.microsoft.com/office/drawing/2014/main" id="{5E4E99C7-6D3B-5EE3-1CB9-70FD3DFCF89D}"/>
              </a:ext>
            </a:extLst>
          </p:cNvPr>
          <p:cNvSpPr txBox="1"/>
          <p:nvPr/>
        </p:nvSpPr>
        <p:spPr>
          <a:xfrm>
            <a:off x="6961439" y="5650278"/>
            <a:ext cx="558896" cy="230832"/>
          </a:xfrm>
          <a:prstGeom prst="rect">
            <a:avLst/>
          </a:prstGeom>
          <a:noFill/>
        </p:spPr>
        <p:txBody>
          <a:bodyPr wrap="square" rtlCol="0">
            <a:spAutoFit/>
          </a:bodyPr>
          <a:lstStyle/>
          <a:p>
            <a:r>
              <a:rPr lang="en-GB" sz="900"/>
              <a:t>16.60%</a:t>
            </a:r>
          </a:p>
        </p:txBody>
      </p:sp>
      <p:sp>
        <p:nvSpPr>
          <p:cNvPr id="17" name="TextBox 16">
            <a:extLst>
              <a:ext uri="{FF2B5EF4-FFF2-40B4-BE49-F238E27FC236}">
                <a16:creationId xmlns:a16="http://schemas.microsoft.com/office/drawing/2014/main" id="{268ABF38-EA0D-AB87-B12D-F219A4B6CFA5}"/>
              </a:ext>
            </a:extLst>
          </p:cNvPr>
          <p:cNvSpPr txBox="1"/>
          <p:nvPr/>
        </p:nvSpPr>
        <p:spPr>
          <a:xfrm>
            <a:off x="7845423" y="5168304"/>
            <a:ext cx="532019" cy="230832"/>
          </a:xfrm>
          <a:prstGeom prst="rect">
            <a:avLst/>
          </a:prstGeom>
          <a:noFill/>
        </p:spPr>
        <p:txBody>
          <a:bodyPr wrap="square" rtlCol="0">
            <a:spAutoFit/>
          </a:bodyPr>
          <a:lstStyle/>
          <a:p>
            <a:r>
              <a:rPr lang="en-GB" sz="900"/>
              <a:t>1.70%</a:t>
            </a:r>
          </a:p>
        </p:txBody>
      </p:sp>
      <p:sp>
        <p:nvSpPr>
          <p:cNvPr id="18" name="TextBox 17">
            <a:extLst>
              <a:ext uri="{FF2B5EF4-FFF2-40B4-BE49-F238E27FC236}">
                <a16:creationId xmlns:a16="http://schemas.microsoft.com/office/drawing/2014/main" id="{F75A2605-2A2C-4CFD-F9F3-D07CF5309FC6}"/>
              </a:ext>
            </a:extLst>
          </p:cNvPr>
          <p:cNvSpPr txBox="1"/>
          <p:nvPr/>
        </p:nvSpPr>
        <p:spPr>
          <a:xfrm>
            <a:off x="8770206" y="5002297"/>
            <a:ext cx="532019" cy="230832"/>
          </a:xfrm>
          <a:prstGeom prst="rect">
            <a:avLst/>
          </a:prstGeom>
          <a:noFill/>
        </p:spPr>
        <p:txBody>
          <a:bodyPr wrap="square" rtlCol="0">
            <a:spAutoFit/>
          </a:bodyPr>
          <a:lstStyle/>
          <a:p>
            <a:r>
              <a:rPr lang="en-GB" sz="900"/>
              <a:t>0.85%</a:t>
            </a:r>
          </a:p>
        </p:txBody>
      </p:sp>
      <p:sp>
        <p:nvSpPr>
          <p:cNvPr id="19" name="TextBox 18">
            <a:extLst>
              <a:ext uri="{FF2B5EF4-FFF2-40B4-BE49-F238E27FC236}">
                <a16:creationId xmlns:a16="http://schemas.microsoft.com/office/drawing/2014/main" id="{06429B10-3227-34C5-93CF-1AF40E8F467A}"/>
              </a:ext>
            </a:extLst>
          </p:cNvPr>
          <p:cNvSpPr txBox="1"/>
          <p:nvPr/>
        </p:nvSpPr>
        <p:spPr>
          <a:xfrm>
            <a:off x="9694989" y="4778673"/>
            <a:ext cx="532019" cy="230832"/>
          </a:xfrm>
          <a:prstGeom prst="rect">
            <a:avLst/>
          </a:prstGeom>
          <a:noFill/>
        </p:spPr>
        <p:txBody>
          <a:bodyPr wrap="square" rtlCol="0">
            <a:spAutoFit/>
          </a:bodyPr>
          <a:lstStyle/>
          <a:p>
            <a:r>
              <a:rPr lang="en-GB" sz="900"/>
              <a:t>0.85%</a:t>
            </a:r>
          </a:p>
        </p:txBody>
      </p:sp>
      <p:sp>
        <p:nvSpPr>
          <p:cNvPr id="20" name="TextBox 19">
            <a:extLst>
              <a:ext uri="{FF2B5EF4-FFF2-40B4-BE49-F238E27FC236}">
                <a16:creationId xmlns:a16="http://schemas.microsoft.com/office/drawing/2014/main" id="{1F8D2784-0141-C966-84C3-453308C4E54B}"/>
              </a:ext>
            </a:extLst>
          </p:cNvPr>
          <p:cNvSpPr txBox="1"/>
          <p:nvPr/>
        </p:nvSpPr>
        <p:spPr>
          <a:xfrm>
            <a:off x="10503375" y="4771465"/>
            <a:ext cx="582729" cy="230832"/>
          </a:xfrm>
          <a:prstGeom prst="rect">
            <a:avLst/>
          </a:prstGeom>
          <a:noFill/>
        </p:spPr>
        <p:txBody>
          <a:bodyPr wrap="square" rtlCol="0">
            <a:spAutoFit/>
          </a:bodyPr>
          <a:lstStyle/>
          <a:p>
            <a:r>
              <a:rPr lang="en-GB" sz="900"/>
              <a:t>20.00%</a:t>
            </a:r>
          </a:p>
        </p:txBody>
      </p:sp>
    </p:spTree>
    <p:extLst>
      <p:ext uri="{BB962C8B-B14F-4D97-AF65-F5344CB8AC3E}">
        <p14:creationId xmlns:p14="http://schemas.microsoft.com/office/powerpoint/2010/main" val="1147900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11057E-6125-F6B7-52FF-F947308F6D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03375" y="101379"/>
            <a:ext cx="1514453" cy="34289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0B38E951-83EC-F63B-3D27-E00FC0883D71}"/>
              </a:ext>
            </a:extLst>
          </p:cNvPr>
          <p:cNvCxnSpPr>
            <a:cxnSpLocks/>
          </p:cNvCxnSpPr>
          <p:nvPr/>
        </p:nvCxnSpPr>
        <p:spPr>
          <a:xfrm>
            <a:off x="169333" y="504536"/>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2F31EAF2-6A01-1D05-718F-5B1C0A9960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sp>
        <p:nvSpPr>
          <p:cNvPr id="6" name="TextBox 5">
            <a:extLst>
              <a:ext uri="{FF2B5EF4-FFF2-40B4-BE49-F238E27FC236}">
                <a16:creationId xmlns:a16="http://schemas.microsoft.com/office/drawing/2014/main" id="{1D028DDB-5F31-10E3-1B2A-456670CE5D66}"/>
              </a:ext>
            </a:extLst>
          </p:cNvPr>
          <p:cNvSpPr txBox="1"/>
          <p:nvPr/>
        </p:nvSpPr>
        <p:spPr>
          <a:xfrm>
            <a:off x="169332" y="42871"/>
            <a:ext cx="9155141"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Investment thesis – </a:t>
            </a:r>
            <a:r>
              <a:rPr lang="en-GB" sz="1400" dirty="0">
                <a:latin typeface="Times New Roman" panose="02020603050405020304" pitchFamily="18" charset="0"/>
                <a:cs typeface="Times New Roman" panose="02020603050405020304" pitchFamily="18" charset="0"/>
              </a:rPr>
              <a:t>Reducing cyclicality by improving quality of earnings and diversifying revenue streams</a:t>
            </a:r>
            <a:endParaRPr lang="en-GB" sz="2400" dirty="0"/>
          </a:p>
        </p:txBody>
      </p:sp>
      <p:pic>
        <p:nvPicPr>
          <p:cNvPr id="1028" name="Picture 4">
            <a:extLst>
              <a:ext uri="{FF2B5EF4-FFF2-40B4-BE49-F238E27FC236}">
                <a16:creationId xmlns:a16="http://schemas.microsoft.com/office/drawing/2014/main" id="{24239610-414C-0EDA-1B11-0D682D1AD0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331" y="4160417"/>
            <a:ext cx="5924247" cy="240710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CA737FB3-7453-3366-24F2-C2BF16ED2F59}"/>
              </a:ext>
            </a:extLst>
          </p:cNvPr>
          <p:cNvGrpSpPr/>
          <p:nvPr/>
        </p:nvGrpSpPr>
        <p:grpSpPr>
          <a:xfrm>
            <a:off x="867862" y="4103084"/>
            <a:ext cx="5165455" cy="676755"/>
            <a:chOff x="741670" y="3728668"/>
            <a:chExt cx="5165455" cy="676755"/>
          </a:xfrm>
        </p:grpSpPr>
        <p:sp>
          <p:nvSpPr>
            <p:cNvPr id="17" name="Rectangle 16">
              <a:extLst>
                <a:ext uri="{FF2B5EF4-FFF2-40B4-BE49-F238E27FC236}">
                  <a16:creationId xmlns:a16="http://schemas.microsoft.com/office/drawing/2014/main" id="{12E5948F-974B-0170-B1A9-75D0C6B4D0ED}"/>
                </a:ext>
              </a:extLst>
            </p:cNvPr>
            <p:cNvSpPr/>
            <p:nvPr/>
          </p:nvSpPr>
          <p:spPr>
            <a:xfrm>
              <a:off x="741671" y="3808278"/>
              <a:ext cx="99745" cy="10322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Group 21">
              <a:extLst>
                <a:ext uri="{FF2B5EF4-FFF2-40B4-BE49-F238E27FC236}">
                  <a16:creationId xmlns:a16="http://schemas.microsoft.com/office/drawing/2014/main" id="{5F04EAAB-E770-EEA9-FBAA-78093EE1E4E7}"/>
                </a:ext>
              </a:extLst>
            </p:cNvPr>
            <p:cNvGrpSpPr/>
            <p:nvPr/>
          </p:nvGrpSpPr>
          <p:grpSpPr>
            <a:xfrm>
              <a:off x="741670" y="3728668"/>
              <a:ext cx="5165455" cy="676755"/>
              <a:chOff x="741670" y="3728668"/>
              <a:chExt cx="5165455" cy="676755"/>
            </a:xfrm>
          </p:grpSpPr>
          <p:grpSp>
            <p:nvGrpSpPr>
              <p:cNvPr id="13" name="Group 12">
                <a:extLst>
                  <a:ext uri="{FF2B5EF4-FFF2-40B4-BE49-F238E27FC236}">
                    <a16:creationId xmlns:a16="http://schemas.microsoft.com/office/drawing/2014/main" id="{298DFE4C-B87E-5786-7A15-4D3FF2BC39E2}"/>
                  </a:ext>
                </a:extLst>
              </p:cNvPr>
              <p:cNvGrpSpPr/>
              <p:nvPr/>
            </p:nvGrpSpPr>
            <p:grpSpPr>
              <a:xfrm>
                <a:off x="791544" y="3728668"/>
                <a:ext cx="5115581" cy="676755"/>
                <a:chOff x="647166" y="3483662"/>
                <a:chExt cx="5115581" cy="676755"/>
              </a:xfrm>
            </p:grpSpPr>
            <p:sp>
              <p:nvSpPr>
                <p:cNvPr id="8" name="TextBox 7">
                  <a:extLst>
                    <a:ext uri="{FF2B5EF4-FFF2-40B4-BE49-F238E27FC236}">
                      <a16:creationId xmlns:a16="http://schemas.microsoft.com/office/drawing/2014/main" id="{030D4AA6-50BF-A076-FD99-15F2B844E4ED}"/>
                    </a:ext>
                  </a:extLst>
                </p:cNvPr>
                <p:cNvSpPr txBox="1"/>
                <p:nvPr/>
              </p:nvSpPr>
              <p:spPr>
                <a:xfrm flipH="1">
                  <a:off x="647166" y="3491776"/>
                  <a:ext cx="1146763" cy="246220"/>
                </a:xfrm>
                <a:prstGeom prst="rect">
                  <a:avLst/>
                </a:prstGeom>
                <a:noFill/>
              </p:spPr>
              <p:txBody>
                <a:bodyPr wrap="square" rtlCol="0">
                  <a:spAutoFit/>
                </a:bodyPr>
                <a:lstStyle/>
                <a:p>
                  <a:r>
                    <a:rPr lang="en-GB" sz="1000"/>
                    <a:t>Prime utilisation</a:t>
                  </a:r>
                </a:p>
              </p:txBody>
            </p:sp>
            <p:sp>
              <p:nvSpPr>
                <p:cNvPr id="9" name="TextBox 8">
                  <a:extLst>
                    <a:ext uri="{FF2B5EF4-FFF2-40B4-BE49-F238E27FC236}">
                      <a16:creationId xmlns:a16="http://schemas.microsoft.com/office/drawing/2014/main" id="{7DAB0467-14B8-C4C7-01D2-87E59A392461}"/>
                    </a:ext>
                  </a:extLst>
                </p:cNvPr>
                <p:cNvSpPr txBox="1"/>
                <p:nvPr/>
              </p:nvSpPr>
              <p:spPr>
                <a:xfrm flipH="1">
                  <a:off x="2229892" y="3491776"/>
                  <a:ext cx="1146763" cy="246220"/>
                </a:xfrm>
                <a:prstGeom prst="rect">
                  <a:avLst/>
                </a:prstGeom>
                <a:noFill/>
              </p:spPr>
              <p:txBody>
                <a:bodyPr wrap="square" rtlCol="0">
                  <a:spAutoFit/>
                </a:bodyPr>
                <a:lstStyle/>
                <a:p>
                  <a:r>
                    <a:rPr lang="en-GB" sz="1000"/>
                    <a:t>OASIS+</a:t>
                  </a:r>
                </a:p>
              </p:txBody>
            </p:sp>
            <p:sp>
              <p:nvSpPr>
                <p:cNvPr id="10" name="TextBox 9">
                  <a:extLst>
                    <a:ext uri="{FF2B5EF4-FFF2-40B4-BE49-F238E27FC236}">
                      <a16:creationId xmlns:a16="http://schemas.microsoft.com/office/drawing/2014/main" id="{E912E960-4E69-9192-8508-C061C858A2DF}"/>
                    </a:ext>
                  </a:extLst>
                </p:cNvPr>
                <p:cNvSpPr txBox="1"/>
                <p:nvPr/>
              </p:nvSpPr>
              <p:spPr>
                <a:xfrm flipH="1">
                  <a:off x="3338819" y="3483662"/>
                  <a:ext cx="1146763" cy="246220"/>
                </a:xfrm>
                <a:prstGeom prst="rect">
                  <a:avLst/>
                </a:prstGeom>
                <a:noFill/>
              </p:spPr>
              <p:txBody>
                <a:bodyPr wrap="square" rtlCol="0">
                  <a:spAutoFit/>
                </a:bodyPr>
                <a:lstStyle/>
                <a:p>
                  <a:r>
                    <a:rPr lang="en-GB" sz="1000"/>
                    <a:t>Shared</a:t>
                  </a:r>
                </a:p>
              </p:txBody>
            </p:sp>
            <p:sp>
              <p:nvSpPr>
                <p:cNvPr id="11" name="TextBox 10">
                  <a:extLst>
                    <a:ext uri="{FF2B5EF4-FFF2-40B4-BE49-F238E27FC236}">
                      <a16:creationId xmlns:a16="http://schemas.microsoft.com/office/drawing/2014/main" id="{A0C5AE0C-AA62-80CE-CFEF-073920DAE7B0}"/>
                    </a:ext>
                  </a:extLst>
                </p:cNvPr>
                <p:cNvSpPr txBox="1"/>
                <p:nvPr/>
              </p:nvSpPr>
              <p:spPr>
                <a:xfrm flipH="1">
                  <a:off x="4615984" y="3483662"/>
                  <a:ext cx="1146763" cy="246220"/>
                </a:xfrm>
                <a:prstGeom prst="rect">
                  <a:avLst/>
                </a:prstGeom>
                <a:noFill/>
              </p:spPr>
              <p:txBody>
                <a:bodyPr wrap="square" rtlCol="0">
                  <a:spAutoFit/>
                </a:bodyPr>
                <a:lstStyle/>
                <a:p>
                  <a:r>
                    <a:rPr lang="en-GB" sz="1000"/>
                    <a:t>SHIELD</a:t>
                  </a:r>
                </a:p>
              </p:txBody>
            </p:sp>
            <p:sp>
              <p:nvSpPr>
                <p:cNvPr id="12" name="TextBox 11">
                  <a:extLst>
                    <a:ext uri="{FF2B5EF4-FFF2-40B4-BE49-F238E27FC236}">
                      <a16:creationId xmlns:a16="http://schemas.microsoft.com/office/drawing/2014/main" id="{3E74FA1F-D429-43F6-7F5D-6254FCCC0820}"/>
                    </a:ext>
                  </a:extLst>
                </p:cNvPr>
                <p:cNvSpPr txBox="1"/>
                <p:nvPr/>
              </p:nvSpPr>
              <p:spPr>
                <a:xfrm flipH="1">
                  <a:off x="647167" y="3914197"/>
                  <a:ext cx="1146763" cy="246220"/>
                </a:xfrm>
                <a:prstGeom prst="rect">
                  <a:avLst/>
                </a:prstGeom>
                <a:noFill/>
              </p:spPr>
              <p:txBody>
                <a:bodyPr wrap="square" rtlCol="0">
                  <a:spAutoFit/>
                </a:bodyPr>
                <a:lstStyle/>
                <a:p>
                  <a:r>
                    <a:rPr lang="en-GB" sz="1000"/>
                    <a:t>JV</a:t>
                  </a:r>
                </a:p>
              </p:txBody>
            </p:sp>
          </p:grpSp>
          <p:sp>
            <p:nvSpPr>
              <p:cNvPr id="18" name="Rectangle 17">
                <a:extLst>
                  <a:ext uri="{FF2B5EF4-FFF2-40B4-BE49-F238E27FC236}">
                    <a16:creationId xmlns:a16="http://schemas.microsoft.com/office/drawing/2014/main" id="{977555D9-2EE5-C6A1-C6D2-24ACF7BE35D0}"/>
                  </a:ext>
                </a:extLst>
              </p:cNvPr>
              <p:cNvSpPr/>
              <p:nvPr/>
            </p:nvSpPr>
            <p:spPr>
              <a:xfrm>
                <a:off x="741670" y="4231913"/>
                <a:ext cx="99745" cy="10322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0E58FB44-C917-82F2-F8E5-01C7E45080A4}"/>
                  </a:ext>
                </a:extLst>
              </p:cNvPr>
              <p:cNvSpPr/>
              <p:nvPr/>
            </p:nvSpPr>
            <p:spPr>
              <a:xfrm>
                <a:off x="4674644" y="3808278"/>
                <a:ext cx="99745" cy="10322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F0F1CCF7-526F-6F05-6945-9286D0D89A21}"/>
                  </a:ext>
                </a:extLst>
              </p:cNvPr>
              <p:cNvSpPr/>
              <p:nvPr/>
            </p:nvSpPr>
            <p:spPr>
              <a:xfrm>
                <a:off x="3421288" y="3808278"/>
                <a:ext cx="99745" cy="10322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40A96881-1918-7CC2-6A43-FFC3BE05DBA4}"/>
                  </a:ext>
                </a:extLst>
              </p:cNvPr>
              <p:cNvSpPr/>
              <p:nvPr/>
            </p:nvSpPr>
            <p:spPr>
              <a:xfrm>
                <a:off x="2312361" y="3808278"/>
                <a:ext cx="99745" cy="10322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25" name="Rectangle: Rounded Corners 24">
            <a:extLst>
              <a:ext uri="{FF2B5EF4-FFF2-40B4-BE49-F238E27FC236}">
                <a16:creationId xmlns:a16="http://schemas.microsoft.com/office/drawing/2014/main" id="{278DF161-3E03-6849-7183-5F626C38494F}"/>
              </a:ext>
            </a:extLst>
          </p:cNvPr>
          <p:cNvSpPr/>
          <p:nvPr/>
        </p:nvSpPr>
        <p:spPr>
          <a:xfrm>
            <a:off x="169332" y="3801114"/>
            <a:ext cx="5924247" cy="18067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Cumulative IDIQ/MSA projected revenue</a:t>
            </a:r>
          </a:p>
        </p:txBody>
      </p:sp>
      <p:cxnSp>
        <p:nvCxnSpPr>
          <p:cNvPr id="26" name="Straight Connector 25">
            <a:extLst>
              <a:ext uri="{FF2B5EF4-FFF2-40B4-BE49-F238E27FC236}">
                <a16:creationId xmlns:a16="http://schemas.microsoft.com/office/drawing/2014/main" id="{F1515212-E1F0-1A6F-0377-97ABBFC6BFE9}"/>
              </a:ext>
            </a:extLst>
          </p:cNvPr>
          <p:cNvCxnSpPr>
            <a:cxnSpLocks/>
          </p:cNvCxnSpPr>
          <p:nvPr/>
        </p:nvCxnSpPr>
        <p:spPr>
          <a:xfrm>
            <a:off x="166912" y="809385"/>
            <a:ext cx="5926667" cy="0"/>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7FD856AF-0BB8-A761-D16C-E8DD324C40EE}"/>
              </a:ext>
            </a:extLst>
          </p:cNvPr>
          <p:cNvSpPr/>
          <p:nvPr/>
        </p:nvSpPr>
        <p:spPr>
          <a:xfrm>
            <a:off x="166912" y="552088"/>
            <a:ext cx="5926667" cy="257297"/>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Secure revenue through long-term IDIQ and MSA contracts</a:t>
            </a:r>
          </a:p>
        </p:txBody>
      </p:sp>
      <p:sp>
        <p:nvSpPr>
          <p:cNvPr id="29" name="TextBox 28">
            <a:extLst>
              <a:ext uri="{FF2B5EF4-FFF2-40B4-BE49-F238E27FC236}">
                <a16:creationId xmlns:a16="http://schemas.microsoft.com/office/drawing/2014/main" id="{72754984-E9B5-9A3D-5DF3-6575A32A2C43}"/>
              </a:ext>
            </a:extLst>
          </p:cNvPr>
          <p:cNvSpPr txBox="1"/>
          <p:nvPr/>
        </p:nvSpPr>
        <p:spPr>
          <a:xfrm>
            <a:off x="106650" y="809384"/>
            <a:ext cx="5926667" cy="969496"/>
          </a:xfrm>
          <a:prstGeom prst="rect">
            <a:avLst/>
          </a:prstGeom>
          <a:noFill/>
        </p:spPr>
        <p:txBody>
          <a:bodyPr wrap="square" rtlCol="0">
            <a:spAutoFit/>
          </a:bodyPr>
          <a:lstStyle/>
          <a:p>
            <a:pPr marL="171450" indent="-171450">
              <a:buFont typeface="Arial" panose="020B0604020202020204" pitchFamily="34" charset="0"/>
              <a:buChar char="•"/>
            </a:pPr>
            <a:r>
              <a:rPr lang="en-GB" sz="1200" b="1"/>
              <a:t>IDIQ</a:t>
            </a:r>
            <a:r>
              <a:rPr lang="en-GB" sz="1100"/>
              <a:t> – Grant government agencies the right to issue task orders to AECOM on-demand without running new procurement, generating revenue that sits entirely outside the reported $25.9B backlog. Factoring in this off-balance-sheet pipeline understates AECOM's true revenue visibility.</a:t>
            </a:r>
          </a:p>
          <a:p>
            <a:pPr marL="171450" indent="-171450">
              <a:buFont typeface="Arial" panose="020B0604020202020204" pitchFamily="34" charset="0"/>
              <a:buChar char="•"/>
            </a:pPr>
            <a:r>
              <a:rPr lang="en-GB" sz="1200" b="1"/>
              <a:t>MSA</a:t>
            </a:r>
            <a:r>
              <a:rPr lang="en-GB" sz="1100"/>
              <a:t> – This is the same concept but for the private sector</a:t>
            </a:r>
          </a:p>
        </p:txBody>
      </p:sp>
      <p:grpSp>
        <p:nvGrpSpPr>
          <p:cNvPr id="32" name="Group 31">
            <a:extLst>
              <a:ext uri="{FF2B5EF4-FFF2-40B4-BE49-F238E27FC236}">
                <a16:creationId xmlns:a16="http://schemas.microsoft.com/office/drawing/2014/main" id="{220E239A-87BF-615F-62D2-5762D68D1328}"/>
              </a:ext>
            </a:extLst>
          </p:cNvPr>
          <p:cNvGrpSpPr/>
          <p:nvPr/>
        </p:nvGrpSpPr>
        <p:grpSpPr>
          <a:xfrm>
            <a:off x="166912" y="1760694"/>
            <a:ext cx="5926667" cy="646066"/>
            <a:chOff x="166913" y="1931201"/>
            <a:chExt cx="5926667" cy="469894"/>
          </a:xfrm>
        </p:grpSpPr>
        <p:sp>
          <p:nvSpPr>
            <p:cNvPr id="30" name="Rectangle 29">
              <a:extLst>
                <a:ext uri="{FF2B5EF4-FFF2-40B4-BE49-F238E27FC236}">
                  <a16:creationId xmlns:a16="http://schemas.microsoft.com/office/drawing/2014/main" id="{440F2001-465D-9C4D-529B-A821E2C77C19}"/>
                </a:ext>
              </a:extLst>
            </p:cNvPr>
            <p:cNvSpPr/>
            <p:nvPr/>
          </p:nvSpPr>
          <p:spPr>
            <a:xfrm>
              <a:off x="166913" y="1931202"/>
              <a:ext cx="990600" cy="46989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USACE Europe District</a:t>
              </a:r>
            </a:p>
          </p:txBody>
        </p:sp>
        <p:sp>
          <p:nvSpPr>
            <p:cNvPr id="31" name="Rectangle 30">
              <a:extLst>
                <a:ext uri="{FF2B5EF4-FFF2-40B4-BE49-F238E27FC236}">
                  <a16:creationId xmlns:a16="http://schemas.microsoft.com/office/drawing/2014/main" id="{DE9A39AE-1939-68CF-7ADB-D19F5538CAA8}"/>
                </a:ext>
              </a:extLst>
            </p:cNvPr>
            <p:cNvSpPr/>
            <p:nvPr/>
          </p:nvSpPr>
          <p:spPr>
            <a:xfrm>
              <a:off x="1157513" y="1931201"/>
              <a:ext cx="4936067" cy="469893"/>
            </a:xfrm>
            <a:prstGeom prst="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a:solidFill>
                    <a:schemeClr val="tx1"/>
                  </a:solidFill>
                </a:rPr>
                <a:t>2 contracts with AECOM being prime (main) contractor on both. IDIQ spanning five years (2030) across multiple European countries implementing horizontal infrastructure with a ceiling of $490 million, expanding European presence</a:t>
              </a:r>
            </a:p>
          </p:txBody>
        </p:sp>
      </p:grpSp>
      <p:grpSp>
        <p:nvGrpSpPr>
          <p:cNvPr id="45" name="Group 44">
            <a:extLst>
              <a:ext uri="{FF2B5EF4-FFF2-40B4-BE49-F238E27FC236}">
                <a16:creationId xmlns:a16="http://schemas.microsoft.com/office/drawing/2014/main" id="{5BF74D7A-6FF7-3EEE-1AC6-449234039D43}"/>
              </a:ext>
            </a:extLst>
          </p:cNvPr>
          <p:cNvGrpSpPr/>
          <p:nvPr/>
        </p:nvGrpSpPr>
        <p:grpSpPr>
          <a:xfrm>
            <a:off x="166912" y="2416276"/>
            <a:ext cx="5926667" cy="646066"/>
            <a:chOff x="166913" y="1931201"/>
            <a:chExt cx="5926667" cy="469894"/>
          </a:xfrm>
        </p:grpSpPr>
        <p:sp>
          <p:nvSpPr>
            <p:cNvPr id="46" name="Rectangle 45">
              <a:extLst>
                <a:ext uri="{FF2B5EF4-FFF2-40B4-BE49-F238E27FC236}">
                  <a16:creationId xmlns:a16="http://schemas.microsoft.com/office/drawing/2014/main" id="{BE0B835C-C9CE-91FC-5C6C-8B2D6B325814}"/>
                </a:ext>
              </a:extLst>
            </p:cNvPr>
            <p:cNvSpPr/>
            <p:nvPr/>
          </p:nvSpPr>
          <p:spPr>
            <a:xfrm>
              <a:off x="166913" y="1931202"/>
              <a:ext cx="990600" cy="46989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OASIS+</a:t>
              </a:r>
            </a:p>
          </p:txBody>
        </p:sp>
        <p:sp>
          <p:nvSpPr>
            <p:cNvPr id="47" name="Rectangle 46">
              <a:extLst>
                <a:ext uri="{FF2B5EF4-FFF2-40B4-BE49-F238E27FC236}">
                  <a16:creationId xmlns:a16="http://schemas.microsoft.com/office/drawing/2014/main" id="{C2EED3D2-826E-34BB-9DC2-66CB90C7F8A6}"/>
                </a:ext>
              </a:extLst>
            </p:cNvPr>
            <p:cNvSpPr/>
            <p:nvPr/>
          </p:nvSpPr>
          <p:spPr>
            <a:xfrm>
              <a:off x="1157513" y="1931201"/>
              <a:ext cx="4936067" cy="469893"/>
            </a:xfrm>
            <a:prstGeom prst="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a:solidFill>
                    <a:schemeClr val="tx1"/>
                  </a:solidFill>
                </a:rPr>
                <a:t>10-year contract (2035) with no spending ceiling, with work focused on environmental compliance and remediation as well as advisory services providing AECOM clear revenue visibility into its most profitable line of work</a:t>
              </a:r>
            </a:p>
          </p:txBody>
        </p:sp>
      </p:grpSp>
      <p:grpSp>
        <p:nvGrpSpPr>
          <p:cNvPr id="48" name="Group 47">
            <a:extLst>
              <a:ext uri="{FF2B5EF4-FFF2-40B4-BE49-F238E27FC236}">
                <a16:creationId xmlns:a16="http://schemas.microsoft.com/office/drawing/2014/main" id="{1C5BFC18-5B2F-6B94-C35E-A5CF39D4F9CD}"/>
              </a:ext>
            </a:extLst>
          </p:cNvPr>
          <p:cNvGrpSpPr/>
          <p:nvPr/>
        </p:nvGrpSpPr>
        <p:grpSpPr>
          <a:xfrm>
            <a:off x="166912" y="3076472"/>
            <a:ext cx="5926667" cy="646066"/>
            <a:chOff x="166913" y="1931201"/>
            <a:chExt cx="5926667" cy="469894"/>
          </a:xfrm>
        </p:grpSpPr>
        <p:sp>
          <p:nvSpPr>
            <p:cNvPr id="49" name="Rectangle 48">
              <a:extLst>
                <a:ext uri="{FF2B5EF4-FFF2-40B4-BE49-F238E27FC236}">
                  <a16:creationId xmlns:a16="http://schemas.microsoft.com/office/drawing/2014/main" id="{41DA2CF4-B427-6D41-85FF-41E20991CB5A}"/>
                </a:ext>
              </a:extLst>
            </p:cNvPr>
            <p:cNvSpPr/>
            <p:nvPr/>
          </p:nvSpPr>
          <p:spPr>
            <a:xfrm>
              <a:off x="166913" y="1931202"/>
              <a:ext cx="990600" cy="46989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SHIELD</a:t>
              </a:r>
            </a:p>
          </p:txBody>
        </p:sp>
        <p:sp>
          <p:nvSpPr>
            <p:cNvPr id="50" name="Rectangle 49">
              <a:extLst>
                <a:ext uri="{FF2B5EF4-FFF2-40B4-BE49-F238E27FC236}">
                  <a16:creationId xmlns:a16="http://schemas.microsoft.com/office/drawing/2014/main" id="{16A03127-C841-E12D-A76E-CC4A7D897B82}"/>
                </a:ext>
              </a:extLst>
            </p:cNvPr>
            <p:cNvSpPr/>
            <p:nvPr/>
          </p:nvSpPr>
          <p:spPr>
            <a:xfrm>
              <a:off x="1157513" y="1931201"/>
              <a:ext cx="4936067" cy="469893"/>
            </a:xfrm>
            <a:prstGeom prst="rect">
              <a:avLst/>
            </a:prstGeom>
            <a:solidFill>
              <a:schemeClr val="tx2">
                <a:lumMod val="25000"/>
                <a:lumOff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a:solidFill>
                    <a:schemeClr val="tx1"/>
                  </a:solidFill>
                </a:rPr>
                <a:t>Facility modernisation and operational readiness of infrastructure work, contracted for 10 years with total ceiling being $151 Billion spread across over 50 companies, providing massive revenue potential domestically</a:t>
              </a:r>
            </a:p>
          </p:txBody>
        </p:sp>
      </p:grpSp>
      <p:cxnSp>
        <p:nvCxnSpPr>
          <p:cNvPr id="5" name="Straight Connector 4">
            <a:extLst>
              <a:ext uri="{FF2B5EF4-FFF2-40B4-BE49-F238E27FC236}">
                <a16:creationId xmlns:a16="http://schemas.microsoft.com/office/drawing/2014/main" id="{6E767F3E-BF38-4D9D-D6CB-446C5D06041C}"/>
              </a:ext>
            </a:extLst>
          </p:cNvPr>
          <p:cNvCxnSpPr>
            <a:cxnSpLocks/>
          </p:cNvCxnSpPr>
          <p:nvPr/>
        </p:nvCxnSpPr>
        <p:spPr>
          <a:xfrm>
            <a:off x="6292516" y="805717"/>
            <a:ext cx="5725312" cy="3812"/>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3AEA4A01-3373-7809-2BEC-07637B333BA1}"/>
              </a:ext>
            </a:extLst>
          </p:cNvPr>
          <p:cNvSpPr/>
          <p:nvPr/>
        </p:nvSpPr>
        <p:spPr>
          <a:xfrm>
            <a:off x="6292516" y="551676"/>
            <a:ext cx="5725312" cy="254041"/>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Times New Roman" panose="02020603050405020304" pitchFamily="18" charset="0"/>
                <a:cs typeface="Times New Roman" panose="02020603050405020304" pitchFamily="18" charset="0"/>
              </a:rPr>
              <a:t>Growing presence internationally</a:t>
            </a:r>
          </a:p>
        </p:txBody>
      </p:sp>
      <p:pic>
        <p:nvPicPr>
          <p:cNvPr id="14" name="Picture 4">
            <a:extLst>
              <a:ext uri="{FF2B5EF4-FFF2-40B4-BE49-F238E27FC236}">
                <a16:creationId xmlns:a16="http://schemas.microsoft.com/office/drawing/2014/main" id="{BDD4C9F4-28F1-60D4-A742-C4D2C03A41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2515" y="948576"/>
            <a:ext cx="2755231" cy="147841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8D8A085A-62B5-8219-E30F-57F87993601E}"/>
              </a:ext>
            </a:extLst>
          </p:cNvPr>
          <p:cNvSpPr/>
          <p:nvPr/>
        </p:nvSpPr>
        <p:spPr>
          <a:xfrm>
            <a:off x="6292515" y="2606005"/>
            <a:ext cx="5725313" cy="26121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bg1"/>
                </a:solidFill>
                <a:latin typeface="Times New Roman" panose="02020603050405020304" pitchFamily="18" charset="0"/>
                <a:cs typeface="Times New Roman" panose="02020603050405020304" pitchFamily="18" charset="0"/>
              </a:rPr>
              <a:t>Revenue Diversification</a:t>
            </a:r>
          </a:p>
        </p:txBody>
      </p:sp>
      <p:sp>
        <p:nvSpPr>
          <p:cNvPr id="16" name="Rectangle 15">
            <a:extLst>
              <a:ext uri="{FF2B5EF4-FFF2-40B4-BE49-F238E27FC236}">
                <a16:creationId xmlns:a16="http://schemas.microsoft.com/office/drawing/2014/main" id="{A082E54E-FDB1-5CD3-CAC5-DD8EA664D025}"/>
              </a:ext>
            </a:extLst>
          </p:cNvPr>
          <p:cNvSpPr/>
          <p:nvPr/>
        </p:nvSpPr>
        <p:spPr>
          <a:xfrm>
            <a:off x="6292515" y="2895467"/>
            <a:ext cx="5725314" cy="160211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dirty="0">
                <a:solidFill>
                  <a:schemeClr val="tx1"/>
                </a:solidFill>
              </a:rPr>
              <a:t>AECOM is diversifying revenue streams geographically to reduce reliance on one government or pool of private clients</a:t>
            </a:r>
            <a:r>
              <a:rPr lang="en-GB" sz="800" dirty="0">
                <a:solidFill>
                  <a:schemeClr val="tx1"/>
                </a:solidFill>
              </a:rPr>
              <a:t> </a:t>
            </a:r>
            <a:r>
              <a:rPr lang="en-GB" sz="1100" dirty="0">
                <a:solidFill>
                  <a:schemeClr val="tx1"/>
                </a:solidFill>
              </a:rPr>
              <a:t>by bidding for more global contracts that are Advisory and services-based providing higher margins. This growth has been evidenced by:</a:t>
            </a:r>
          </a:p>
          <a:p>
            <a:pPr marL="171450" indent="-171450">
              <a:buFont typeface="Arial" panose="020B0604020202020204" pitchFamily="34" charset="0"/>
              <a:buChar char="•"/>
            </a:pPr>
            <a:r>
              <a:rPr lang="en-GB" sz="1100" dirty="0">
                <a:solidFill>
                  <a:schemeClr val="tx1"/>
                </a:solidFill>
              </a:rPr>
              <a:t>AECOM is targeting more international contracts with the international backlog growing 25% in 2026</a:t>
            </a:r>
          </a:p>
          <a:p>
            <a:pPr marL="171450" indent="-171450">
              <a:buFont typeface="Arial" panose="020B0604020202020204" pitchFamily="34" charset="0"/>
              <a:buChar char="•"/>
            </a:pPr>
            <a:r>
              <a:rPr lang="en-GB" sz="1100" dirty="0">
                <a:solidFill>
                  <a:schemeClr val="tx1"/>
                </a:solidFill>
              </a:rPr>
              <a:t> International backlog has grown from $6.5B to $7.9B</a:t>
            </a:r>
          </a:p>
          <a:p>
            <a:pPr marL="171450" indent="-171450">
              <a:buFont typeface="Arial" panose="020B0604020202020204" pitchFamily="34" charset="0"/>
              <a:buChar char="•"/>
            </a:pPr>
            <a:r>
              <a:rPr lang="en-GB" sz="1100" dirty="0">
                <a:solidFill>
                  <a:schemeClr val="tx1"/>
                </a:solidFill>
              </a:rPr>
              <a:t>As a percentage of total backlog, this has increased from 25.8% to 28.8% (between 2025 and 2026)</a:t>
            </a:r>
          </a:p>
        </p:txBody>
      </p:sp>
      <p:sp>
        <p:nvSpPr>
          <p:cNvPr id="24" name="Rectangle: Rounded Corners 23">
            <a:extLst>
              <a:ext uri="{FF2B5EF4-FFF2-40B4-BE49-F238E27FC236}">
                <a16:creationId xmlns:a16="http://schemas.microsoft.com/office/drawing/2014/main" id="{B0FB9B55-2C79-12B9-33C1-CBDCF03C8486}"/>
              </a:ext>
            </a:extLst>
          </p:cNvPr>
          <p:cNvSpPr/>
          <p:nvPr/>
        </p:nvSpPr>
        <p:spPr>
          <a:xfrm>
            <a:off x="6292515" y="4570866"/>
            <a:ext cx="5732574" cy="205325"/>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000000"/>
                </a:solidFill>
              </a:rPr>
              <a:t>International regulations AECOM is capturing</a:t>
            </a:r>
          </a:p>
        </p:txBody>
      </p:sp>
      <p:sp>
        <p:nvSpPr>
          <p:cNvPr id="36" name="Flowchart: Connector 35">
            <a:extLst>
              <a:ext uri="{FF2B5EF4-FFF2-40B4-BE49-F238E27FC236}">
                <a16:creationId xmlns:a16="http://schemas.microsoft.com/office/drawing/2014/main" id="{0E6B0801-1351-B1E1-6D93-5C1C16D0A34C}"/>
              </a:ext>
            </a:extLst>
          </p:cNvPr>
          <p:cNvSpPr/>
          <p:nvPr/>
        </p:nvSpPr>
        <p:spPr>
          <a:xfrm>
            <a:off x="6292514" y="4978958"/>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1</a:t>
            </a:r>
          </a:p>
        </p:txBody>
      </p:sp>
      <p:sp>
        <p:nvSpPr>
          <p:cNvPr id="37" name="TextBox 36">
            <a:extLst>
              <a:ext uri="{FF2B5EF4-FFF2-40B4-BE49-F238E27FC236}">
                <a16:creationId xmlns:a16="http://schemas.microsoft.com/office/drawing/2014/main" id="{4FEC3716-44C2-F853-348C-9BD637E61BD6}"/>
              </a:ext>
            </a:extLst>
          </p:cNvPr>
          <p:cNvSpPr txBox="1"/>
          <p:nvPr/>
        </p:nvSpPr>
        <p:spPr>
          <a:xfrm>
            <a:off x="6705599" y="4786742"/>
            <a:ext cx="5312229" cy="769441"/>
          </a:xfrm>
          <a:prstGeom prst="rect">
            <a:avLst/>
          </a:prstGeom>
          <a:noFill/>
        </p:spPr>
        <p:txBody>
          <a:bodyPr wrap="square" rtlCol="0">
            <a:spAutoFit/>
          </a:bodyPr>
          <a:lstStyle/>
          <a:p>
            <a:r>
              <a:rPr lang="en-GB" sz="1100" b="1"/>
              <a:t>EU Corporate Sustainability Reporting Directive (CSRD) </a:t>
            </a:r>
            <a:r>
              <a:rPr lang="en-GB" sz="1100"/>
              <a:t>– Expanded disclosure obligations for sustainability. AECOM ESG advisors positioned to support private clients through CSRD adoption strategies. With reports required annually, this provides AECOM with potential for recurring revenue streams </a:t>
            </a:r>
          </a:p>
        </p:txBody>
      </p:sp>
      <p:sp>
        <p:nvSpPr>
          <p:cNvPr id="38" name="Flowchart: Connector 37">
            <a:extLst>
              <a:ext uri="{FF2B5EF4-FFF2-40B4-BE49-F238E27FC236}">
                <a16:creationId xmlns:a16="http://schemas.microsoft.com/office/drawing/2014/main" id="{6E70742A-8CE9-71C7-8FFD-1EB3D9991483}"/>
              </a:ext>
            </a:extLst>
          </p:cNvPr>
          <p:cNvSpPr/>
          <p:nvPr/>
        </p:nvSpPr>
        <p:spPr>
          <a:xfrm>
            <a:off x="6292513" y="5845345"/>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2</a:t>
            </a:r>
          </a:p>
        </p:txBody>
      </p:sp>
      <p:sp>
        <p:nvSpPr>
          <p:cNvPr id="39" name="TextBox 38">
            <a:extLst>
              <a:ext uri="{FF2B5EF4-FFF2-40B4-BE49-F238E27FC236}">
                <a16:creationId xmlns:a16="http://schemas.microsoft.com/office/drawing/2014/main" id="{55353670-90C3-A8DF-3569-056E03D5C213}"/>
              </a:ext>
            </a:extLst>
          </p:cNvPr>
          <p:cNvSpPr txBox="1"/>
          <p:nvPr/>
        </p:nvSpPr>
        <p:spPr>
          <a:xfrm>
            <a:off x="6705598" y="5693145"/>
            <a:ext cx="5312229" cy="1107996"/>
          </a:xfrm>
          <a:prstGeom prst="rect">
            <a:avLst/>
          </a:prstGeom>
          <a:noFill/>
        </p:spPr>
        <p:txBody>
          <a:bodyPr wrap="square" rtlCol="0">
            <a:spAutoFit/>
          </a:bodyPr>
          <a:lstStyle/>
          <a:p>
            <a:r>
              <a:rPr lang="en-GB" sz="1100" b="1" dirty="0"/>
              <a:t>UK Biodiversity Net Gain (BNG) – </a:t>
            </a:r>
            <a:r>
              <a:rPr lang="en-GB" sz="1100" dirty="0"/>
              <a:t>As of 2024 developers must provide measurable gain of at least 10% in biodiversity in planning permissions. AECOMs Environmental Consulting team directly engage with developers to guide them to the 10% goal as well as providing proprietary tools such as “eco.lift”. With this now a legal requirement for developers it primes AECOM to capitalise on expanding regulatory requirements</a:t>
            </a:r>
          </a:p>
        </p:txBody>
      </p:sp>
      <p:pic>
        <p:nvPicPr>
          <p:cNvPr id="2052" name="Picture 4">
            <a:extLst>
              <a:ext uri="{FF2B5EF4-FFF2-40B4-BE49-F238E27FC236}">
                <a16:creationId xmlns:a16="http://schemas.microsoft.com/office/drawing/2014/main" id="{206BDD59-54DD-C921-D150-BD0D834C9057}"/>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6140" r="9486"/>
          <a:stretch>
            <a:fillRect/>
          </a:stretch>
        </p:blipFill>
        <p:spPr bwMode="auto">
          <a:xfrm>
            <a:off x="9038864" y="816268"/>
            <a:ext cx="2929022" cy="173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1153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 name="Picture 10">
            <a:extLst>
              <a:ext uri="{FF2B5EF4-FFF2-40B4-BE49-F238E27FC236}">
                <a16:creationId xmlns:a16="http://schemas.microsoft.com/office/drawing/2014/main" id="{5849729B-7E16-E061-CD9D-9CE3DDEB5A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22618" y="4638372"/>
            <a:ext cx="3007541" cy="2050596"/>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id="{902EC0ED-6874-6D6B-9E67-01DABEE4EAA2}"/>
              </a:ext>
            </a:extLst>
          </p:cNvPr>
          <p:cNvSpPr/>
          <p:nvPr/>
        </p:nvSpPr>
        <p:spPr>
          <a:xfrm>
            <a:off x="6300872" y="3314239"/>
            <a:ext cx="5798330" cy="1505279"/>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a:extLst>
              <a:ext uri="{FF2B5EF4-FFF2-40B4-BE49-F238E27FC236}">
                <a16:creationId xmlns:a16="http://schemas.microsoft.com/office/drawing/2014/main" id="{00D343CB-72BA-3BD8-086C-05B2720ECF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03375" y="101379"/>
            <a:ext cx="1514453" cy="34289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F02A88BC-D18B-35E3-E236-43661C90F2DC}"/>
              </a:ext>
            </a:extLst>
          </p:cNvPr>
          <p:cNvCxnSpPr>
            <a:cxnSpLocks/>
          </p:cNvCxnSpPr>
          <p:nvPr/>
        </p:nvCxnSpPr>
        <p:spPr>
          <a:xfrm>
            <a:off x="169333" y="504536"/>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101C5069-E33B-1C4B-0E44-E8C4939678F0}"/>
              </a:ext>
            </a:extLst>
          </p:cNvPr>
          <p:cNvSpPr txBox="1"/>
          <p:nvPr/>
        </p:nvSpPr>
        <p:spPr>
          <a:xfrm>
            <a:off x="169333" y="41993"/>
            <a:ext cx="6096000"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Comparable Company analysis</a:t>
            </a:r>
            <a:endParaRPr lang="en-GB" sz="2400" dirty="0"/>
          </a:p>
        </p:txBody>
      </p:sp>
      <p:graphicFrame>
        <p:nvGraphicFramePr>
          <p:cNvPr id="5" name="Table 4">
            <a:extLst>
              <a:ext uri="{FF2B5EF4-FFF2-40B4-BE49-F238E27FC236}">
                <a16:creationId xmlns:a16="http://schemas.microsoft.com/office/drawing/2014/main" id="{4D01109D-789B-D522-6A48-B3AB116D3CF3}"/>
              </a:ext>
            </a:extLst>
          </p:cNvPr>
          <p:cNvGraphicFramePr>
            <a:graphicFrameLocks noGrp="1"/>
          </p:cNvGraphicFramePr>
          <p:nvPr>
            <p:extLst>
              <p:ext uri="{D42A27DB-BD31-4B8C-83A1-F6EECF244321}">
                <p14:modId xmlns:p14="http://schemas.microsoft.com/office/powerpoint/2010/main" val="396226790"/>
              </p:ext>
            </p:extLst>
          </p:nvPr>
        </p:nvGraphicFramePr>
        <p:xfrm>
          <a:off x="169333" y="550583"/>
          <a:ext cx="5942709" cy="3298085"/>
        </p:xfrm>
        <a:graphic>
          <a:graphicData uri="http://schemas.openxmlformats.org/drawingml/2006/table">
            <a:tbl>
              <a:tblPr firstRow="1" bandRow="1">
                <a:tableStyleId>{5C22544A-7EE6-4342-B048-85BDC9FD1C3A}</a:tableStyleId>
              </a:tblPr>
              <a:tblGrid>
                <a:gridCol w="881545">
                  <a:extLst>
                    <a:ext uri="{9D8B030D-6E8A-4147-A177-3AD203B41FA5}">
                      <a16:colId xmlns:a16="http://schemas.microsoft.com/office/drawing/2014/main" val="1787808825"/>
                    </a:ext>
                  </a:extLst>
                </a:gridCol>
                <a:gridCol w="898238">
                  <a:extLst>
                    <a:ext uri="{9D8B030D-6E8A-4147-A177-3AD203B41FA5}">
                      <a16:colId xmlns:a16="http://schemas.microsoft.com/office/drawing/2014/main" val="4179721644"/>
                    </a:ext>
                  </a:extLst>
                </a:gridCol>
                <a:gridCol w="902368">
                  <a:extLst>
                    <a:ext uri="{9D8B030D-6E8A-4147-A177-3AD203B41FA5}">
                      <a16:colId xmlns:a16="http://schemas.microsoft.com/office/drawing/2014/main" val="3469910435"/>
                    </a:ext>
                  </a:extLst>
                </a:gridCol>
                <a:gridCol w="685800">
                  <a:extLst>
                    <a:ext uri="{9D8B030D-6E8A-4147-A177-3AD203B41FA5}">
                      <a16:colId xmlns:a16="http://schemas.microsoft.com/office/drawing/2014/main" val="1106361572"/>
                    </a:ext>
                  </a:extLst>
                </a:gridCol>
                <a:gridCol w="806116">
                  <a:extLst>
                    <a:ext uri="{9D8B030D-6E8A-4147-A177-3AD203B41FA5}">
                      <a16:colId xmlns:a16="http://schemas.microsoft.com/office/drawing/2014/main" val="3536155420"/>
                    </a:ext>
                  </a:extLst>
                </a:gridCol>
                <a:gridCol w="962526">
                  <a:extLst>
                    <a:ext uri="{9D8B030D-6E8A-4147-A177-3AD203B41FA5}">
                      <a16:colId xmlns:a16="http://schemas.microsoft.com/office/drawing/2014/main" val="40958499"/>
                    </a:ext>
                  </a:extLst>
                </a:gridCol>
                <a:gridCol w="806116">
                  <a:extLst>
                    <a:ext uri="{9D8B030D-6E8A-4147-A177-3AD203B41FA5}">
                      <a16:colId xmlns:a16="http://schemas.microsoft.com/office/drawing/2014/main" val="1187940880"/>
                    </a:ext>
                  </a:extLst>
                </a:gridCol>
              </a:tblGrid>
              <a:tr h="726925">
                <a:tc>
                  <a:txBody>
                    <a:bodyPr/>
                    <a:lstStyle/>
                    <a:p>
                      <a:r>
                        <a:rPr lang="en-GB" sz="1200" baseline="0"/>
                        <a:t>Company</a:t>
                      </a:r>
                    </a:p>
                  </a:txBody>
                  <a:tcPr>
                    <a:solidFill>
                      <a:schemeClr val="tx2"/>
                    </a:solidFill>
                  </a:tcPr>
                </a:tc>
                <a:tc>
                  <a:txBody>
                    <a:bodyPr/>
                    <a:lstStyle/>
                    <a:p>
                      <a:r>
                        <a:rPr lang="en-GB" sz="1200" baseline="0"/>
                        <a:t>Market cap ($B)</a:t>
                      </a:r>
                    </a:p>
                  </a:txBody>
                  <a:tcPr>
                    <a:solidFill>
                      <a:schemeClr val="tx2"/>
                    </a:solidFill>
                  </a:tcPr>
                </a:tc>
                <a:tc>
                  <a:txBody>
                    <a:bodyPr/>
                    <a:lstStyle/>
                    <a:p>
                      <a:r>
                        <a:rPr lang="en-GB" sz="1200" baseline="0"/>
                        <a:t>Revenue 2025 ($M)</a:t>
                      </a:r>
                    </a:p>
                  </a:txBody>
                  <a:tcPr>
                    <a:solidFill>
                      <a:schemeClr val="tx2"/>
                    </a:solidFill>
                  </a:tcPr>
                </a:tc>
                <a:tc>
                  <a:txBody>
                    <a:bodyPr/>
                    <a:lstStyle/>
                    <a:p>
                      <a:r>
                        <a:rPr lang="en-GB" sz="1200" baseline="0"/>
                        <a:t>ROIC%</a:t>
                      </a:r>
                    </a:p>
                  </a:txBody>
                  <a:tcPr>
                    <a:solidFill>
                      <a:schemeClr val="tx2"/>
                    </a:solidFill>
                  </a:tcPr>
                </a:tc>
                <a:tc>
                  <a:txBody>
                    <a:bodyPr/>
                    <a:lstStyle/>
                    <a:p>
                      <a:r>
                        <a:rPr lang="en-GB" sz="1200" baseline="0"/>
                        <a:t>P/E</a:t>
                      </a:r>
                    </a:p>
                  </a:txBody>
                  <a:tcPr>
                    <a:solidFill>
                      <a:schemeClr val="tx2"/>
                    </a:solidFill>
                  </a:tcPr>
                </a:tc>
                <a:tc>
                  <a:txBody>
                    <a:bodyPr/>
                    <a:lstStyle/>
                    <a:p>
                      <a:r>
                        <a:rPr lang="en-GB" sz="1200" baseline="0"/>
                        <a:t>EV/EBITDA (TTM)</a:t>
                      </a:r>
                    </a:p>
                  </a:txBody>
                  <a:tcPr>
                    <a:solidFill>
                      <a:schemeClr val="tx2"/>
                    </a:solidFill>
                  </a:tcPr>
                </a:tc>
                <a:tc>
                  <a:txBody>
                    <a:bodyPr/>
                    <a:lstStyle/>
                    <a:p>
                      <a:r>
                        <a:rPr lang="en-GB" sz="1200" baseline="0"/>
                        <a:t>NSR margin</a:t>
                      </a:r>
                    </a:p>
                  </a:txBody>
                  <a:tcPr>
                    <a:solidFill>
                      <a:schemeClr val="tx2"/>
                    </a:solidFill>
                  </a:tcPr>
                </a:tc>
                <a:extLst>
                  <a:ext uri="{0D108BD9-81ED-4DB2-BD59-A6C34878D82A}">
                    <a16:rowId xmlns:a16="http://schemas.microsoft.com/office/drawing/2014/main" val="1354853305"/>
                  </a:ext>
                </a:extLst>
              </a:tr>
              <a:tr h="430770">
                <a:tc>
                  <a:txBody>
                    <a:bodyPr/>
                    <a:lstStyle/>
                    <a:p>
                      <a:r>
                        <a:rPr lang="en-GB" sz="1300" baseline="0"/>
                        <a:t>AECOM</a:t>
                      </a:r>
                    </a:p>
                  </a:txBody>
                  <a:tcPr/>
                </a:tc>
                <a:tc>
                  <a:txBody>
                    <a:bodyPr/>
                    <a:lstStyle/>
                    <a:p>
                      <a:r>
                        <a:rPr lang="en-GB" sz="1300" baseline="0"/>
                        <a:t>10.95</a:t>
                      </a:r>
                    </a:p>
                  </a:txBody>
                  <a:tcPr/>
                </a:tc>
                <a:tc>
                  <a:txBody>
                    <a:bodyPr/>
                    <a:lstStyle/>
                    <a:p>
                      <a:r>
                        <a:rPr lang="en-GB" sz="1300" baseline="0"/>
                        <a:t>16,139.62</a:t>
                      </a:r>
                    </a:p>
                  </a:txBody>
                  <a:tcPr/>
                </a:tc>
                <a:tc>
                  <a:txBody>
                    <a:bodyPr/>
                    <a:lstStyle/>
                    <a:p>
                      <a:r>
                        <a:rPr lang="en-GB" sz="1300" baseline="0"/>
                        <a:t>10.77</a:t>
                      </a:r>
                    </a:p>
                  </a:txBody>
                  <a:tcPr/>
                </a:tc>
                <a:tc>
                  <a:txBody>
                    <a:bodyPr/>
                    <a:lstStyle/>
                    <a:p>
                      <a:r>
                        <a:rPr lang="en-GB" sz="1300" baseline="0"/>
                        <a:t>18.61</a:t>
                      </a:r>
                    </a:p>
                  </a:txBody>
                  <a:tcPr/>
                </a:tc>
                <a:tc>
                  <a:txBody>
                    <a:bodyPr/>
                    <a:lstStyle/>
                    <a:p>
                      <a:r>
                        <a:rPr lang="en-GB" sz="1300" baseline="0"/>
                        <a:t>10.48</a:t>
                      </a:r>
                    </a:p>
                  </a:txBody>
                  <a:tcPr/>
                </a:tc>
                <a:tc>
                  <a:txBody>
                    <a:bodyPr/>
                    <a:lstStyle/>
                    <a:p>
                      <a:r>
                        <a:rPr lang="en-GB" sz="1300" baseline="0"/>
                        <a:t>16.7%</a:t>
                      </a:r>
                    </a:p>
                  </a:txBody>
                  <a:tcPr/>
                </a:tc>
                <a:extLst>
                  <a:ext uri="{0D108BD9-81ED-4DB2-BD59-A6C34878D82A}">
                    <a16:rowId xmlns:a16="http://schemas.microsoft.com/office/drawing/2014/main" val="786762285"/>
                  </a:ext>
                </a:extLst>
              </a:tr>
              <a:tr h="430770">
                <a:tc>
                  <a:txBody>
                    <a:bodyPr/>
                    <a:lstStyle/>
                    <a:p>
                      <a:r>
                        <a:rPr lang="en-GB" sz="1300" baseline="0"/>
                        <a:t>Stantec</a:t>
                      </a:r>
                    </a:p>
                  </a:txBody>
                  <a:tcPr/>
                </a:tc>
                <a:tc>
                  <a:txBody>
                    <a:bodyPr/>
                    <a:lstStyle/>
                    <a:p>
                      <a:r>
                        <a:rPr lang="en-GB" sz="1300" baseline="0"/>
                        <a:t>13.79</a:t>
                      </a:r>
                    </a:p>
                  </a:txBody>
                  <a:tcPr/>
                </a:tc>
                <a:tc>
                  <a:txBody>
                    <a:bodyPr/>
                    <a:lstStyle/>
                    <a:p>
                      <a:r>
                        <a:rPr lang="en-GB" sz="1300" baseline="0"/>
                        <a:t>5,828.57</a:t>
                      </a:r>
                    </a:p>
                  </a:txBody>
                  <a:tcPr/>
                </a:tc>
                <a:tc>
                  <a:txBody>
                    <a:bodyPr/>
                    <a:lstStyle/>
                    <a:p>
                      <a:r>
                        <a:rPr lang="en-GB" sz="1300" baseline="0"/>
                        <a:t>8.80</a:t>
                      </a:r>
                    </a:p>
                  </a:txBody>
                  <a:tcPr/>
                </a:tc>
                <a:tc>
                  <a:txBody>
                    <a:bodyPr/>
                    <a:lstStyle/>
                    <a:p>
                      <a:r>
                        <a:rPr lang="en-GB" sz="1300" baseline="0"/>
                        <a:t>29.54</a:t>
                      </a:r>
                    </a:p>
                  </a:txBody>
                  <a:tcPr/>
                </a:tc>
                <a:tc>
                  <a:txBody>
                    <a:bodyPr/>
                    <a:lstStyle/>
                    <a:p>
                      <a:r>
                        <a:rPr lang="en-GB" sz="1300" baseline="0"/>
                        <a:t>16.81</a:t>
                      </a:r>
                    </a:p>
                  </a:txBody>
                  <a:tcPr/>
                </a:tc>
                <a:tc>
                  <a:txBody>
                    <a:bodyPr/>
                    <a:lstStyle/>
                    <a:p>
                      <a:r>
                        <a:rPr lang="en-GB" sz="1300" baseline="0"/>
                        <a:t>17.6%</a:t>
                      </a:r>
                    </a:p>
                  </a:txBody>
                  <a:tcPr/>
                </a:tc>
                <a:extLst>
                  <a:ext uri="{0D108BD9-81ED-4DB2-BD59-A6C34878D82A}">
                    <a16:rowId xmlns:a16="http://schemas.microsoft.com/office/drawing/2014/main" val="1895525422"/>
                  </a:ext>
                </a:extLst>
              </a:tr>
              <a:tr h="605771">
                <a:tc>
                  <a:txBody>
                    <a:bodyPr/>
                    <a:lstStyle/>
                    <a:p>
                      <a:r>
                        <a:rPr lang="en-GB" sz="1300" baseline="0"/>
                        <a:t>Jacobs Solutions</a:t>
                      </a:r>
                    </a:p>
                  </a:txBody>
                  <a:tcPr/>
                </a:tc>
                <a:tc>
                  <a:txBody>
                    <a:bodyPr/>
                    <a:lstStyle/>
                    <a:p>
                      <a:r>
                        <a:rPr lang="en-GB" sz="1300" baseline="0"/>
                        <a:t>15.04</a:t>
                      </a:r>
                    </a:p>
                  </a:txBody>
                  <a:tcPr/>
                </a:tc>
                <a:tc>
                  <a:txBody>
                    <a:bodyPr/>
                    <a:lstStyle/>
                    <a:p>
                      <a:r>
                        <a:rPr lang="en-GB" sz="1300" baseline="0"/>
                        <a:t>12,020.98</a:t>
                      </a:r>
                    </a:p>
                  </a:txBody>
                  <a:tcPr/>
                </a:tc>
                <a:tc>
                  <a:txBody>
                    <a:bodyPr/>
                    <a:lstStyle/>
                    <a:p>
                      <a:r>
                        <a:rPr lang="en-GB" sz="1300" baseline="0"/>
                        <a:t>6.95</a:t>
                      </a:r>
                    </a:p>
                  </a:txBody>
                  <a:tcPr/>
                </a:tc>
                <a:tc>
                  <a:txBody>
                    <a:bodyPr/>
                    <a:lstStyle/>
                    <a:p>
                      <a:r>
                        <a:rPr lang="en-GB" sz="1300" baseline="0"/>
                        <a:t>34.02</a:t>
                      </a:r>
                    </a:p>
                  </a:txBody>
                  <a:tcPr/>
                </a:tc>
                <a:tc>
                  <a:txBody>
                    <a:bodyPr/>
                    <a:lstStyle/>
                    <a:p>
                      <a:r>
                        <a:rPr lang="en-GB" sz="1300" baseline="0"/>
                        <a:t>13.71</a:t>
                      </a:r>
                    </a:p>
                  </a:txBody>
                  <a:tcPr/>
                </a:tc>
                <a:tc>
                  <a:txBody>
                    <a:bodyPr/>
                    <a:lstStyle/>
                    <a:p>
                      <a:r>
                        <a:rPr lang="en-GB" sz="1300" baseline="0"/>
                        <a:t>13.9%</a:t>
                      </a:r>
                    </a:p>
                  </a:txBody>
                  <a:tcPr/>
                </a:tc>
                <a:extLst>
                  <a:ext uri="{0D108BD9-81ED-4DB2-BD59-A6C34878D82A}">
                    <a16:rowId xmlns:a16="http://schemas.microsoft.com/office/drawing/2014/main" val="840617354"/>
                  </a:ext>
                </a:extLst>
              </a:tr>
              <a:tr h="673079">
                <a:tc>
                  <a:txBody>
                    <a:bodyPr/>
                    <a:lstStyle/>
                    <a:p>
                      <a:r>
                        <a:rPr lang="en-GB" sz="1300" baseline="0"/>
                        <a:t>Fluor</a:t>
                      </a:r>
                    </a:p>
                  </a:txBody>
                  <a:tcPr/>
                </a:tc>
                <a:tc>
                  <a:txBody>
                    <a:bodyPr/>
                    <a:lstStyle/>
                    <a:p>
                      <a:r>
                        <a:rPr lang="en-GB" sz="1300" baseline="0"/>
                        <a:t>6.31</a:t>
                      </a:r>
                    </a:p>
                  </a:txBody>
                  <a:tcPr/>
                </a:tc>
                <a:tc>
                  <a:txBody>
                    <a:bodyPr/>
                    <a:lstStyle/>
                    <a:p>
                      <a:r>
                        <a:rPr lang="en-GB" sz="1300" baseline="0"/>
                        <a:t>15,503.00</a:t>
                      </a:r>
                    </a:p>
                  </a:txBody>
                  <a:tcPr/>
                </a:tc>
                <a:tc>
                  <a:txBody>
                    <a:bodyPr/>
                    <a:lstStyle/>
                    <a:p>
                      <a:r>
                        <a:rPr lang="en-GB" sz="1300" baseline="0"/>
                        <a:t>-1.18</a:t>
                      </a:r>
                    </a:p>
                  </a:txBody>
                  <a:tcPr/>
                </a:tc>
                <a:tc>
                  <a:txBody>
                    <a:bodyPr/>
                    <a:lstStyle/>
                    <a:p>
                      <a:r>
                        <a:rPr lang="en-GB" sz="1300" baseline="0"/>
                        <a:t>24.59</a:t>
                      </a:r>
                    </a:p>
                  </a:txBody>
                  <a:tcPr/>
                </a:tc>
                <a:tc>
                  <a:txBody>
                    <a:bodyPr/>
                    <a:lstStyle/>
                    <a:p>
                      <a:r>
                        <a:rPr lang="en-GB" sz="1300" baseline="0"/>
                        <a:t>11.79</a:t>
                      </a:r>
                    </a:p>
                  </a:txBody>
                  <a:tcPr/>
                </a:tc>
                <a:tc>
                  <a:txBody>
                    <a:bodyPr/>
                    <a:lstStyle/>
                    <a:p>
                      <a:r>
                        <a:rPr lang="en-GB" sz="1300" baseline="0"/>
                        <a:t>3.25%</a:t>
                      </a:r>
                    </a:p>
                  </a:txBody>
                  <a:tcPr/>
                </a:tc>
                <a:extLst>
                  <a:ext uri="{0D108BD9-81ED-4DB2-BD59-A6C34878D82A}">
                    <a16:rowId xmlns:a16="http://schemas.microsoft.com/office/drawing/2014/main" val="2973620887"/>
                  </a:ext>
                </a:extLst>
              </a:tr>
              <a:tr h="430770">
                <a:tc>
                  <a:txBody>
                    <a:bodyPr/>
                    <a:lstStyle/>
                    <a:p>
                      <a:r>
                        <a:rPr lang="en-GB" sz="1300" baseline="0"/>
                        <a:t>WSP</a:t>
                      </a:r>
                    </a:p>
                  </a:txBody>
                  <a:tcPr/>
                </a:tc>
                <a:tc>
                  <a:txBody>
                    <a:bodyPr/>
                    <a:lstStyle/>
                    <a:p>
                      <a:r>
                        <a:rPr lang="en-GB" sz="1300" baseline="0"/>
                        <a:t>21.25</a:t>
                      </a:r>
                    </a:p>
                  </a:txBody>
                  <a:tcPr/>
                </a:tc>
                <a:tc>
                  <a:txBody>
                    <a:bodyPr/>
                    <a:lstStyle/>
                    <a:p>
                      <a:r>
                        <a:rPr lang="en-GB" sz="1300" baseline="0"/>
                        <a:t>18,290.00</a:t>
                      </a:r>
                    </a:p>
                  </a:txBody>
                  <a:tcPr/>
                </a:tc>
                <a:tc>
                  <a:txBody>
                    <a:bodyPr/>
                    <a:lstStyle/>
                    <a:p>
                      <a:r>
                        <a:rPr lang="en-GB" sz="1300" baseline="0"/>
                        <a:t>8.09</a:t>
                      </a:r>
                    </a:p>
                  </a:txBody>
                  <a:tcPr/>
                </a:tc>
                <a:tc>
                  <a:txBody>
                    <a:bodyPr/>
                    <a:lstStyle/>
                    <a:p>
                      <a:r>
                        <a:rPr lang="en-GB" sz="1300" baseline="0"/>
                        <a:t>31.03</a:t>
                      </a:r>
                    </a:p>
                  </a:txBody>
                  <a:tcPr/>
                </a:tc>
                <a:tc>
                  <a:txBody>
                    <a:bodyPr/>
                    <a:lstStyle/>
                    <a:p>
                      <a:r>
                        <a:rPr lang="en-GB" sz="1300" baseline="0"/>
                        <a:t>15.28</a:t>
                      </a:r>
                    </a:p>
                  </a:txBody>
                  <a:tcPr/>
                </a:tc>
                <a:tc>
                  <a:txBody>
                    <a:bodyPr/>
                    <a:lstStyle/>
                    <a:p>
                      <a:r>
                        <a:rPr lang="en-GB" sz="1300" baseline="0"/>
                        <a:t>18.9%</a:t>
                      </a:r>
                    </a:p>
                  </a:txBody>
                  <a:tcPr/>
                </a:tc>
                <a:extLst>
                  <a:ext uri="{0D108BD9-81ED-4DB2-BD59-A6C34878D82A}">
                    <a16:rowId xmlns:a16="http://schemas.microsoft.com/office/drawing/2014/main" val="3827093640"/>
                  </a:ext>
                </a:extLst>
              </a:tr>
            </a:tbl>
          </a:graphicData>
        </a:graphic>
      </p:graphicFrame>
      <p:sp>
        <p:nvSpPr>
          <p:cNvPr id="13" name="Rectangle 12">
            <a:extLst>
              <a:ext uri="{FF2B5EF4-FFF2-40B4-BE49-F238E27FC236}">
                <a16:creationId xmlns:a16="http://schemas.microsoft.com/office/drawing/2014/main" id="{F515FE3D-5783-9214-935F-C9A8C1AF112F}"/>
              </a:ext>
            </a:extLst>
          </p:cNvPr>
          <p:cNvSpPr/>
          <p:nvPr/>
        </p:nvSpPr>
        <p:spPr>
          <a:xfrm>
            <a:off x="6300872" y="550583"/>
            <a:ext cx="5716956" cy="221961"/>
          </a:xfrm>
          <a:prstGeom prst="rect">
            <a:avLst/>
          </a:prstGeom>
          <a:solidFill>
            <a:schemeClr val="bg1">
              <a:lumMod val="8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Times New Roman" panose="02020603050405020304" pitchFamily="18" charset="0"/>
                <a:cs typeface="Times New Roman" panose="02020603050405020304" pitchFamily="18" charset="0"/>
              </a:rPr>
              <a:t>A higher performing business</a:t>
            </a:r>
          </a:p>
        </p:txBody>
      </p:sp>
      <p:cxnSp>
        <p:nvCxnSpPr>
          <p:cNvPr id="14" name="Straight Connector 13">
            <a:extLst>
              <a:ext uri="{FF2B5EF4-FFF2-40B4-BE49-F238E27FC236}">
                <a16:creationId xmlns:a16="http://schemas.microsoft.com/office/drawing/2014/main" id="{074B8795-F49A-6DA4-0561-66CE9CAEFC73}"/>
              </a:ext>
            </a:extLst>
          </p:cNvPr>
          <p:cNvCxnSpPr>
            <a:cxnSpLocks/>
          </p:cNvCxnSpPr>
          <p:nvPr/>
        </p:nvCxnSpPr>
        <p:spPr>
          <a:xfrm>
            <a:off x="6300872" y="772544"/>
            <a:ext cx="5716956" cy="0"/>
          </a:xfrm>
          <a:prstGeom prst="line">
            <a:avLst/>
          </a:prstGeom>
          <a:ln w="15875">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1A314C2A-246D-E5E1-DF09-719C26191F65}"/>
              </a:ext>
            </a:extLst>
          </p:cNvPr>
          <p:cNvSpPr/>
          <p:nvPr/>
        </p:nvSpPr>
        <p:spPr>
          <a:xfrm>
            <a:off x="169332" y="3957609"/>
            <a:ext cx="5926667" cy="21070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Interpretation</a:t>
            </a:r>
          </a:p>
        </p:txBody>
      </p:sp>
      <p:sp>
        <p:nvSpPr>
          <p:cNvPr id="17" name="TextBox 16">
            <a:extLst>
              <a:ext uri="{FF2B5EF4-FFF2-40B4-BE49-F238E27FC236}">
                <a16:creationId xmlns:a16="http://schemas.microsoft.com/office/drawing/2014/main" id="{4B01AABF-6D0D-73D7-2D24-A6913F6F4126}"/>
              </a:ext>
            </a:extLst>
          </p:cNvPr>
          <p:cNvSpPr txBox="1"/>
          <p:nvPr/>
        </p:nvSpPr>
        <p:spPr>
          <a:xfrm>
            <a:off x="671762" y="4295150"/>
            <a:ext cx="5212845" cy="2677656"/>
          </a:xfrm>
          <a:prstGeom prst="rect">
            <a:avLst/>
          </a:prstGeom>
          <a:noFill/>
        </p:spPr>
        <p:txBody>
          <a:bodyPr wrap="square" rtlCol="0">
            <a:spAutoFit/>
          </a:bodyPr>
          <a:lstStyle/>
          <a:p>
            <a:r>
              <a:rPr lang="en-GB" sz="1050" dirty="0"/>
              <a:t>AECOM generates the </a:t>
            </a:r>
            <a:r>
              <a:rPr lang="en-GB" sz="1050" b="1" dirty="0"/>
              <a:t>highest return on invested capital (ROIC) </a:t>
            </a:r>
            <a:r>
              <a:rPr lang="en-GB" sz="1050" dirty="0"/>
              <a:t>among the peer group at approximately </a:t>
            </a:r>
            <a:r>
              <a:rPr lang="en-GB" sz="1050" b="1" dirty="0"/>
              <a:t>10.77%</a:t>
            </a:r>
            <a:r>
              <a:rPr lang="en-GB" sz="1050" dirty="0"/>
              <a:t>, demonstrating superior capital allocation and the ability to generate higher returns from its projects and operations than its competitors.</a:t>
            </a:r>
          </a:p>
          <a:p>
            <a:endParaRPr lang="en-GB" sz="1050" dirty="0"/>
          </a:p>
          <a:p>
            <a:r>
              <a:rPr lang="en-GB" sz="1050" dirty="0"/>
              <a:t>AECOM also trades at a </a:t>
            </a:r>
            <a:r>
              <a:rPr lang="en-GB" sz="1050" b="1" dirty="0"/>
              <a:t>lower P/E ratio of 18.61 </a:t>
            </a:r>
            <a:r>
              <a:rPr lang="en-GB" sz="1050" dirty="0"/>
              <a:t>compared with significantly higher multiples for peers such as Jacobs and WSP, meaning investors are paying less for each dollar of AECOM’s earnings despite its stronger operational performance.</a:t>
            </a:r>
          </a:p>
          <a:p>
            <a:endParaRPr lang="en-GB" sz="1050" dirty="0"/>
          </a:p>
          <a:p>
            <a:r>
              <a:rPr lang="en-GB" sz="1050" dirty="0"/>
              <a:t>AECOM generates revenue of </a:t>
            </a:r>
            <a:r>
              <a:rPr lang="en-GB" sz="1050" b="1" dirty="0"/>
              <a:t>$16.1 billion, placing it among the largest companies in the peer group</a:t>
            </a:r>
            <a:r>
              <a:rPr lang="en-GB" sz="1050" dirty="0"/>
              <a:t> and close to firms with significantly larger market capitalisations, such as WSP.</a:t>
            </a:r>
          </a:p>
          <a:p>
            <a:endParaRPr lang="en-GB" sz="1050" dirty="0"/>
          </a:p>
          <a:p>
            <a:r>
              <a:rPr lang="en-GB" sz="1050" dirty="0"/>
              <a:t>This combination of strong revenue, superior capital allocation, and a lower valuation multiple suggests the market may be undervaluing AECOM’s profitability, competitive positioning, and long-term growth outlook relative to competition.</a:t>
            </a:r>
          </a:p>
          <a:p>
            <a:pPr marL="171450" indent="-171450">
              <a:buFont typeface="Arial" panose="020B0604020202020204" pitchFamily="34" charset="0"/>
              <a:buChar char="•"/>
            </a:pPr>
            <a:endParaRPr lang="en-GB" sz="1050" dirty="0"/>
          </a:p>
        </p:txBody>
      </p:sp>
      <p:graphicFrame>
        <p:nvGraphicFramePr>
          <p:cNvPr id="21" name="Chart 20">
            <a:extLst>
              <a:ext uri="{FF2B5EF4-FFF2-40B4-BE49-F238E27FC236}">
                <a16:creationId xmlns:a16="http://schemas.microsoft.com/office/drawing/2014/main" id="{908A9D28-9CF1-0784-5B5B-A96D04003133}"/>
              </a:ext>
            </a:extLst>
          </p:cNvPr>
          <p:cNvGraphicFramePr/>
          <p:nvPr>
            <p:extLst>
              <p:ext uri="{D42A27DB-BD31-4B8C-83A1-F6EECF244321}">
                <p14:modId xmlns:p14="http://schemas.microsoft.com/office/powerpoint/2010/main" val="3229762405"/>
              </p:ext>
            </p:extLst>
          </p:nvPr>
        </p:nvGraphicFramePr>
        <p:xfrm>
          <a:off x="6292692" y="4939300"/>
          <a:ext cx="2749722" cy="2009599"/>
        </p:xfrm>
        <a:graphic>
          <a:graphicData uri="http://schemas.openxmlformats.org/drawingml/2006/chart">
            <c:chart xmlns:c="http://schemas.openxmlformats.org/drawingml/2006/chart" xmlns:r="http://schemas.openxmlformats.org/officeDocument/2006/relationships" r:id="rId4"/>
          </a:graphicData>
        </a:graphic>
      </p:graphicFrame>
      <p:cxnSp>
        <p:nvCxnSpPr>
          <p:cNvPr id="23" name="Straight Arrow Connector 22">
            <a:extLst>
              <a:ext uri="{FF2B5EF4-FFF2-40B4-BE49-F238E27FC236}">
                <a16:creationId xmlns:a16="http://schemas.microsoft.com/office/drawing/2014/main" id="{03E23C10-BE7F-6096-EF40-830B379F774D}"/>
              </a:ext>
            </a:extLst>
          </p:cNvPr>
          <p:cNvCxnSpPr>
            <a:cxnSpLocks/>
          </p:cNvCxnSpPr>
          <p:nvPr/>
        </p:nvCxnSpPr>
        <p:spPr>
          <a:xfrm>
            <a:off x="7584579" y="5342021"/>
            <a:ext cx="392321" cy="16477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B5B35FA-755B-FB6B-22B1-C0BC6FA7E45A}"/>
              </a:ext>
            </a:extLst>
          </p:cNvPr>
          <p:cNvSpPr txBox="1"/>
          <p:nvPr/>
        </p:nvSpPr>
        <p:spPr>
          <a:xfrm>
            <a:off x="6388768" y="3314239"/>
            <a:ext cx="5629060" cy="1708160"/>
          </a:xfrm>
          <a:prstGeom prst="rect">
            <a:avLst/>
          </a:prstGeom>
          <a:noFill/>
        </p:spPr>
        <p:txBody>
          <a:bodyPr wrap="square" rtlCol="0">
            <a:spAutoFit/>
          </a:bodyPr>
          <a:lstStyle/>
          <a:p>
            <a:pPr marL="171450" indent="-171450">
              <a:buFont typeface="Arial" panose="020B0604020202020204" pitchFamily="34" charset="0"/>
              <a:buChar char="•"/>
            </a:pPr>
            <a:r>
              <a:rPr lang="en-GB" sz="1050" dirty="0"/>
              <a:t>Since 2020 AECOM has returned $3.4 Billion to shareholders through dividends and share repurchases</a:t>
            </a:r>
          </a:p>
          <a:p>
            <a:pPr marL="171450" indent="-171450">
              <a:buFont typeface="Arial" panose="020B0604020202020204" pitchFamily="34" charset="0"/>
              <a:buChar char="•"/>
            </a:pPr>
            <a:r>
              <a:rPr lang="en-GB" sz="1050" dirty="0"/>
              <a:t>A further approval of $1 Billion in share buybacks reflects confidence from AECOM in its long-term cash flow expectations and providing substantial capacity to maximise value for shareholders</a:t>
            </a:r>
          </a:p>
          <a:p>
            <a:pPr marL="171450" indent="-171450">
              <a:buFont typeface="Arial" panose="020B0604020202020204" pitchFamily="34" charset="0"/>
              <a:buChar char="•"/>
            </a:pPr>
            <a:r>
              <a:rPr lang="en-GB" sz="1050" dirty="0"/>
              <a:t>Double digit annual increases in dividend payouts</a:t>
            </a:r>
          </a:p>
          <a:p>
            <a:pPr marL="171450" indent="-171450">
              <a:buFont typeface="Arial" panose="020B0604020202020204" pitchFamily="34" charset="0"/>
              <a:buChar char="•"/>
            </a:pPr>
            <a:r>
              <a:rPr lang="en-GB" sz="1050" dirty="0"/>
              <a:t>After organic business investments, AECOM returns 100% of its remaining free cash flow to shareholders through strategic capital allocation such as M&amp;A, share repurchases and dividends</a:t>
            </a:r>
          </a:p>
          <a:p>
            <a:endParaRPr lang="en-GB" sz="1050" dirty="0"/>
          </a:p>
        </p:txBody>
      </p:sp>
      <p:pic>
        <p:nvPicPr>
          <p:cNvPr id="6" name="Picture 5">
            <a:extLst>
              <a:ext uri="{FF2B5EF4-FFF2-40B4-BE49-F238E27FC236}">
                <a16:creationId xmlns:a16="http://schemas.microsoft.com/office/drawing/2014/main" id="{92766125-7BD7-7068-D996-5564BD5463C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38528" y="6662576"/>
            <a:ext cx="1081034" cy="188090"/>
          </a:xfrm>
          <a:prstGeom prst="rect">
            <a:avLst/>
          </a:prstGeom>
        </p:spPr>
      </p:pic>
      <p:pic>
        <p:nvPicPr>
          <p:cNvPr id="3074" name="Picture 2">
            <a:extLst>
              <a:ext uri="{FF2B5EF4-FFF2-40B4-BE49-F238E27FC236}">
                <a16:creationId xmlns:a16="http://schemas.microsoft.com/office/drawing/2014/main" id="{EC3D561A-24C6-7620-B096-7EBB20DD00A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09482" y="1169906"/>
            <a:ext cx="2174906" cy="191903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807CBE8-616A-955C-9FF3-D4BB36F55CA6}"/>
              </a:ext>
            </a:extLst>
          </p:cNvPr>
          <p:cNvSpPr/>
          <p:nvPr/>
        </p:nvSpPr>
        <p:spPr>
          <a:xfrm>
            <a:off x="10287000" y="1242545"/>
            <a:ext cx="1034716" cy="3510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C33D276B-061A-4FA9-45CB-11EE4BFF49C1}"/>
              </a:ext>
            </a:extLst>
          </p:cNvPr>
          <p:cNvSpPr/>
          <p:nvPr/>
        </p:nvSpPr>
        <p:spPr>
          <a:xfrm>
            <a:off x="10185815" y="997298"/>
            <a:ext cx="1382190" cy="4425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Substantial value gap (EBITDA)</a:t>
            </a:r>
            <a:endParaRPr lang="en-GB" sz="1000"/>
          </a:p>
        </p:txBody>
      </p:sp>
      <p:pic>
        <p:nvPicPr>
          <p:cNvPr id="3080" name="Picture 8">
            <a:extLst>
              <a:ext uri="{FF2B5EF4-FFF2-40B4-BE49-F238E27FC236}">
                <a16:creationId xmlns:a16="http://schemas.microsoft.com/office/drawing/2014/main" id="{333E1134-CECF-CF74-D72B-B18F050D509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56235" y="1159693"/>
            <a:ext cx="3713197" cy="189481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A47618AD-D45A-1D01-5CB2-5F855D9582B7}"/>
              </a:ext>
            </a:extLst>
          </p:cNvPr>
          <p:cNvSpPr/>
          <p:nvPr/>
        </p:nvSpPr>
        <p:spPr>
          <a:xfrm>
            <a:off x="7596851" y="1175693"/>
            <a:ext cx="1034716" cy="3510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91D79637-A785-C72A-0EF5-996A5FC5A4CA}"/>
              </a:ext>
            </a:extLst>
          </p:cNvPr>
          <p:cNvSpPr/>
          <p:nvPr/>
        </p:nvSpPr>
        <p:spPr>
          <a:xfrm>
            <a:off x="7473526" y="1088800"/>
            <a:ext cx="1281365" cy="3510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Strong Profitability (NSR)</a:t>
            </a:r>
            <a:endParaRPr lang="en-GB" sz="1000"/>
          </a:p>
        </p:txBody>
      </p:sp>
      <p:sp>
        <p:nvSpPr>
          <p:cNvPr id="19" name="TextBox 18">
            <a:extLst>
              <a:ext uri="{FF2B5EF4-FFF2-40B4-BE49-F238E27FC236}">
                <a16:creationId xmlns:a16="http://schemas.microsoft.com/office/drawing/2014/main" id="{83CD7517-3F32-A9C3-3EC3-BE650EFBDA93}"/>
              </a:ext>
            </a:extLst>
          </p:cNvPr>
          <p:cNvSpPr txBox="1"/>
          <p:nvPr/>
        </p:nvSpPr>
        <p:spPr>
          <a:xfrm>
            <a:off x="10093573" y="1760096"/>
            <a:ext cx="570416" cy="230832"/>
          </a:xfrm>
          <a:prstGeom prst="rect">
            <a:avLst/>
          </a:prstGeom>
          <a:noFill/>
        </p:spPr>
        <p:txBody>
          <a:bodyPr wrap="square" rtlCol="0">
            <a:spAutoFit/>
          </a:bodyPr>
          <a:lstStyle/>
          <a:p>
            <a:r>
              <a:rPr lang="en-GB" sz="900"/>
              <a:t>10.48X</a:t>
            </a:r>
          </a:p>
        </p:txBody>
      </p:sp>
      <p:sp>
        <p:nvSpPr>
          <p:cNvPr id="20" name="TextBox 19">
            <a:extLst>
              <a:ext uri="{FF2B5EF4-FFF2-40B4-BE49-F238E27FC236}">
                <a16:creationId xmlns:a16="http://schemas.microsoft.com/office/drawing/2014/main" id="{00C80C65-F375-3942-CB8A-2865D4EF7525}"/>
              </a:ext>
            </a:extLst>
          </p:cNvPr>
          <p:cNvSpPr txBox="1"/>
          <p:nvPr/>
        </p:nvSpPr>
        <p:spPr>
          <a:xfrm>
            <a:off x="11018543" y="1449039"/>
            <a:ext cx="484115" cy="230832"/>
          </a:xfrm>
          <a:prstGeom prst="rect">
            <a:avLst/>
          </a:prstGeom>
          <a:noFill/>
        </p:spPr>
        <p:txBody>
          <a:bodyPr wrap="square" rtlCol="0">
            <a:spAutoFit/>
          </a:bodyPr>
          <a:lstStyle/>
          <a:p>
            <a:r>
              <a:rPr lang="en-GB" sz="900"/>
              <a:t>15.5X</a:t>
            </a:r>
          </a:p>
        </p:txBody>
      </p:sp>
      <p:sp>
        <p:nvSpPr>
          <p:cNvPr id="7" name="Flowchart: Connector 6">
            <a:extLst>
              <a:ext uri="{FF2B5EF4-FFF2-40B4-BE49-F238E27FC236}">
                <a16:creationId xmlns:a16="http://schemas.microsoft.com/office/drawing/2014/main" id="{1732653E-1D8B-6B6A-CB2F-600F52202777}"/>
              </a:ext>
            </a:extLst>
          </p:cNvPr>
          <p:cNvSpPr/>
          <p:nvPr/>
        </p:nvSpPr>
        <p:spPr>
          <a:xfrm>
            <a:off x="258674" y="4378779"/>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1</a:t>
            </a:r>
          </a:p>
        </p:txBody>
      </p:sp>
      <p:sp>
        <p:nvSpPr>
          <p:cNvPr id="9" name="Flowchart: Connector 8">
            <a:extLst>
              <a:ext uri="{FF2B5EF4-FFF2-40B4-BE49-F238E27FC236}">
                <a16:creationId xmlns:a16="http://schemas.microsoft.com/office/drawing/2014/main" id="{63286E53-72D6-1ABE-50C2-2ADEEB214314}"/>
              </a:ext>
            </a:extLst>
          </p:cNvPr>
          <p:cNvSpPr/>
          <p:nvPr/>
        </p:nvSpPr>
        <p:spPr>
          <a:xfrm>
            <a:off x="258673" y="5039398"/>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2</a:t>
            </a:r>
          </a:p>
        </p:txBody>
      </p:sp>
      <p:sp>
        <p:nvSpPr>
          <p:cNvPr id="11" name="Flowchart: Connector 10">
            <a:extLst>
              <a:ext uri="{FF2B5EF4-FFF2-40B4-BE49-F238E27FC236}">
                <a16:creationId xmlns:a16="http://schemas.microsoft.com/office/drawing/2014/main" id="{04D12B12-2AA2-FF75-44CD-958EDD28FD6A}"/>
              </a:ext>
            </a:extLst>
          </p:cNvPr>
          <p:cNvSpPr/>
          <p:nvPr/>
        </p:nvSpPr>
        <p:spPr>
          <a:xfrm>
            <a:off x="258673" y="5663670"/>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3</a:t>
            </a:r>
          </a:p>
        </p:txBody>
      </p:sp>
      <p:sp>
        <p:nvSpPr>
          <p:cNvPr id="22" name="Flowchart: Connector 21">
            <a:extLst>
              <a:ext uri="{FF2B5EF4-FFF2-40B4-BE49-F238E27FC236}">
                <a16:creationId xmlns:a16="http://schemas.microsoft.com/office/drawing/2014/main" id="{A3C5C747-3DDD-B194-A203-498CD1C54F29}"/>
              </a:ext>
            </a:extLst>
          </p:cNvPr>
          <p:cNvSpPr/>
          <p:nvPr/>
        </p:nvSpPr>
        <p:spPr>
          <a:xfrm>
            <a:off x="258673" y="6295491"/>
            <a:ext cx="413085" cy="38501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4</a:t>
            </a:r>
          </a:p>
        </p:txBody>
      </p:sp>
      <p:sp>
        <p:nvSpPr>
          <p:cNvPr id="26" name="Rectangle 25">
            <a:extLst>
              <a:ext uri="{FF2B5EF4-FFF2-40B4-BE49-F238E27FC236}">
                <a16:creationId xmlns:a16="http://schemas.microsoft.com/office/drawing/2014/main" id="{954ED7BD-1D36-AC9F-E54E-67FE349A0615}"/>
              </a:ext>
            </a:extLst>
          </p:cNvPr>
          <p:cNvSpPr/>
          <p:nvPr/>
        </p:nvSpPr>
        <p:spPr>
          <a:xfrm>
            <a:off x="9954891" y="4863887"/>
            <a:ext cx="1281365" cy="3510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Dividend growth</a:t>
            </a:r>
            <a:endParaRPr lang="en-GB" sz="1000"/>
          </a:p>
        </p:txBody>
      </p:sp>
      <p:sp>
        <p:nvSpPr>
          <p:cNvPr id="27" name="Rectangle 26">
            <a:extLst>
              <a:ext uri="{FF2B5EF4-FFF2-40B4-BE49-F238E27FC236}">
                <a16:creationId xmlns:a16="http://schemas.microsoft.com/office/drawing/2014/main" id="{9EFD11FB-2E12-24F3-8760-67E624A76D66}"/>
              </a:ext>
            </a:extLst>
          </p:cNvPr>
          <p:cNvSpPr/>
          <p:nvPr/>
        </p:nvSpPr>
        <p:spPr>
          <a:xfrm>
            <a:off x="7140056" y="4846888"/>
            <a:ext cx="1281365" cy="3510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Shares outstanding</a:t>
            </a:r>
            <a:endParaRPr lang="en-GB" sz="1000"/>
          </a:p>
        </p:txBody>
      </p:sp>
      <p:sp>
        <p:nvSpPr>
          <p:cNvPr id="28" name="Rectangle 27">
            <a:extLst>
              <a:ext uri="{FF2B5EF4-FFF2-40B4-BE49-F238E27FC236}">
                <a16:creationId xmlns:a16="http://schemas.microsoft.com/office/drawing/2014/main" id="{F17DC50F-A037-8764-0855-5F6BA76E1512}"/>
              </a:ext>
            </a:extLst>
          </p:cNvPr>
          <p:cNvSpPr/>
          <p:nvPr/>
        </p:nvSpPr>
        <p:spPr>
          <a:xfrm>
            <a:off x="6941411" y="6662576"/>
            <a:ext cx="1452284" cy="166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C205EA1C-3B57-782F-D9EE-BB9CEC1E3635}"/>
              </a:ext>
            </a:extLst>
          </p:cNvPr>
          <p:cNvSpPr/>
          <p:nvPr/>
        </p:nvSpPr>
        <p:spPr>
          <a:xfrm>
            <a:off x="6300872" y="3104941"/>
            <a:ext cx="5798330" cy="2146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bg1"/>
                </a:solidFill>
                <a:latin typeface="Times New Roman" panose="02020603050405020304" pitchFamily="18" charset="0"/>
                <a:cs typeface="Times New Roman" panose="02020603050405020304" pitchFamily="18" charset="0"/>
              </a:rPr>
              <a:t>Shareholder value creation</a:t>
            </a:r>
          </a:p>
        </p:txBody>
      </p:sp>
    </p:spTree>
    <p:extLst>
      <p:ext uri="{BB962C8B-B14F-4D97-AF65-F5344CB8AC3E}">
        <p14:creationId xmlns:p14="http://schemas.microsoft.com/office/powerpoint/2010/main" val="4089610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E515536-0F4B-008E-8B97-AEFDE6CBB185}"/>
              </a:ext>
            </a:extLst>
          </p:cNvPr>
          <p:cNvCxnSpPr>
            <a:cxnSpLocks/>
          </p:cNvCxnSpPr>
          <p:nvPr/>
        </p:nvCxnSpPr>
        <p:spPr>
          <a:xfrm>
            <a:off x="169333" y="504536"/>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D6AAB36E-ACA6-C4A9-9A04-7C277DC05C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95469" y="88853"/>
            <a:ext cx="1514453" cy="3428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2DE394E-B741-FDC7-A469-EA1EA48F4B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sp>
        <p:nvSpPr>
          <p:cNvPr id="149" name="Rectangle: Rounded Corners 148">
            <a:extLst>
              <a:ext uri="{FF2B5EF4-FFF2-40B4-BE49-F238E27FC236}">
                <a16:creationId xmlns:a16="http://schemas.microsoft.com/office/drawing/2014/main" id="{6249641C-FEE1-1514-054E-6CB995B637A1}"/>
              </a:ext>
            </a:extLst>
          </p:cNvPr>
          <p:cNvSpPr/>
          <p:nvPr/>
        </p:nvSpPr>
        <p:spPr>
          <a:xfrm>
            <a:off x="225939" y="547595"/>
            <a:ext cx="6198924" cy="277433"/>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Key inputs from each of our DCF scenarios (2025-2028)</a:t>
            </a:r>
            <a:endParaRPr lang="en-GB" sz="1400" b="1">
              <a:solidFill>
                <a:schemeClr val="tx1"/>
              </a:solidFill>
            </a:endParaRPr>
          </a:p>
        </p:txBody>
      </p:sp>
      <p:cxnSp>
        <p:nvCxnSpPr>
          <p:cNvPr id="151" name="Straight Connector 150">
            <a:extLst>
              <a:ext uri="{FF2B5EF4-FFF2-40B4-BE49-F238E27FC236}">
                <a16:creationId xmlns:a16="http://schemas.microsoft.com/office/drawing/2014/main" id="{ABA62E7E-3906-A43F-1105-01912829B3C3}"/>
              </a:ext>
            </a:extLst>
          </p:cNvPr>
          <p:cNvCxnSpPr>
            <a:cxnSpLocks/>
          </p:cNvCxnSpPr>
          <p:nvPr/>
        </p:nvCxnSpPr>
        <p:spPr>
          <a:xfrm>
            <a:off x="3237312" y="922886"/>
            <a:ext cx="0" cy="5668759"/>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6A874BDA-5D8E-B896-84F1-2B1C8AB6B6AE}"/>
              </a:ext>
            </a:extLst>
          </p:cNvPr>
          <p:cNvGrpSpPr/>
          <p:nvPr/>
        </p:nvGrpSpPr>
        <p:grpSpPr>
          <a:xfrm>
            <a:off x="228086" y="825029"/>
            <a:ext cx="6138766" cy="5766615"/>
            <a:chOff x="225938" y="825028"/>
            <a:chExt cx="7883416" cy="5766615"/>
          </a:xfrm>
        </p:grpSpPr>
        <p:sp>
          <p:nvSpPr>
            <p:cNvPr id="180" name="Rectangle 179">
              <a:extLst>
                <a:ext uri="{FF2B5EF4-FFF2-40B4-BE49-F238E27FC236}">
                  <a16:creationId xmlns:a16="http://schemas.microsoft.com/office/drawing/2014/main" id="{3DFF89B9-5755-6DDE-865C-58686FBECBAC}"/>
                </a:ext>
              </a:extLst>
            </p:cNvPr>
            <p:cNvSpPr/>
            <p:nvPr/>
          </p:nvSpPr>
          <p:spPr>
            <a:xfrm>
              <a:off x="4177270" y="3295143"/>
              <a:ext cx="1977657"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$-142M               $41.92M</a:t>
              </a:r>
            </a:p>
          </p:txBody>
        </p:sp>
        <p:sp>
          <p:nvSpPr>
            <p:cNvPr id="130" name="Rectangle 129">
              <a:extLst>
                <a:ext uri="{FF2B5EF4-FFF2-40B4-BE49-F238E27FC236}">
                  <a16:creationId xmlns:a16="http://schemas.microsoft.com/office/drawing/2014/main" id="{7F65FD20-ED52-5160-AEAA-9443537EA1B2}"/>
                </a:ext>
              </a:extLst>
            </p:cNvPr>
            <p:cNvSpPr/>
            <p:nvPr/>
          </p:nvSpPr>
          <p:spPr>
            <a:xfrm>
              <a:off x="225939" y="1163374"/>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Revenue</a:t>
              </a:r>
            </a:p>
          </p:txBody>
        </p:sp>
        <p:sp>
          <p:nvSpPr>
            <p:cNvPr id="131" name="Rectangle 130">
              <a:extLst>
                <a:ext uri="{FF2B5EF4-FFF2-40B4-BE49-F238E27FC236}">
                  <a16:creationId xmlns:a16="http://schemas.microsoft.com/office/drawing/2014/main" id="{B7DB1D62-E870-3CFE-F953-F5D109411E91}"/>
                </a:ext>
              </a:extLst>
            </p:cNvPr>
            <p:cNvSpPr/>
            <p:nvPr/>
          </p:nvSpPr>
          <p:spPr>
            <a:xfrm>
              <a:off x="225939" y="4142568"/>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PV of Terminal</a:t>
              </a:r>
            </a:p>
          </p:txBody>
        </p:sp>
        <p:sp>
          <p:nvSpPr>
            <p:cNvPr id="132" name="Rectangle 131">
              <a:extLst>
                <a:ext uri="{FF2B5EF4-FFF2-40B4-BE49-F238E27FC236}">
                  <a16:creationId xmlns:a16="http://schemas.microsoft.com/office/drawing/2014/main" id="{5C48B7A2-2227-B54C-2F55-67E3CC00310F}"/>
                </a:ext>
              </a:extLst>
            </p:cNvPr>
            <p:cNvSpPr/>
            <p:nvPr/>
          </p:nvSpPr>
          <p:spPr>
            <a:xfrm>
              <a:off x="225939" y="1595390"/>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EBIT</a:t>
              </a:r>
            </a:p>
          </p:txBody>
        </p:sp>
        <p:sp>
          <p:nvSpPr>
            <p:cNvPr id="133" name="Rectangle 132">
              <a:extLst>
                <a:ext uri="{FF2B5EF4-FFF2-40B4-BE49-F238E27FC236}">
                  <a16:creationId xmlns:a16="http://schemas.microsoft.com/office/drawing/2014/main" id="{BCCDBE4D-F37A-0599-CBB0-BC11D799DDA2}"/>
                </a:ext>
              </a:extLst>
            </p:cNvPr>
            <p:cNvSpPr/>
            <p:nvPr/>
          </p:nvSpPr>
          <p:spPr>
            <a:xfrm>
              <a:off x="225939" y="3728014"/>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Terminal value</a:t>
              </a:r>
            </a:p>
          </p:txBody>
        </p:sp>
        <p:sp>
          <p:nvSpPr>
            <p:cNvPr id="134" name="Rectangle 133">
              <a:extLst>
                <a:ext uri="{FF2B5EF4-FFF2-40B4-BE49-F238E27FC236}">
                  <a16:creationId xmlns:a16="http://schemas.microsoft.com/office/drawing/2014/main" id="{CC588924-F629-C355-79F6-B04EE34D1EEA}"/>
                </a:ext>
              </a:extLst>
            </p:cNvPr>
            <p:cNvSpPr/>
            <p:nvPr/>
          </p:nvSpPr>
          <p:spPr>
            <a:xfrm>
              <a:off x="225939" y="3295998"/>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Change NWC</a:t>
              </a:r>
            </a:p>
          </p:txBody>
        </p:sp>
        <p:sp>
          <p:nvSpPr>
            <p:cNvPr id="142" name="Rectangle 141">
              <a:extLst>
                <a:ext uri="{FF2B5EF4-FFF2-40B4-BE49-F238E27FC236}">
                  <a16:creationId xmlns:a16="http://schemas.microsoft.com/office/drawing/2014/main" id="{51BEE72E-5820-4F42-8A48-1685D6DFACEB}"/>
                </a:ext>
              </a:extLst>
            </p:cNvPr>
            <p:cNvSpPr/>
            <p:nvPr/>
          </p:nvSpPr>
          <p:spPr>
            <a:xfrm>
              <a:off x="225939" y="2027406"/>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Taxes</a:t>
              </a:r>
            </a:p>
          </p:txBody>
        </p:sp>
        <p:sp>
          <p:nvSpPr>
            <p:cNvPr id="143" name="Rectangle 142">
              <a:extLst>
                <a:ext uri="{FF2B5EF4-FFF2-40B4-BE49-F238E27FC236}">
                  <a16:creationId xmlns:a16="http://schemas.microsoft.com/office/drawing/2014/main" id="{32936E38-5D5E-9AE8-A33E-1DE4D6608C98}"/>
                </a:ext>
              </a:extLst>
            </p:cNvPr>
            <p:cNvSpPr/>
            <p:nvPr/>
          </p:nvSpPr>
          <p:spPr>
            <a:xfrm>
              <a:off x="225939" y="2459426"/>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D&amp;A</a:t>
              </a:r>
            </a:p>
          </p:txBody>
        </p:sp>
        <p:sp>
          <p:nvSpPr>
            <p:cNvPr id="144" name="Rectangle 143">
              <a:extLst>
                <a:ext uri="{FF2B5EF4-FFF2-40B4-BE49-F238E27FC236}">
                  <a16:creationId xmlns:a16="http://schemas.microsoft.com/office/drawing/2014/main" id="{0F71257B-114C-EEAB-A1DA-C5C3D7132790}"/>
                </a:ext>
              </a:extLst>
            </p:cNvPr>
            <p:cNvSpPr/>
            <p:nvPr/>
          </p:nvSpPr>
          <p:spPr>
            <a:xfrm>
              <a:off x="225939" y="2891442"/>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CapEx</a:t>
              </a:r>
            </a:p>
          </p:txBody>
        </p:sp>
        <p:sp>
          <p:nvSpPr>
            <p:cNvPr id="145" name="Rectangle 144">
              <a:extLst>
                <a:ext uri="{FF2B5EF4-FFF2-40B4-BE49-F238E27FC236}">
                  <a16:creationId xmlns:a16="http://schemas.microsoft.com/office/drawing/2014/main" id="{A6DE718B-98A9-097C-F070-52259549D861}"/>
                </a:ext>
              </a:extLst>
            </p:cNvPr>
            <p:cNvSpPr/>
            <p:nvPr/>
          </p:nvSpPr>
          <p:spPr>
            <a:xfrm>
              <a:off x="225939" y="4574585"/>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Enterprise value</a:t>
              </a:r>
            </a:p>
          </p:txBody>
        </p:sp>
        <p:sp>
          <p:nvSpPr>
            <p:cNvPr id="146" name="Rectangle 145">
              <a:extLst>
                <a:ext uri="{FF2B5EF4-FFF2-40B4-BE49-F238E27FC236}">
                  <a16:creationId xmlns:a16="http://schemas.microsoft.com/office/drawing/2014/main" id="{1A3AEE0D-E618-1E98-E9A7-8A2A6C10D9F6}"/>
                </a:ext>
              </a:extLst>
            </p:cNvPr>
            <p:cNvSpPr/>
            <p:nvPr/>
          </p:nvSpPr>
          <p:spPr>
            <a:xfrm>
              <a:off x="225939" y="5003016"/>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Equity Value</a:t>
              </a:r>
            </a:p>
          </p:txBody>
        </p:sp>
        <p:sp>
          <p:nvSpPr>
            <p:cNvPr id="147" name="Rectangle 146">
              <a:extLst>
                <a:ext uri="{FF2B5EF4-FFF2-40B4-BE49-F238E27FC236}">
                  <a16:creationId xmlns:a16="http://schemas.microsoft.com/office/drawing/2014/main" id="{55AAE195-2D69-240E-4826-A3F4A6E85982}"/>
                </a:ext>
              </a:extLst>
            </p:cNvPr>
            <p:cNvSpPr/>
            <p:nvPr/>
          </p:nvSpPr>
          <p:spPr>
            <a:xfrm>
              <a:off x="225939" y="5534526"/>
              <a:ext cx="1876926" cy="40092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Estimated share price</a:t>
              </a:r>
            </a:p>
          </p:txBody>
        </p:sp>
        <p:sp>
          <p:nvSpPr>
            <p:cNvPr id="148" name="Rectangle 147">
              <a:extLst>
                <a:ext uri="{FF2B5EF4-FFF2-40B4-BE49-F238E27FC236}">
                  <a16:creationId xmlns:a16="http://schemas.microsoft.com/office/drawing/2014/main" id="{0CE07A61-850C-C5F8-F00F-544A355A87FC}"/>
                </a:ext>
              </a:extLst>
            </p:cNvPr>
            <p:cNvSpPr/>
            <p:nvPr/>
          </p:nvSpPr>
          <p:spPr>
            <a:xfrm>
              <a:off x="225939" y="6006534"/>
              <a:ext cx="1876926"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Return (%)</a:t>
              </a:r>
            </a:p>
          </p:txBody>
        </p:sp>
        <p:cxnSp>
          <p:nvCxnSpPr>
            <p:cNvPr id="152" name="Straight Connector 151">
              <a:extLst>
                <a:ext uri="{FF2B5EF4-FFF2-40B4-BE49-F238E27FC236}">
                  <a16:creationId xmlns:a16="http://schemas.microsoft.com/office/drawing/2014/main" id="{A5D54C88-4599-86EF-A557-245477FED1E7}"/>
                </a:ext>
              </a:extLst>
            </p:cNvPr>
            <p:cNvCxnSpPr>
              <a:cxnSpLocks/>
            </p:cNvCxnSpPr>
            <p:nvPr/>
          </p:nvCxnSpPr>
          <p:spPr>
            <a:xfrm flipH="1">
              <a:off x="225938" y="5429731"/>
              <a:ext cx="7883416" cy="0"/>
            </a:xfrm>
            <a:prstGeom prst="line">
              <a:avLst/>
            </a:prstGeom>
            <a:ln w="15875"/>
          </p:spPr>
          <p:style>
            <a:lnRef idx="2">
              <a:schemeClr val="accent1"/>
            </a:lnRef>
            <a:fillRef idx="0">
              <a:schemeClr val="accent1"/>
            </a:fillRef>
            <a:effectRef idx="1">
              <a:schemeClr val="accent1"/>
            </a:effectRef>
            <a:fontRef idx="minor">
              <a:schemeClr val="tx1"/>
            </a:fontRef>
          </p:style>
        </p:cxnSp>
        <p:cxnSp>
          <p:nvCxnSpPr>
            <p:cNvPr id="157" name="Straight Connector 156">
              <a:extLst>
                <a:ext uri="{FF2B5EF4-FFF2-40B4-BE49-F238E27FC236}">
                  <a16:creationId xmlns:a16="http://schemas.microsoft.com/office/drawing/2014/main" id="{96313879-67A5-F4D1-7937-23E3F6EDE2B8}"/>
                </a:ext>
              </a:extLst>
            </p:cNvPr>
            <p:cNvCxnSpPr>
              <a:cxnSpLocks/>
            </p:cNvCxnSpPr>
            <p:nvPr/>
          </p:nvCxnSpPr>
          <p:spPr>
            <a:xfrm>
              <a:off x="6139912" y="922884"/>
              <a:ext cx="0" cy="5668759"/>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60" name="Rectangle 159">
              <a:extLst>
                <a:ext uri="{FF2B5EF4-FFF2-40B4-BE49-F238E27FC236}">
                  <a16:creationId xmlns:a16="http://schemas.microsoft.com/office/drawing/2014/main" id="{FEDFFCD0-2840-F07F-24C9-7B60E7815E8F}"/>
                </a:ext>
              </a:extLst>
            </p:cNvPr>
            <p:cNvSpPr/>
            <p:nvPr/>
          </p:nvSpPr>
          <p:spPr>
            <a:xfrm>
              <a:off x="2216258" y="825028"/>
              <a:ext cx="1720311" cy="2934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accent6">
                      <a:lumMod val="60000"/>
                      <a:lumOff val="40000"/>
                    </a:schemeClr>
                  </a:solidFill>
                </a:rPr>
                <a:t>BEAR</a:t>
              </a:r>
            </a:p>
          </p:txBody>
        </p:sp>
        <p:sp>
          <p:nvSpPr>
            <p:cNvPr id="161" name="Rectangle 160">
              <a:extLst>
                <a:ext uri="{FF2B5EF4-FFF2-40B4-BE49-F238E27FC236}">
                  <a16:creationId xmlns:a16="http://schemas.microsoft.com/office/drawing/2014/main" id="{7214C269-A275-1089-0C49-297636A01C0F}"/>
                </a:ext>
              </a:extLst>
            </p:cNvPr>
            <p:cNvSpPr/>
            <p:nvPr/>
          </p:nvSpPr>
          <p:spPr>
            <a:xfrm>
              <a:off x="4241369" y="843642"/>
              <a:ext cx="1720311" cy="2934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BASE</a:t>
              </a:r>
            </a:p>
          </p:txBody>
        </p:sp>
        <p:sp>
          <p:nvSpPr>
            <p:cNvPr id="162" name="Rectangle 161">
              <a:extLst>
                <a:ext uri="{FF2B5EF4-FFF2-40B4-BE49-F238E27FC236}">
                  <a16:creationId xmlns:a16="http://schemas.microsoft.com/office/drawing/2014/main" id="{E7ECD268-5744-5D1F-71B2-2043B2428AE1}"/>
                </a:ext>
              </a:extLst>
            </p:cNvPr>
            <p:cNvSpPr/>
            <p:nvPr/>
          </p:nvSpPr>
          <p:spPr>
            <a:xfrm>
              <a:off x="6318145" y="843641"/>
              <a:ext cx="1720311" cy="2934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accent6">
                      <a:lumMod val="75000"/>
                    </a:schemeClr>
                  </a:solidFill>
                </a:rPr>
                <a:t>BULL</a:t>
              </a:r>
            </a:p>
          </p:txBody>
        </p:sp>
        <p:sp>
          <p:nvSpPr>
            <p:cNvPr id="163" name="Rectangle 162">
              <a:extLst>
                <a:ext uri="{FF2B5EF4-FFF2-40B4-BE49-F238E27FC236}">
                  <a16:creationId xmlns:a16="http://schemas.microsoft.com/office/drawing/2014/main" id="{FFAC9067-64F5-AFBA-C62D-1229C5090088}"/>
                </a:ext>
              </a:extLst>
            </p:cNvPr>
            <p:cNvSpPr/>
            <p:nvPr/>
          </p:nvSpPr>
          <p:spPr>
            <a:xfrm>
              <a:off x="2157456" y="1163350"/>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$16.13B            </a:t>
              </a:r>
              <a:r>
                <a:rPr lang="en-GB" sz="1000" b="1">
                  <a:solidFill>
                    <a:schemeClr val="accent6">
                      <a:lumMod val="60000"/>
                      <a:lumOff val="40000"/>
                    </a:schemeClr>
                  </a:solidFill>
                </a:rPr>
                <a:t>$17.98B</a:t>
              </a:r>
            </a:p>
          </p:txBody>
        </p:sp>
        <p:sp>
          <p:nvSpPr>
            <p:cNvPr id="164" name="Rectangle 163">
              <a:extLst>
                <a:ext uri="{FF2B5EF4-FFF2-40B4-BE49-F238E27FC236}">
                  <a16:creationId xmlns:a16="http://schemas.microsoft.com/office/drawing/2014/main" id="{81F8C4BB-705C-8B7D-431B-64B4E727B3B2}"/>
                </a:ext>
              </a:extLst>
            </p:cNvPr>
            <p:cNvSpPr/>
            <p:nvPr/>
          </p:nvSpPr>
          <p:spPr>
            <a:xfrm>
              <a:off x="2157456" y="1597647"/>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$1097M             </a:t>
              </a:r>
              <a:r>
                <a:rPr lang="en-GB" sz="1000" b="1">
                  <a:solidFill>
                    <a:schemeClr val="accent6">
                      <a:lumMod val="60000"/>
                      <a:lumOff val="40000"/>
                    </a:schemeClr>
                  </a:solidFill>
                </a:rPr>
                <a:t>$1344M</a:t>
              </a:r>
              <a:endParaRPr lang="en-GB" sz="1400" b="1">
                <a:solidFill>
                  <a:schemeClr val="accent6">
                    <a:lumMod val="60000"/>
                    <a:lumOff val="40000"/>
                  </a:schemeClr>
                </a:solidFill>
              </a:endParaRPr>
            </a:p>
          </p:txBody>
        </p:sp>
        <p:sp>
          <p:nvSpPr>
            <p:cNvPr id="165" name="Rectangle 164">
              <a:extLst>
                <a:ext uri="{FF2B5EF4-FFF2-40B4-BE49-F238E27FC236}">
                  <a16:creationId xmlns:a16="http://schemas.microsoft.com/office/drawing/2014/main" id="{F2128B2A-C9F1-9F07-D466-368F8CD1BD4A}"/>
                </a:ext>
              </a:extLst>
            </p:cNvPr>
            <p:cNvSpPr/>
            <p:nvPr/>
          </p:nvSpPr>
          <p:spPr>
            <a:xfrm>
              <a:off x="2157456" y="203194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$225M              </a:t>
              </a:r>
              <a:r>
                <a:rPr lang="en-GB" sz="1000" b="1">
                  <a:solidFill>
                    <a:schemeClr val="accent6">
                      <a:lumMod val="60000"/>
                      <a:lumOff val="40000"/>
                    </a:schemeClr>
                  </a:solidFill>
                </a:rPr>
                <a:t>$267.8M</a:t>
              </a:r>
            </a:p>
          </p:txBody>
        </p:sp>
        <p:sp>
          <p:nvSpPr>
            <p:cNvPr id="166" name="Rectangle 165">
              <a:extLst>
                <a:ext uri="{FF2B5EF4-FFF2-40B4-BE49-F238E27FC236}">
                  <a16:creationId xmlns:a16="http://schemas.microsoft.com/office/drawing/2014/main" id="{6D8D90ED-227C-06B0-2B5A-3C875B2BE626}"/>
                </a:ext>
              </a:extLst>
            </p:cNvPr>
            <p:cNvSpPr/>
            <p:nvPr/>
          </p:nvSpPr>
          <p:spPr>
            <a:xfrm>
              <a:off x="2157456" y="2466241"/>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$176M                </a:t>
              </a:r>
              <a:r>
                <a:rPr lang="en-GB" sz="1000" b="1">
                  <a:solidFill>
                    <a:schemeClr val="accent6">
                      <a:lumMod val="60000"/>
                      <a:lumOff val="40000"/>
                    </a:schemeClr>
                  </a:solidFill>
                </a:rPr>
                <a:t>$135M</a:t>
              </a:r>
            </a:p>
          </p:txBody>
        </p:sp>
        <p:sp>
          <p:nvSpPr>
            <p:cNvPr id="167" name="Rectangle 166">
              <a:extLst>
                <a:ext uri="{FF2B5EF4-FFF2-40B4-BE49-F238E27FC236}">
                  <a16:creationId xmlns:a16="http://schemas.microsoft.com/office/drawing/2014/main" id="{87B0AD07-71AB-E9B4-FD98-A4F6C1659B87}"/>
                </a:ext>
              </a:extLst>
            </p:cNvPr>
            <p:cNvSpPr/>
            <p:nvPr/>
          </p:nvSpPr>
          <p:spPr>
            <a:xfrm>
              <a:off x="2157456" y="288956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$137M                 </a:t>
              </a:r>
              <a:r>
                <a:rPr lang="en-GB" sz="1000" b="1">
                  <a:solidFill>
                    <a:schemeClr val="accent6">
                      <a:lumMod val="60000"/>
                      <a:lumOff val="40000"/>
                    </a:schemeClr>
                  </a:solidFill>
                </a:rPr>
                <a:t>$183M</a:t>
              </a:r>
            </a:p>
          </p:txBody>
        </p:sp>
        <p:sp>
          <p:nvSpPr>
            <p:cNvPr id="168" name="Rectangle 167">
              <a:extLst>
                <a:ext uri="{FF2B5EF4-FFF2-40B4-BE49-F238E27FC236}">
                  <a16:creationId xmlns:a16="http://schemas.microsoft.com/office/drawing/2014/main" id="{951C3EC7-7DA9-7CC5-4B17-F29253DA55A8}"/>
                </a:ext>
              </a:extLst>
            </p:cNvPr>
            <p:cNvSpPr/>
            <p:nvPr/>
          </p:nvSpPr>
          <p:spPr>
            <a:xfrm>
              <a:off x="2157456" y="3295143"/>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$-142M               </a:t>
              </a:r>
              <a:r>
                <a:rPr lang="en-GB" sz="1000" b="1">
                  <a:solidFill>
                    <a:schemeClr val="accent6">
                      <a:lumMod val="60000"/>
                      <a:lumOff val="40000"/>
                    </a:schemeClr>
                  </a:solidFill>
                </a:rPr>
                <a:t>$-152M</a:t>
              </a:r>
            </a:p>
          </p:txBody>
        </p:sp>
        <p:sp>
          <p:nvSpPr>
            <p:cNvPr id="169" name="Rectangle 168">
              <a:extLst>
                <a:ext uri="{FF2B5EF4-FFF2-40B4-BE49-F238E27FC236}">
                  <a16:creationId xmlns:a16="http://schemas.microsoft.com/office/drawing/2014/main" id="{053BD03F-8BCE-EBD3-84FE-FA35CED90139}"/>
                </a:ext>
              </a:extLst>
            </p:cNvPr>
            <p:cNvSpPr/>
            <p:nvPr/>
          </p:nvSpPr>
          <p:spPr>
            <a:xfrm>
              <a:off x="2157456" y="4142568"/>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accent6">
                      <a:lumMod val="60000"/>
                      <a:lumOff val="40000"/>
                    </a:schemeClr>
                  </a:solidFill>
                </a:rPr>
                <a:t>$13.44B</a:t>
              </a:r>
            </a:p>
          </p:txBody>
        </p:sp>
        <p:sp>
          <p:nvSpPr>
            <p:cNvPr id="170" name="Rectangle 169">
              <a:extLst>
                <a:ext uri="{FF2B5EF4-FFF2-40B4-BE49-F238E27FC236}">
                  <a16:creationId xmlns:a16="http://schemas.microsoft.com/office/drawing/2014/main" id="{0014A98C-13A2-234D-CFE4-D59ED8C382D8}"/>
                </a:ext>
              </a:extLst>
            </p:cNvPr>
            <p:cNvSpPr/>
            <p:nvPr/>
          </p:nvSpPr>
          <p:spPr>
            <a:xfrm>
              <a:off x="2157456" y="372357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accent6">
                      <a:lumMod val="60000"/>
                      <a:lumOff val="40000"/>
                    </a:schemeClr>
                  </a:solidFill>
                </a:rPr>
                <a:t>$17.41B                 </a:t>
              </a:r>
            </a:p>
          </p:txBody>
        </p:sp>
        <p:sp>
          <p:nvSpPr>
            <p:cNvPr id="171" name="Rectangle 170">
              <a:extLst>
                <a:ext uri="{FF2B5EF4-FFF2-40B4-BE49-F238E27FC236}">
                  <a16:creationId xmlns:a16="http://schemas.microsoft.com/office/drawing/2014/main" id="{7D0FECCB-47B5-770D-6A46-3348ADED480F}"/>
                </a:ext>
              </a:extLst>
            </p:cNvPr>
            <p:cNvSpPr/>
            <p:nvPr/>
          </p:nvSpPr>
          <p:spPr>
            <a:xfrm>
              <a:off x="2157456" y="457963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accent6">
                      <a:lumMod val="60000"/>
                      <a:lumOff val="40000"/>
                    </a:schemeClr>
                  </a:solidFill>
                </a:rPr>
                <a:t>$16.39B</a:t>
              </a:r>
            </a:p>
          </p:txBody>
        </p:sp>
        <p:sp>
          <p:nvSpPr>
            <p:cNvPr id="172" name="Rectangle 171">
              <a:extLst>
                <a:ext uri="{FF2B5EF4-FFF2-40B4-BE49-F238E27FC236}">
                  <a16:creationId xmlns:a16="http://schemas.microsoft.com/office/drawing/2014/main" id="{F4C9FAAC-C551-1644-517F-CA85528E623F}"/>
                </a:ext>
              </a:extLst>
            </p:cNvPr>
            <p:cNvSpPr/>
            <p:nvPr/>
          </p:nvSpPr>
          <p:spPr>
            <a:xfrm>
              <a:off x="2157456" y="499857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accent6">
                      <a:lumMod val="60000"/>
                      <a:lumOff val="40000"/>
                    </a:schemeClr>
                  </a:solidFill>
                </a:rPr>
                <a:t>$15.34B</a:t>
              </a:r>
            </a:p>
          </p:txBody>
        </p:sp>
        <p:sp>
          <p:nvSpPr>
            <p:cNvPr id="173" name="Rectangle 172">
              <a:extLst>
                <a:ext uri="{FF2B5EF4-FFF2-40B4-BE49-F238E27FC236}">
                  <a16:creationId xmlns:a16="http://schemas.microsoft.com/office/drawing/2014/main" id="{22788933-B6A1-0CE3-5658-3BED3C57E7D8}"/>
                </a:ext>
              </a:extLst>
            </p:cNvPr>
            <p:cNvSpPr/>
            <p:nvPr/>
          </p:nvSpPr>
          <p:spPr>
            <a:xfrm>
              <a:off x="2157456" y="557451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accent6">
                      <a:lumMod val="60000"/>
                      <a:lumOff val="40000"/>
                    </a:schemeClr>
                  </a:solidFill>
                </a:rPr>
                <a:t>$107.79</a:t>
              </a:r>
            </a:p>
          </p:txBody>
        </p:sp>
        <p:sp>
          <p:nvSpPr>
            <p:cNvPr id="174" name="Rectangle 173">
              <a:extLst>
                <a:ext uri="{FF2B5EF4-FFF2-40B4-BE49-F238E27FC236}">
                  <a16:creationId xmlns:a16="http://schemas.microsoft.com/office/drawing/2014/main" id="{E78011B6-6DB3-00FA-E426-D4C27E34FBFE}"/>
                </a:ext>
              </a:extLst>
            </p:cNvPr>
            <p:cNvSpPr/>
            <p:nvPr/>
          </p:nvSpPr>
          <p:spPr>
            <a:xfrm>
              <a:off x="2157456" y="600501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accent6">
                      <a:lumMod val="60000"/>
                      <a:lumOff val="40000"/>
                    </a:schemeClr>
                  </a:solidFill>
                </a:rPr>
                <a:t>+27.6%</a:t>
              </a:r>
            </a:p>
          </p:txBody>
        </p:sp>
        <p:sp>
          <p:nvSpPr>
            <p:cNvPr id="175" name="Rectangle 174">
              <a:extLst>
                <a:ext uri="{FF2B5EF4-FFF2-40B4-BE49-F238E27FC236}">
                  <a16:creationId xmlns:a16="http://schemas.microsoft.com/office/drawing/2014/main" id="{F9462168-A12B-EF70-10F9-4E3D655610EA}"/>
                </a:ext>
              </a:extLst>
            </p:cNvPr>
            <p:cNvSpPr/>
            <p:nvPr/>
          </p:nvSpPr>
          <p:spPr>
            <a:xfrm>
              <a:off x="4177270" y="1163350"/>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$16.13B              $18.13B</a:t>
              </a:r>
            </a:p>
          </p:txBody>
        </p:sp>
        <p:sp>
          <p:nvSpPr>
            <p:cNvPr id="176" name="Rectangle 175">
              <a:extLst>
                <a:ext uri="{FF2B5EF4-FFF2-40B4-BE49-F238E27FC236}">
                  <a16:creationId xmlns:a16="http://schemas.microsoft.com/office/drawing/2014/main" id="{4B02EA17-749D-F57F-4BA0-E258FB9335B7}"/>
                </a:ext>
              </a:extLst>
            </p:cNvPr>
            <p:cNvSpPr/>
            <p:nvPr/>
          </p:nvSpPr>
          <p:spPr>
            <a:xfrm>
              <a:off x="4177270" y="1597647"/>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$1097M              $1417M</a:t>
              </a:r>
            </a:p>
          </p:txBody>
        </p:sp>
        <p:sp>
          <p:nvSpPr>
            <p:cNvPr id="177" name="Rectangle 176">
              <a:extLst>
                <a:ext uri="{FF2B5EF4-FFF2-40B4-BE49-F238E27FC236}">
                  <a16:creationId xmlns:a16="http://schemas.microsoft.com/office/drawing/2014/main" id="{682F465F-9103-20C6-7706-C5695A5F24A3}"/>
                </a:ext>
              </a:extLst>
            </p:cNvPr>
            <p:cNvSpPr/>
            <p:nvPr/>
          </p:nvSpPr>
          <p:spPr>
            <a:xfrm>
              <a:off x="4177270" y="203194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$225M                $277.4M</a:t>
              </a:r>
            </a:p>
          </p:txBody>
        </p:sp>
        <p:sp>
          <p:nvSpPr>
            <p:cNvPr id="178" name="Rectangle 177">
              <a:extLst>
                <a:ext uri="{FF2B5EF4-FFF2-40B4-BE49-F238E27FC236}">
                  <a16:creationId xmlns:a16="http://schemas.microsoft.com/office/drawing/2014/main" id="{08844D32-ACB7-4799-67A7-34CC612B7E5A}"/>
                </a:ext>
              </a:extLst>
            </p:cNvPr>
            <p:cNvSpPr/>
            <p:nvPr/>
          </p:nvSpPr>
          <p:spPr>
            <a:xfrm>
              <a:off x="4177270" y="2466241"/>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$176M                 $194M</a:t>
              </a:r>
            </a:p>
          </p:txBody>
        </p:sp>
        <p:sp>
          <p:nvSpPr>
            <p:cNvPr id="179" name="Rectangle 178">
              <a:extLst>
                <a:ext uri="{FF2B5EF4-FFF2-40B4-BE49-F238E27FC236}">
                  <a16:creationId xmlns:a16="http://schemas.microsoft.com/office/drawing/2014/main" id="{D375C8C5-318F-25A6-F67D-963B08D89907}"/>
                </a:ext>
              </a:extLst>
            </p:cNvPr>
            <p:cNvSpPr/>
            <p:nvPr/>
          </p:nvSpPr>
          <p:spPr>
            <a:xfrm>
              <a:off x="4177270" y="288956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$137M                 $159M</a:t>
              </a:r>
            </a:p>
          </p:txBody>
        </p:sp>
        <p:sp>
          <p:nvSpPr>
            <p:cNvPr id="181" name="Rectangle 180">
              <a:extLst>
                <a:ext uri="{FF2B5EF4-FFF2-40B4-BE49-F238E27FC236}">
                  <a16:creationId xmlns:a16="http://schemas.microsoft.com/office/drawing/2014/main" id="{659B9409-1FEC-4539-7703-3FE128D8C03F}"/>
                </a:ext>
              </a:extLst>
            </p:cNvPr>
            <p:cNvSpPr/>
            <p:nvPr/>
          </p:nvSpPr>
          <p:spPr>
            <a:xfrm>
              <a:off x="4177270" y="4142568"/>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tx1"/>
                  </a:solidFill>
                </a:rPr>
                <a:t>$15.53B</a:t>
              </a:r>
            </a:p>
          </p:txBody>
        </p:sp>
        <p:sp>
          <p:nvSpPr>
            <p:cNvPr id="182" name="Rectangle 181">
              <a:extLst>
                <a:ext uri="{FF2B5EF4-FFF2-40B4-BE49-F238E27FC236}">
                  <a16:creationId xmlns:a16="http://schemas.microsoft.com/office/drawing/2014/main" id="{CD5A6739-E99A-AE3A-70F2-D48DC08E0DE5}"/>
                </a:ext>
              </a:extLst>
            </p:cNvPr>
            <p:cNvSpPr/>
            <p:nvPr/>
          </p:nvSpPr>
          <p:spPr>
            <a:xfrm>
              <a:off x="4177270" y="372357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tx1"/>
                  </a:solidFill>
                </a:rPr>
                <a:t>$20.13B</a:t>
              </a:r>
            </a:p>
          </p:txBody>
        </p:sp>
        <p:sp>
          <p:nvSpPr>
            <p:cNvPr id="183" name="Rectangle 182">
              <a:extLst>
                <a:ext uri="{FF2B5EF4-FFF2-40B4-BE49-F238E27FC236}">
                  <a16:creationId xmlns:a16="http://schemas.microsoft.com/office/drawing/2014/main" id="{3FADF80E-2A77-84A1-F400-B8FB5270E068}"/>
                </a:ext>
              </a:extLst>
            </p:cNvPr>
            <p:cNvSpPr/>
            <p:nvPr/>
          </p:nvSpPr>
          <p:spPr>
            <a:xfrm>
              <a:off x="4177270" y="457963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tx1"/>
                  </a:solidFill>
                </a:rPr>
                <a:t>$18.69B</a:t>
              </a:r>
            </a:p>
          </p:txBody>
        </p:sp>
        <p:sp>
          <p:nvSpPr>
            <p:cNvPr id="184" name="Rectangle 183">
              <a:extLst>
                <a:ext uri="{FF2B5EF4-FFF2-40B4-BE49-F238E27FC236}">
                  <a16:creationId xmlns:a16="http://schemas.microsoft.com/office/drawing/2014/main" id="{DB41859D-451B-0D64-25E2-37FD02A805C8}"/>
                </a:ext>
              </a:extLst>
            </p:cNvPr>
            <p:cNvSpPr/>
            <p:nvPr/>
          </p:nvSpPr>
          <p:spPr>
            <a:xfrm>
              <a:off x="4177270" y="499857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tx1"/>
                  </a:solidFill>
                </a:rPr>
                <a:t>$17.63B</a:t>
              </a:r>
            </a:p>
          </p:txBody>
        </p:sp>
        <p:sp>
          <p:nvSpPr>
            <p:cNvPr id="185" name="Rectangle 184">
              <a:extLst>
                <a:ext uri="{FF2B5EF4-FFF2-40B4-BE49-F238E27FC236}">
                  <a16:creationId xmlns:a16="http://schemas.microsoft.com/office/drawing/2014/main" id="{791C5B61-DAC7-A3C4-DF0E-226927793C04}"/>
                </a:ext>
              </a:extLst>
            </p:cNvPr>
            <p:cNvSpPr/>
            <p:nvPr/>
          </p:nvSpPr>
          <p:spPr>
            <a:xfrm>
              <a:off x="4177270" y="557451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tx1"/>
                  </a:solidFill>
                </a:rPr>
                <a:t>$124.81</a:t>
              </a:r>
            </a:p>
          </p:txBody>
        </p:sp>
        <p:sp>
          <p:nvSpPr>
            <p:cNvPr id="186" name="Rectangle 185">
              <a:extLst>
                <a:ext uri="{FF2B5EF4-FFF2-40B4-BE49-F238E27FC236}">
                  <a16:creationId xmlns:a16="http://schemas.microsoft.com/office/drawing/2014/main" id="{48D553EC-55B1-A493-A504-9A4287D99B07}"/>
                </a:ext>
              </a:extLst>
            </p:cNvPr>
            <p:cNvSpPr/>
            <p:nvPr/>
          </p:nvSpPr>
          <p:spPr>
            <a:xfrm>
              <a:off x="4177270" y="600501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tx1"/>
                  </a:solidFill>
                </a:rPr>
                <a:t>+47.7%</a:t>
              </a:r>
            </a:p>
          </p:txBody>
        </p:sp>
        <p:sp>
          <p:nvSpPr>
            <p:cNvPr id="187" name="Rectangle 186">
              <a:extLst>
                <a:ext uri="{FF2B5EF4-FFF2-40B4-BE49-F238E27FC236}">
                  <a16:creationId xmlns:a16="http://schemas.microsoft.com/office/drawing/2014/main" id="{9871F992-E86B-272E-EFA6-5EA6D8DFDAB8}"/>
                </a:ext>
              </a:extLst>
            </p:cNvPr>
            <p:cNvSpPr/>
            <p:nvPr/>
          </p:nvSpPr>
          <p:spPr>
            <a:xfrm>
              <a:off x="6232428" y="1163350"/>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$16.13B             </a:t>
              </a:r>
              <a:r>
                <a:rPr lang="en-GB" sz="1000" b="1">
                  <a:solidFill>
                    <a:schemeClr val="accent6">
                      <a:lumMod val="75000"/>
                    </a:schemeClr>
                  </a:solidFill>
                </a:rPr>
                <a:t>$18.28B</a:t>
              </a:r>
            </a:p>
          </p:txBody>
        </p:sp>
        <p:sp>
          <p:nvSpPr>
            <p:cNvPr id="188" name="Rectangle 187">
              <a:extLst>
                <a:ext uri="{FF2B5EF4-FFF2-40B4-BE49-F238E27FC236}">
                  <a16:creationId xmlns:a16="http://schemas.microsoft.com/office/drawing/2014/main" id="{1131F19D-3A9C-90F3-FC71-C8B098A0E991}"/>
                </a:ext>
              </a:extLst>
            </p:cNvPr>
            <p:cNvSpPr/>
            <p:nvPr/>
          </p:nvSpPr>
          <p:spPr>
            <a:xfrm>
              <a:off x="6232428" y="1597647"/>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$1097M              </a:t>
              </a:r>
              <a:r>
                <a:rPr lang="en-GB" sz="1000" b="1">
                  <a:solidFill>
                    <a:schemeClr val="accent6">
                      <a:lumMod val="75000"/>
                    </a:schemeClr>
                  </a:solidFill>
                </a:rPr>
                <a:t>$1486M</a:t>
              </a:r>
            </a:p>
          </p:txBody>
        </p:sp>
        <p:sp>
          <p:nvSpPr>
            <p:cNvPr id="189" name="Rectangle 188">
              <a:extLst>
                <a:ext uri="{FF2B5EF4-FFF2-40B4-BE49-F238E27FC236}">
                  <a16:creationId xmlns:a16="http://schemas.microsoft.com/office/drawing/2014/main" id="{22CF3AF9-BD39-26C6-354C-2FC2D0AD6CB9}"/>
                </a:ext>
              </a:extLst>
            </p:cNvPr>
            <p:cNvSpPr/>
            <p:nvPr/>
          </p:nvSpPr>
          <p:spPr>
            <a:xfrm>
              <a:off x="6232428" y="203194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$225M                 </a:t>
              </a:r>
              <a:r>
                <a:rPr lang="en-GB" sz="1000" b="1">
                  <a:solidFill>
                    <a:schemeClr val="accent6">
                      <a:lumMod val="75000"/>
                    </a:schemeClr>
                  </a:solidFill>
                </a:rPr>
                <a:t>$287M</a:t>
              </a:r>
            </a:p>
          </p:txBody>
        </p:sp>
        <p:sp>
          <p:nvSpPr>
            <p:cNvPr id="190" name="Rectangle 189">
              <a:extLst>
                <a:ext uri="{FF2B5EF4-FFF2-40B4-BE49-F238E27FC236}">
                  <a16:creationId xmlns:a16="http://schemas.microsoft.com/office/drawing/2014/main" id="{8AE19A5F-4C6F-32F5-0C6B-580280775294}"/>
                </a:ext>
              </a:extLst>
            </p:cNvPr>
            <p:cNvSpPr/>
            <p:nvPr/>
          </p:nvSpPr>
          <p:spPr>
            <a:xfrm>
              <a:off x="6232428" y="2466241"/>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$176M                </a:t>
              </a:r>
              <a:r>
                <a:rPr lang="en-GB" sz="1000" b="1">
                  <a:solidFill>
                    <a:schemeClr val="accent6">
                      <a:lumMod val="75000"/>
                    </a:schemeClr>
                  </a:solidFill>
                </a:rPr>
                <a:t>$246M</a:t>
              </a:r>
            </a:p>
          </p:txBody>
        </p:sp>
        <p:sp>
          <p:nvSpPr>
            <p:cNvPr id="191" name="Rectangle 190">
              <a:extLst>
                <a:ext uri="{FF2B5EF4-FFF2-40B4-BE49-F238E27FC236}">
                  <a16:creationId xmlns:a16="http://schemas.microsoft.com/office/drawing/2014/main" id="{7172342D-B111-F87E-C067-3ED58622D901}"/>
                </a:ext>
              </a:extLst>
            </p:cNvPr>
            <p:cNvSpPr/>
            <p:nvPr/>
          </p:nvSpPr>
          <p:spPr>
            <a:xfrm>
              <a:off x="6232428" y="288956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$137M                 </a:t>
              </a:r>
              <a:r>
                <a:rPr lang="en-GB" sz="1000" b="1">
                  <a:solidFill>
                    <a:schemeClr val="accent6">
                      <a:lumMod val="75000"/>
                    </a:schemeClr>
                  </a:solidFill>
                </a:rPr>
                <a:t>$135M</a:t>
              </a:r>
            </a:p>
          </p:txBody>
        </p:sp>
        <p:sp>
          <p:nvSpPr>
            <p:cNvPr id="192" name="Rectangle 191">
              <a:extLst>
                <a:ext uri="{FF2B5EF4-FFF2-40B4-BE49-F238E27FC236}">
                  <a16:creationId xmlns:a16="http://schemas.microsoft.com/office/drawing/2014/main" id="{8E4B83B2-8E86-5401-6D1D-788311E7D64B}"/>
                </a:ext>
              </a:extLst>
            </p:cNvPr>
            <p:cNvSpPr/>
            <p:nvPr/>
          </p:nvSpPr>
          <p:spPr>
            <a:xfrm>
              <a:off x="6232428" y="3295143"/>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$-142M              </a:t>
              </a:r>
              <a:r>
                <a:rPr lang="en-GB" sz="1000" b="1">
                  <a:solidFill>
                    <a:schemeClr val="accent6">
                      <a:lumMod val="75000"/>
                    </a:schemeClr>
                  </a:solidFill>
                </a:rPr>
                <a:t> $245M</a:t>
              </a:r>
            </a:p>
          </p:txBody>
        </p:sp>
        <p:sp>
          <p:nvSpPr>
            <p:cNvPr id="193" name="Rectangle 192">
              <a:extLst>
                <a:ext uri="{FF2B5EF4-FFF2-40B4-BE49-F238E27FC236}">
                  <a16:creationId xmlns:a16="http://schemas.microsoft.com/office/drawing/2014/main" id="{545F829D-E441-3A05-E722-C76B49AB0774}"/>
                </a:ext>
              </a:extLst>
            </p:cNvPr>
            <p:cNvSpPr/>
            <p:nvPr/>
          </p:nvSpPr>
          <p:spPr>
            <a:xfrm>
              <a:off x="6232428" y="4142568"/>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accent6">
                      <a:lumMod val="75000"/>
                    </a:schemeClr>
                  </a:solidFill>
                </a:rPr>
                <a:t>$17.79B</a:t>
              </a:r>
            </a:p>
          </p:txBody>
        </p:sp>
        <p:sp>
          <p:nvSpPr>
            <p:cNvPr id="194" name="Rectangle 193">
              <a:extLst>
                <a:ext uri="{FF2B5EF4-FFF2-40B4-BE49-F238E27FC236}">
                  <a16:creationId xmlns:a16="http://schemas.microsoft.com/office/drawing/2014/main" id="{E8887B62-26DE-23AC-6204-B7CDF693C9E5}"/>
                </a:ext>
              </a:extLst>
            </p:cNvPr>
            <p:cNvSpPr/>
            <p:nvPr/>
          </p:nvSpPr>
          <p:spPr>
            <a:xfrm>
              <a:off x="6232428" y="372357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accent6">
                      <a:lumMod val="75000"/>
                    </a:schemeClr>
                  </a:solidFill>
                </a:rPr>
                <a:t>$23.06B</a:t>
              </a:r>
            </a:p>
          </p:txBody>
        </p:sp>
        <p:sp>
          <p:nvSpPr>
            <p:cNvPr id="195" name="Rectangle 194">
              <a:extLst>
                <a:ext uri="{FF2B5EF4-FFF2-40B4-BE49-F238E27FC236}">
                  <a16:creationId xmlns:a16="http://schemas.microsoft.com/office/drawing/2014/main" id="{A6A00A5D-2018-FDF7-25C8-691ABC40BA20}"/>
                </a:ext>
              </a:extLst>
            </p:cNvPr>
            <p:cNvSpPr/>
            <p:nvPr/>
          </p:nvSpPr>
          <p:spPr>
            <a:xfrm>
              <a:off x="6232428" y="457963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accent6">
                      <a:lumMod val="75000"/>
                    </a:schemeClr>
                  </a:solidFill>
                </a:rPr>
                <a:t>$21.13B</a:t>
              </a:r>
            </a:p>
          </p:txBody>
        </p:sp>
        <p:sp>
          <p:nvSpPr>
            <p:cNvPr id="196" name="Rectangle 195">
              <a:extLst>
                <a:ext uri="{FF2B5EF4-FFF2-40B4-BE49-F238E27FC236}">
                  <a16:creationId xmlns:a16="http://schemas.microsoft.com/office/drawing/2014/main" id="{CEBDE001-A028-6803-93AB-F004375FE034}"/>
                </a:ext>
              </a:extLst>
            </p:cNvPr>
            <p:cNvSpPr/>
            <p:nvPr/>
          </p:nvSpPr>
          <p:spPr>
            <a:xfrm>
              <a:off x="6232428" y="499857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accent6">
                      <a:lumMod val="75000"/>
                    </a:schemeClr>
                  </a:solidFill>
                </a:rPr>
                <a:t>$20.07B</a:t>
              </a:r>
            </a:p>
          </p:txBody>
        </p:sp>
        <p:sp>
          <p:nvSpPr>
            <p:cNvPr id="197" name="Rectangle 196">
              <a:extLst>
                <a:ext uri="{FF2B5EF4-FFF2-40B4-BE49-F238E27FC236}">
                  <a16:creationId xmlns:a16="http://schemas.microsoft.com/office/drawing/2014/main" id="{DCEDAD80-8D9D-9B86-7706-F287058D724F}"/>
                </a:ext>
              </a:extLst>
            </p:cNvPr>
            <p:cNvSpPr/>
            <p:nvPr/>
          </p:nvSpPr>
          <p:spPr>
            <a:xfrm>
              <a:off x="6232428" y="5574516"/>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accent6">
                      <a:lumMod val="75000"/>
                    </a:schemeClr>
                  </a:solidFill>
                </a:rPr>
                <a:t>$136.12</a:t>
              </a:r>
            </a:p>
          </p:txBody>
        </p:sp>
        <p:sp>
          <p:nvSpPr>
            <p:cNvPr id="198" name="Rectangle 197">
              <a:extLst>
                <a:ext uri="{FF2B5EF4-FFF2-40B4-BE49-F238E27FC236}">
                  <a16:creationId xmlns:a16="http://schemas.microsoft.com/office/drawing/2014/main" id="{E0EDD746-6DB1-AD64-8DAD-BD3E7DEA41E9}"/>
                </a:ext>
              </a:extLst>
            </p:cNvPr>
            <p:cNvSpPr/>
            <p:nvPr/>
          </p:nvSpPr>
          <p:spPr>
            <a:xfrm>
              <a:off x="6232428" y="6005014"/>
              <a:ext cx="1876926"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accent6">
                      <a:lumMod val="75000"/>
                    </a:schemeClr>
                  </a:solidFill>
                </a:rPr>
                <a:t>+61.1%</a:t>
              </a:r>
            </a:p>
          </p:txBody>
        </p:sp>
        <p:cxnSp>
          <p:nvCxnSpPr>
            <p:cNvPr id="201" name="Straight Arrow Connector 200">
              <a:extLst>
                <a:ext uri="{FF2B5EF4-FFF2-40B4-BE49-F238E27FC236}">
                  <a16:creationId xmlns:a16="http://schemas.microsoft.com/office/drawing/2014/main" id="{1DE5833E-BA3F-14AA-4432-6E125019FF6E}"/>
                </a:ext>
              </a:extLst>
            </p:cNvPr>
            <p:cNvCxnSpPr>
              <a:cxnSpLocks/>
            </p:cNvCxnSpPr>
            <p:nvPr/>
          </p:nvCxnSpPr>
          <p:spPr>
            <a:xfrm>
              <a:off x="2887580" y="133550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2" name="Straight Arrow Connector 201">
              <a:extLst>
                <a:ext uri="{FF2B5EF4-FFF2-40B4-BE49-F238E27FC236}">
                  <a16:creationId xmlns:a16="http://schemas.microsoft.com/office/drawing/2014/main" id="{29541D2F-FB30-1528-DD80-B794CCAC77D0}"/>
                </a:ext>
              </a:extLst>
            </p:cNvPr>
            <p:cNvCxnSpPr>
              <a:cxnSpLocks/>
            </p:cNvCxnSpPr>
            <p:nvPr/>
          </p:nvCxnSpPr>
          <p:spPr>
            <a:xfrm>
              <a:off x="2887580" y="177447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3" name="Straight Arrow Connector 202">
              <a:extLst>
                <a:ext uri="{FF2B5EF4-FFF2-40B4-BE49-F238E27FC236}">
                  <a16:creationId xmlns:a16="http://schemas.microsoft.com/office/drawing/2014/main" id="{BF63500E-23A1-B1B4-6067-6578A6003F08}"/>
                </a:ext>
              </a:extLst>
            </p:cNvPr>
            <p:cNvCxnSpPr>
              <a:cxnSpLocks/>
            </p:cNvCxnSpPr>
            <p:nvPr/>
          </p:nvCxnSpPr>
          <p:spPr>
            <a:xfrm>
              <a:off x="2887580" y="221344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5" name="Straight Arrow Connector 204">
              <a:extLst>
                <a:ext uri="{FF2B5EF4-FFF2-40B4-BE49-F238E27FC236}">
                  <a16:creationId xmlns:a16="http://schemas.microsoft.com/office/drawing/2014/main" id="{730C33A1-0B2F-6751-8D30-89A2C4B3A101}"/>
                </a:ext>
              </a:extLst>
            </p:cNvPr>
            <p:cNvCxnSpPr>
              <a:cxnSpLocks/>
            </p:cNvCxnSpPr>
            <p:nvPr/>
          </p:nvCxnSpPr>
          <p:spPr>
            <a:xfrm>
              <a:off x="2887580" y="265241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7" name="Straight Arrow Connector 206">
              <a:extLst>
                <a:ext uri="{FF2B5EF4-FFF2-40B4-BE49-F238E27FC236}">
                  <a16:creationId xmlns:a16="http://schemas.microsoft.com/office/drawing/2014/main" id="{9C116811-BA33-B3A6-FA8F-FAB081CD1947}"/>
                </a:ext>
              </a:extLst>
            </p:cNvPr>
            <p:cNvCxnSpPr>
              <a:cxnSpLocks/>
            </p:cNvCxnSpPr>
            <p:nvPr/>
          </p:nvCxnSpPr>
          <p:spPr>
            <a:xfrm>
              <a:off x="2887580" y="309138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9" name="Straight Arrow Connector 208">
              <a:extLst>
                <a:ext uri="{FF2B5EF4-FFF2-40B4-BE49-F238E27FC236}">
                  <a16:creationId xmlns:a16="http://schemas.microsoft.com/office/drawing/2014/main" id="{C4F2C61B-90EA-E981-9AC1-AC67D86BCB10}"/>
                </a:ext>
              </a:extLst>
            </p:cNvPr>
            <p:cNvCxnSpPr>
              <a:cxnSpLocks/>
            </p:cNvCxnSpPr>
            <p:nvPr/>
          </p:nvCxnSpPr>
          <p:spPr>
            <a:xfrm>
              <a:off x="2887580" y="3486515"/>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3" name="Straight Arrow Connector 212">
              <a:extLst>
                <a:ext uri="{FF2B5EF4-FFF2-40B4-BE49-F238E27FC236}">
                  <a16:creationId xmlns:a16="http://schemas.microsoft.com/office/drawing/2014/main" id="{4E35A9B4-A12D-40D0-8E6D-D17A7DBCED99}"/>
                </a:ext>
              </a:extLst>
            </p:cNvPr>
            <p:cNvCxnSpPr>
              <a:cxnSpLocks/>
            </p:cNvCxnSpPr>
            <p:nvPr/>
          </p:nvCxnSpPr>
          <p:spPr>
            <a:xfrm>
              <a:off x="4943936" y="133550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4" name="Straight Arrow Connector 213">
              <a:extLst>
                <a:ext uri="{FF2B5EF4-FFF2-40B4-BE49-F238E27FC236}">
                  <a16:creationId xmlns:a16="http://schemas.microsoft.com/office/drawing/2014/main" id="{9D2BA433-A52C-289D-5D35-1645B014FA9A}"/>
                </a:ext>
              </a:extLst>
            </p:cNvPr>
            <p:cNvCxnSpPr>
              <a:cxnSpLocks/>
            </p:cNvCxnSpPr>
            <p:nvPr/>
          </p:nvCxnSpPr>
          <p:spPr>
            <a:xfrm>
              <a:off x="4943936" y="177447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5" name="Straight Arrow Connector 214">
              <a:extLst>
                <a:ext uri="{FF2B5EF4-FFF2-40B4-BE49-F238E27FC236}">
                  <a16:creationId xmlns:a16="http://schemas.microsoft.com/office/drawing/2014/main" id="{CCBB99BD-5729-26D5-30AE-43B98A00FAB9}"/>
                </a:ext>
              </a:extLst>
            </p:cNvPr>
            <p:cNvCxnSpPr>
              <a:cxnSpLocks/>
            </p:cNvCxnSpPr>
            <p:nvPr/>
          </p:nvCxnSpPr>
          <p:spPr>
            <a:xfrm>
              <a:off x="4943936" y="221344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7" name="Straight Arrow Connector 216">
              <a:extLst>
                <a:ext uri="{FF2B5EF4-FFF2-40B4-BE49-F238E27FC236}">
                  <a16:creationId xmlns:a16="http://schemas.microsoft.com/office/drawing/2014/main" id="{83BE9901-9459-36CC-15D3-CC99C89E01F1}"/>
                </a:ext>
              </a:extLst>
            </p:cNvPr>
            <p:cNvCxnSpPr>
              <a:cxnSpLocks/>
            </p:cNvCxnSpPr>
            <p:nvPr/>
          </p:nvCxnSpPr>
          <p:spPr>
            <a:xfrm>
              <a:off x="4943936" y="265241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9" name="Straight Arrow Connector 218">
              <a:extLst>
                <a:ext uri="{FF2B5EF4-FFF2-40B4-BE49-F238E27FC236}">
                  <a16:creationId xmlns:a16="http://schemas.microsoft.com/office/drawing/2014/main" id="{CAB7357B-97A9-2D66-3951-C0433B6C779F}"/>
                </a:ext>
              </a:extLst>
            </p:cNvPr>
            <p:cNvCxnSpPr>
              <a:cxnSpLocks/>
            </p:cNvCxnSpPr>
            <p:nvPr/>
          </p:nvCxnSpPr>
          <p:spPr>
            <a:xfrm>
              <a:off x="4943936" y="309138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1" name="Straight Arrow Connector 220">
              <a:extLst>
                <a:ext uri="{FF2B5EF4-FFF2-40B4-BE49-F238E27FC236}">
                  <a16:creationId xmlns:a16="http://schemas.microsoft.com/office/drawing/2014/main" id="{05B6BD71-A932-82B8-6477-F3F5B83542F8}"/>
                </a:ext>
              </a:extLst>
            </p:cNvPr>
            <p:cNvCxnSpPr>
              <a:cxnSpLocks/>
            </p:cNvCxnSpPr>
            <p:nvPr/>
          </p:nvCxnSpPr>
          <p:spPr>
            <a:xfrm>
              <a:off x="4943936" y="3486515"/>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5" name="Straight Arrow Connector 224">
              <a:extLst>
                <a:ext uri="{FF2B5EF4-FFF2-40B4-BE49-F238E27FC236}">
                  <a16:creationId xmlns:a16="http://schemas.microsoft.com/office/drawing/2014/main" id="{DC36EB94-DD68-FF0B-3180-9330A3C1A643}"/>
                </a:ext>
              </a:extLst>
            </p:cNvPr>
            <p:cNvCxnSpPr>
              <a:cxnSpLocks/>
            </p:cNvCxnSpPr>
            <p:nvPr/>
          </p:nvCxnSpPr>
          <p:spPr>
            <a:xfrm>
              <a:off x="6985679" y="133550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6" name="Straight Arrow Connector 225">
              <a:extLst>
                <a:ext uri="{FF2B5EF4-FFF2-40B4-BE49-F238E27FC236}">
                  <a16:creationId xmlns:a16="http://schemas.microsoft.com/office/drawing/2014/main" id="{87F61E2A-87A9-E20A-8C18-117AB7861436}"/>
                </a:ext>
              </a:extLst>
            </p:cNvPr>
            <p:cNvCxnSpPr>
              <a:cxnSpLocks/>
            </p:cNvCxnSpPr>
            <p:nvPr/>
          </p:nvCxnSpPr>
          <p:spPr>
            <a:xfrm>
              <a:off x="6985679" y="177447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7" name="Straight Arrow Connector 226">
              <a:extLst>
                <a:ext uri="{FF2B5EF4-FFF2-40B4-BE49-F238E27FC236}">
                  <a16:creationId xmlns:a16="http://schemas.microsoft.com/office/drawing/2014/main" id="{64F35AF7-731A-8568-0EAA-283452098E01}"/>
                </a:ext>
              </a:extLst>
            </p:cNvPr>
            <p:cNvCxnSpPr>
              <a:cxnSpLocks/>
            </p:cNvCxnSpPr>
            <p:nvPr/>
          </p:nvCxnSpPr>
          <p:spPr>
            <a:xfrm>
              <a:off x="6985679" y="221344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9" name="Straight Arrow Connector 228">
              <a:extLst>
                <a:ext uri="{FF2B5EF4-FFF2-40B4-BE49-F238E27FC236}">
                  <a16:creationId xmlns:a16="http://schemas.microsoft.com/office/drawing/2014/main" id="{59213116-407A-3D36-CB9E-A92BC10B8C18}"/>
                </a:ext>
              </a:extLst>
            </p:cNvPr>
            <p:cNvCxnSpPr>
              <a:cxnSpLocks/>
            </p:cNvCxnSpPr>
            <p:nvPr/>
          </p:nvCxnSpPr>
          <p:spPr>
            <a:xfrm>
              <a:off x="6985679" y="265241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1" name="Straight Arrow Connector 230">
              <a:extLst>
                <a:ext uri="{FF2B5EF4-FFF2-40B4-BE49-F238E27FC236}">
                  <a16:creationId xmlns:a16="http://schemas.microsoft.com/office/drawing/2014/main" id="{9B099B0B-6F5C-A53D-DFA4-BC07B30B2EB2}"/>
                </a:ext>
              </a:extLst>
            </p:cNvPr>
            <p:cNvCxnSpPr>
              <a:cxnSpLocks/>
            </p:cNvCxnSpPr>
            <p:nvPr/>
          </p:nvCxnSpPr>
          <p:spPr>
            <a:xfrm>
              <a:off x="6985679" y="3091386"/>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3" name="Straight Arrow Connector 232">
              <a:extLst>
                <a:ext uri="{FF2B5EF4-FFF2-40B4-BE49-F238E27FC236}">
                  <a16:creationId xmlns:a16="http://schemas.microsoft.com/office/drawing/2014/main" id="{2C936E7F-F49B-079B-94EF-4A507F43A721}"/>
                </a:ext>
              </a:extLst>
            </p:cNvPr>
            <p:cNvCxnSpPr>
              <a:cxnSpLocks/>
            </p:cNvCxnSpPr>
            <p:nvPr/>
          </p:nvCxnSpPr>
          <p:spPr>
            <a:xfrm>
              <a:off x="6985679" y="3486515"/>
              <a:ext cx="336884"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40" name="TextBox 239">
            <a:extLst>
              <a:ext uri="{FF2B5EF4-FFF2-40B4-BE49-F238E27FC236}">
                <a16:creationId xmlns:a16="http://schemas.microsoft.com/office/drawing/2014/main" id="{CA29573A-C8A1-121A-5006-EF2B8DCD4F6D}"/>
              </a:ext>
            </a:extLst>
          </p:cNvPr>
          <p:cNvSpPr txBox="1"/>
          <p:nvPr/>
        </p:nvSpPr>
        <p:spPr>
          <a:xfrm>
            <a:off x="169332" y="41993"/>
            <a:ext cx="10066867" cy="461665"/>
          </a:xfrm>
          <a:prstGeom prst="rect">
            <a:avLst/>
          </a:prstGeom>
          <a:noFill/>
        </p:spPr>
        <p:txBody>
          <a:bodyPr wrap="square">
            <a:spAutoFit/>
          </a:bodyPr>
          <a:lstStyle/>
          <a:p>
            <a:r>
              <a:rPr lang="en-GB" sz="2400">
                <a:latin typeface="Times New Roman" panose="02020603050405020304" pitchFamily="18" charset="0"/>
                <a:cs typeface="Times New Roman" panose="02020603050405020304" pitchFamily="18" charset="0"/>
              </a:rPr>
              <a:t>Valuation – </a:t>
            </a:r>
            <a:r>
              <a:rPr lang="en-GB" sz="1400">
                <a:latin typeface="Times New Roman" panose="02020603050405020304" pitchFamily="18" charset="0"/>
                <a:cs typeface="Times New Roman" panose="02020603050405020304" pitchFamily="18" charset="0"/>
              </a:rPr>
              <a:t>Scenario analysis shows how there are large investment incentives within each market scenario</a:t>
            </a:r>
            <a:endParaRPr lang="en-GB" sz="2400"/>
          </a:p>
        </p:txBody>
      </p:sp>
      <p:sp>
        <p:nvSpPr>
          <p:cNvPr id="241" name="Rectangle: Rounded Corners 240">
            <a:extLst>
              <a:ext uri="{FF2B5EF4-FFF2-40B4-BE49-F238E27FC236}">
                <a16:creationId xmlns:a16="http://schemas.microsoft.com/office/drawing/2014/main" id="{8ED8866A-924F-9482-CBB9-415B0B133954}"/>
              </a:ext>
            </a:extLst>
          </p:cNvPr>
          <p:cNvSpPr/>
          <p:nvPr/>
        </p:nvSpPr>
        <p:spPr>
          <a:xfrm>
            <a:off x="6653462" y="547595"/>
            <a:ext cx="5364365" cy="277434"/>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Sensitivity analysis</a:t>
            </a:r>
            <a:endParaRPr lang="en-GB" sz="1400" b="1">
              <a:solidFill>
                <a:schemeClr val="tx1"/>
              </a:solidFill>
            </a:endParaRPr>
          </a:p>
        </p:txBody>
      </p:sp>
      <p:pic>
        <p:nvPicPr>
          <p:cNvPr id="8" name="Picture 7">
            <a:extLst>
              <a:ext uri="{FF2B5EF4-FFF2-40B4-BE49-F238E27FC236}">
                <a16:creationId xmlns:a16="http://schemas.microsoft.com/office/drawing/2014/main" id="{CA43D984-246C-8637-6926-EECF19114BB6}"/>
              </a:ext>
            </a:extLst>
          </p:cNvPr>
          <p:cNvPicPr>
            <a:picLocks noChangeAspect="1"/>
          </p:cNvPicPr>
          <p:nvPr/>
        </p:nvPicPr>
        <p:blipFill>
          <a:blip r:embed="rId5"/>
          <a:stretch>
            <a:fillRect/>
          </a:stretch>
        </p:blipFill>
        <p:spPr>
          <a:xfrm>
            <a:off x="6378341" y="2806166"/>
            <a:ext cx="5620998" cy="1822109"/>
          </a:xfrm>
          <a:prstGeom prst="rect">
            <a:avLst/>
          </a:prstGeom>
        </p:spPr>
      </p:pic>
      <p:pic>
        <p:nvPicPr>
          <p:cNvPr id="9" name="Picture 8" descr="A graph of a graph&#10;&#10;AI-generated content may be incorrect.">
            <a:extLst>
              <a:ext uri="{FF2B5EF4-FFF2-40B4-BE49-F238E27FC236}">
                <a16:creationId xmlns:a16="http://schemas.microsoft.com/office/drawing/2014/main" id="{44999114-FB25-4740-8919-0B3004BAC649}"/>
              </a:ext>
            </a:extLst>
          </p:cNvPr>
          <p:cNvPicPr>
            <a:picLocks noChangeAspect="1"/>
          </p:cNvPicPr>
          <p:nvPr/>
        </p:nvPicPr>
        <p:blipFill>
          <a:blip r:embed="rId6"/>
          <a:srcRect l="-1156" r="342" b="-608"/>
          <a:stretch>
            <a:fillRect/>
          </a:stretch>
        </p:blipFill>
        <p:spPr>
          <a:xfrm>
            <a:off x="6648649" y="4740086"/>
            <a:ext cx="3349864" cy="2091912"/>
          </a:xfrm>
          <a:prstGeom prst="rect">
            <a:avLst/>
          </a:prstGeom>
        </p:spPr>
      </p:pic>
      <p:sp>
        <p:nvSpPr>
          <p:cNvPr id="7" name="TextBox 6">
            <a:extLst>
              <a:ext uri="{FF2B5EF4-FFF2-40B4-BE49-F238E27FC236}">
                <a16:creationId xmlns:a16="http://schemas.microsoft.com/office/drawing/2014/main" id="{6B2211C8-0999-6F0A-C98A-C4E3BAEBB452}"/>
              </a:ext>
            </a:extLst>
          </p:cNvPr>
          <p:cNvSpPr txBox="1"/>
          <p:nvPr/>
        </p:nvSpPr>
        <p:spPr>
          <a:xfrm>
            <a:off x="10030617" y="4862249"/>
            <a:ext cx="200117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dirty="0"/>
              <a:t>Probability Density of Share price for Y28 with respect to distribution of TGR using DCF valuation model. Assumes TGR follows a normal distribution and uses past ~6 years of data. Probability of Share price being greater than or equal to target price of $124.81 is 71%.</a:t>
            </a:r>
          </a:p>
        </p:txBody>
      </p:sp>
      <p:pic>
        <p:nvPicPr>
          <p:cNvPr id="6" name="Picture 5">
            <a:extLst>
              <a:ext uri="{FF2B5EF4-FFF2-40B4-BE49-F238E27FC236}">
                <a16:creationId xmlns:a16="http://schemas.microsoft.com/office/drawing/2014/main" id="{822A0BA4-C2D5-C761-458C-ABCE761A1212}"/>
              </a:ext>
            </a:extLst>
          </p:cNvPr>
          <p:cNvPicPr>
            <a:picLocks noChangeAspect="1"/>
          </p:cNvPicPr>
          <p:nvPr/>
        </p:nvPicPr>
        <p:blipFill>
          <a:blip r:embed="rId7"/>
          <a:stretch>
            <a:fillRect/>
          </a:stretch>
        </p:blipFill>
        <p:spPr>
          <a:xfrm>
            <a:off x="6290265" y="868087"/>
            <a:ext cx="5620998" cy="1822109"/>
          </a:xfrm>
          <a:prstGeom prst="rect">
            <a:avLst/>
          </a:prstGeom>
        </p:spPr>
      </p:pic>
    </p:spTree>
    <p:extLst>
      <p:ext uri="{BB962C8B-B14F-4D97-AF65-F5344CB8AC3E}">
        <p14:creationId xmlns:p14="http://schemas.microsoft.com/office/powerpoint/2010/main" val="2069911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descr="A diagram of a network&#10;&#10;AI-generated content may be incorrect.">
            <a:extLst>
              <a:ext uri="{FF2B5EF4-FFF2-40B4-BE49-F238E27FC236}">
                <a16:creationId xmlns:a16="http://schemas.microsoft.com/office/drawing/2014/main" id="{CDD84412-9989-605F-D4C5-6416472DF042}"/>
              </a:ext>
            </a:extLst>
          </p:cNvPr>
          <p:cNvPicPr>
            <a:picLocks noChangeAspect="1"/>
          </p:cNvPicPr>
          <p:nvPr/>
        </p:nvPicPr>
        <p:blipFill>
          <a:blip r:embed="rId3"/>
          <a:stretch>
            <a:fillRect/>
          </a:stretch>
        </p:blipFill>
        <p:spPr>
          <a:xfrm>
            <a:off x="6911815" y="3866443"/>
            <a:ext cx="2284027" cy="1968740"/>
          </a:xfrm>
          <a:prstGeom prst="rect">
            <a:avLst/>
          </a:prstGeom>
        </p:spPr>
      </p:pic>
      <p:sp>
        <p:nvSpPr>
          <p:cNvPr id="68" name="Rectangle 67">
            <a:extLst>
              <a:ext uri="{FF2B5EF4-FFF2-40B4-BE49-F238E27FC236}">
                <a16:creationId xmlns:a16="http://schemas.microsoft.com/office/drawing/2014/main" id="{CAF4805A-B162-10A8-4ABA-4BE363E2E194}"/>
              </a:ext>
            </a:extLst>
          </p:cNvPr>
          <p:cNvSpPr/>
          <p:nvPr/>
        </p:nvSpPr>
        <p:spPr>
          <a:xfrm>
            <a:off x="6929271" y="6023531"/>
            <a:ext cx="5057222" cy="74873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t>S</a:t>
            </a:r>
            <a:endParaRPr lang="en-US" dirty="0"/>
          </a:p>
        </p:txBody>
      </p:sp>
      <p:sp>
        <p:nvSpPr>
          <p:cNvPr id="66" name="Rectangle 65">
            <a:extLst>
              <a:ext uri="{FF2B5EF4-FFF2-40B4-BE49-F238E27FC236}">
                <a16:creationId xmlns:a16="http://schemas.microsoft.com/office/drawing/2014/main" id="{68CD4940-1F60-49AA-61A5-BC29677AA43B}"/>
              </a:ext>
            </a:extLst>
          </p:cNvPr>
          <p:cNvSpPr/>
          <p:nvPr/>
        </p:nvSpPr>
        <p:spPr>
          <a:xfrm>
            <a:off x="6929272" y="3214570"/>
            <a:ext cx="5068427" cy="60732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a:extLst>
              <a:ext uri="{FF2B5EF4-FFF2-40B4-BE49-F238E27FC236}">
                <a16:creationId xmlns:a16="http://schemas.microsoft.com/office/drawing/2014/main" id="{CDF045C1-E86D-C07D-4DCD-33DD5094B61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95469" y="88853"/>
            <a:ext cx="1514453" cy="34289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6F1F771B-7E62-AAEF-FD4D-BC330413493C}"/>
              </a:ext>
            </a:extLst>
          </p:cNvPr>
          <p:cNvCxnSpPr>
            <a:cxnSpLocks/>
          </p:cNvCxnSpPr>
          <p:nvPr/>
        </p:nvCxnSpPr>
        <p:spPr>
          <a:xfrm>
            <a:off x="169333" y="504536"/>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2E3BF8AA-82F7-E33F-08DB-6C71A5AE61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cxnSp>
        <p:nvCxnSpPr>
          <p:cNvPr id="5" name="Straight Connector 4">
            <a:extLst>
              <a:ext uri="{FF2B5EF4-FFF2-40B4-BE49-F238E27FC236}">
                <a16:creationId xmlns:a16="http://schemas.microsoft.com/office/drawing/2014/main" id="{D518314A-5FC2-C049-AFBF-70571C894D7E}"/>
              </a:ext>
            </a:extLst>
          </p:cNvPr>
          <p:cNvCxnSpPr>
            <a:cxnSpLocks/>
          </p:cNvCxnSpPr>
          <p:nvPr/>
        </p:nvCxnSpPr>
        <p:spPr>
          <a:xfrm>
            <a:off x="3462377" y="1191059"/>
            <a:ext cx="0" cy="5277980"/>
          </a:xfrm>
          <a:prstGeom prst="line">
            <a:avLst/>
          </a:prstGeom>
          <a:ln w="15875"/>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EF8CBCF-2EF9-67FB-6ED7-29CC683689D3}"/>
              </a:ext>
            </a:extLst>
          </p:cNvPr>
          <p:cNvCxnSpPr>
            <a:cxnSpLocks/>
          </p:cNvCxnSpPr>
          <p:nvPr/>
        </p:nvCxnSpPr>
        <p:spPr>
          <a:xfrm flipH="1">
            <a:off x="220257" y="5394968"/>
            <a:ext cx="613876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ED9C919-844F-EA73-CE06-50774D5E6BAB}"/>
              </a:ext>
            </a:extLst>
          </p:cNvPr>
          <p:cNvSpPr txBox="1"/>
          <p:nvPr/>
        </p:nvSpPr>
        <p:spPr>
          <a:xfrm>
            <a:off x="169332" y="41993"/>
            <a:ext cx="10066867" cy="461665"/>
          </a:xfrm>
          <a:prstGeom prst="rect">
            <a:avLst/>
          </a:prstGeom>
          <a:noFill/>
        </p:spPr>
        <p:txBody>
          <a:bodyPr wrap="square">
            <a:spAutoFit/>
          </a:bodyPr>
          <a:lstStyle/>
          <a:p>
            <a:r>
              <a:rPr lang="en-GB" sz="2400">
                <a:latin typeface="Times New Roman" panose="02020603050405020304" pitchFamily="18" charset="0"/>
                <a:cs typeface="Times New Roman" panose="02020603050405020304" pitchFamily="18" charset="0"/>
              </a:rPr>
              <a:t>Assumptions</a:t>
            </a:r>
            <a:endParaRPr lang="en-GB" sz="2400"/>
          </a:p>
        </p:txBody>
      </p:sp>
      <p:sp>
        <p:nvSpPr>
          <p:cNvPr id="19" name="Rectangle 18">
            <a:extLst>
              <a:ext uri="{FF2B5EF4-FFF2-40B4-BE49-F238E27FC236}">
                <a16:creationId xmlns:a16="http://schemas.microsoft.com/office/drawing/2014/main" id="{9EBBC430-3A4B-5DF9-1B09-B0606BF0F9D0}"/>
              </a:ext>
            </a:extLst>
          </p:cNvPr>
          <p:cNvSpPr/>
          <p:nvPr/>
        </p:nvSpPr>
        <p:spPr>
          <a:xfrm>
            <a:off x="252313" y="5484544"/>
            <a:ext cx="1461551" cy="42648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Estimated share price</a:t>
            </a:r>
          </a:p>
        </p:txBody>
      </p:sp>
      <p:sp>
        <p:nvSpPr>
          <p:cNvPr id="20" name="Rectangle 19">
            <a:extLst>
              <a:ext uri="{FF2B5EF4-FFF2-40B4-BE49-F238E27FC236}">
                <a16:creationId xmlns:a16="http://schemas.microsoft.com/office/drawing/2014/main" id="{73D429FB-5D28-CB9C-0808-B44C13244589}"/>
              </a:ext>
            </a:extLst>
          </p:cNvPr>
          <p:cNvSpPr/>
          <p:nvPr/>
        </p:nvSpPr>
        <p:spPr>
          <a:xfrm>
            <a:off x="252314" y="5944540"/>
            <a:ext cx="1461551" cy="42648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Return (%)</a:t>
            </a:r>
          </a:p>
        </p:txBody>
      </p:sp>
      <p:grpSp>
        <p:nvGrpSpPr>
          <p:cNvPr id="65" name="Group 64">
            <a:extLst>
              <a:ext uri="{FF2B5EF4-FFF2-40B4-BE49-F238E27FC236}">
                <a16:creationId xmlns:a16="http://schemas.microsoft.com/office/drawing/2014/main" id="{B38412C5-AE67-DEE0-E864-22C69785421D}"/>
              </a:ext>
            </a:extLst>
          </p:cNvPr>
          <p:cNvGrpSpPr/>
          <p:nvPr/>
        </p:nvGrpSpPr>
        <p:grpSpPr>
          <a:xfrm>
            <a:off x="261533" y="1191059"/>
            <a:ext cx="6410910" cy="4687192"/>
            <a:chOff x="228087" y="873391"/>
            <a:chExt cx="6410910" cy="4687192"/>
          </a:xfrm>
        </p:grpSpPr>
        <p:sp>
          <p:nvSpPr>
            <p:cNvPr id="9" name="Rectangle 8">
              <a:extLst>
                <a:ext uri="{FF2B5EF4-FFF2-40B4-BE49-F238E27FC236}">
                  <a16:creationId xmlns:a16="http://schemas.microsoft.com/office/drawing/2014/main" id="{6EC1D5A7-5FB4-DEFD-0448-D5DA61077CB8}"/>
                </a:ext>
              </a:extLst>
            </p:cNvPr>
            <p:cNvSpPr/>
            <p:nvPr/>
          </p:nvSpPr>
          <p:spPr>
            <a:xfrm>
              <a:off x="228087" y="1163375"/>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Revenue</a:t>
              </a:r>
            </a:p>
          </p:txBody>
        </p:sp>
        <p:sp>
          <p:nvSpPr>
            <p:cNvPr id="10" name="Rectangle 9">
              <a:extLst>
                <a:ext uri="{FF2B5EF4-FFF2-40B4-BE49-F238E27FC236}">
                  <a16:creationId xmlns:a16="http://schemas.microsoft.com/office/drawing/2014/main" id="{3BCEAD3B-4EF6-C64B-3708-7E458BB3047D}"/>
                </a:ext>
              </a:extLst>
            </p:cNvPr>
            <p:cNvSpPr/>
            <p:nvPr/>
          </p:nvSpPr>
          <p:spPr>
            <a:xfrm>
              <a:off x="228087" y="4142569"/>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WACC</a:t>
              </a:r>
            </a:p>
          </p:txBody>
        </p:sp>
        <p:sp>
          <p:nvSpPr>
            <p:cNvPr id="11" name="Rectangle 10">
              <a:extLst>
                <a:ext uri="{FF2B5EF4-FFF2-40B4-BE49-F238E27FC236}">
                  <a16:creationId xmlns:a16="http://schemas.microsoft.com/office/drawing/2014/main" id="{B5E0BEB1-36F8-85F1-7F7F-31D92B0FA8F0}"/>
                </a:ext>
              </a:extLst>
            </p:cNvPr>
            <p:cNvSpPr/>
            <p:nvPr/>
          </p:nvSpPr>
          <p:spPr>
            <a:xfrm>
              <a:off x="228087" y="1595391"/>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EBIT</a:t>
              </a:r>
            </a:p>
          </p:txBody>
        </p:sp>
        <p:sp>
          <p:nvSpPr>
            <p:cNvPr id="12" name="Rectangle 11">
              <a:extLst>
                <a:ext uri="{FF2B5EF4-FFF2-40B4-BE49-F238E27FC236}">
                  <a16:creationId xmlns:a16="http://schemas.microsoft.com/office/drawing/2014/main" id="{593CED9F-95EC-661A-C541-C3CD504A847D}"/>
                </a:ext>
              </a:extLst>
            </p:cNvPr>
            <p:cNvSpPr/>
            <p:nvPr/>
          </p:nvSpPr>
          <p:spPr>
            <a:xfrm>
              <a:off x="228087" y="3728015"/>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Other rev </a:t>
              </a:r>
            </a:p>
          </p:txBody>
        </p:sp>
        <p:sp>
          <p:nvSpPr>
            <p:cNvPr id="13" name="Rectangle 12">
              <a:extLst>
                <a:ext uri="{FF2B5EF4-FFF2-40B4-BE49-F238E27FC236}">
                  <a16:creationId xmlns:a16="http://schemas.microsoft.com/office/drawing/2014/main" id="{5CA707C7-6CB5-7D8E-D490-8DC38066C77D}"/>
                </a:ext>
              </a:extLst>
            </p:cNvPr>
            <p:cNvSpPr/>
            <p:nvPr/>
          </p:nvSpPr>
          <p:spPr>
            <a:xfrm>
              <a:off x="228087" y="3328605"/>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ENV + Water rev</a:t>
              </a:r>
            </a:p>
          </p:txBody>
        </p:sp>
        <p:sp>
          <p:nvSpPr>
            <p:cNvPr id="14" name="Rectangle 13">
              <a:extLst>
                <a:ext uri="{FF2B5EF4-FFF2-40B4-BE49-F238E27FC236}">
                  <a16:creationId xmlns:a16="http://schemas.microsoft.com/office/drawing/2014/main" id="{3C0DAF22-161B-88CA-325B-018D5DC97EAC}"/>
                </a:ext>
              </a:extLst>
            </p:cNvPr>
            <p:cNvSpPr/>
            <p:nvPr/>
          </p:nvSpPr>
          <p:spPr>
            <a:xfrm>
              <a:off x="228087" y="2027407"/>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Advisory rev</a:t>
              </a:r>
            </a:p>
          </p:txBody>
        </p:sp>
        <p:sp>
          <p:nvSpPr>
            <p:cNvPr id="15" name="Rectangle 14">
              <a:extLst>
                <a:ext uri="{FF2B5EF4-FFF2-40B4-BE49-F238E27FC236}">
                  <a16:creationId xmlns:a16="http://schemas.microsoft.com/office/drawing/2014/main" id="{B45459BF-447E-BA6D-BD86-D61EF6AFFE51}"/>
                </a:ext>
              </a:extLst>
            </p:cNvPr>
            <p:cNvSpPr/>
            <p:nvPr/>
          </p:nvSpPr>
          <p:spPr>
            <a:xfrm>
              <a:off x="228087" y="2459427"/>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00" b="1" dirty="0">
                  <a:solidFill>
                    <a:schemeClr val="tx1"/>
                  </a:solidFill>
                </a:rPr>
                <a:t>Construction rev</a:t>
              </a:r>
            </a:p>
          </p:txBody>
        </p:sp>
        <p:sp>
          <p:nvSpPr>
            <p:cNvPr id="16" name="Rectangle 15">
              <a:extLst>
                <a:ext uri="{FF2B5EF4-FFF2-40B4-BE49-F238E27FC236}">
                  <a16:creationId xmlns:a16="http://schemas.microsoft.com/office/drawing/2014/main" id="{E57D52C0-171D-793C-ACC0-51C81D40B6A5}"/>
                </a:ext>
              </a:extLst>
            </p:cNvPr>
            <p:cNvSpPr/>
            <p:nvPr/>
          </p:nvSpPr>
          <p:spPr>
            <a:xfrm>
              <a:off x="228087" y="2891443"/>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Transport rev</a:t>
              </a:r>
            </a:p>
          </p:txBody>
        </p:sp>
        <p:grpSp>
          <p:nvGrpSpPr>
            <p:cNvPr id="33" name="Group 32">
              <a:extLst>
                <a:ext uri="{FF2B5EF4-FFF2-40B4-BE49-F238E27FC236}">
                  <a16:creationId xmlns:a16="http://schemas.microsoft.com/office/drawing/2014/main" id="{91C98C2C-28CE-63A2-73CF-8F2B39C6B6BD}"/>
                </a:ext>
              </a:extLst>
            </p:cNvPr>
            <p:cNvGrpSpPr/>
            <p:nvPr/>
          </p:nvGrpSpPr>
          <p:grpSpPr>
            <a:xfrm>
              <a:off x="1689638" y="873391"/>
              <a:ext cx="1724135" cy="4687192"/>
              <a:chOff x="3212890" y="843643"/>
              <a:chExt cx="1724135" cy="4687192"/>
            </a:xfrm>
          </p:grpSpPr>
          <p:sp>
            <p:nvSpPr>
              <p:cNvPr id="21" name="Rectangle 20">
                <a:extLst>
                  <a:ext uri="{FF2B5EF4-FFF2-40B4-BE49-F238E27FC236}">
                    <a16:creationId xmlns:a16="http://schemas.microsoft.com/office/drawing/2014/main" id="{FFF2480E-43A0-6EB0-3C5F-2A7C0968BC0D}"/>
                  </a:ext>
                </a:extLst>
              </p:cNvPr>
              <p:cNvSpPr/>
              <p:nvPr/>
            </p:nvSpPr>
            <p:spPr>
              <a:xfrm>
                <a:off x="3304964" y="3295144"/>
                <a:ext cx="1539989"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$2.25B                  $2.54B</a:t>
                </a:r>
              </a:p>
            </p:txBody>
          </p:sp>
          <p:sp>
            <p:nvSpPr>
              <p:cNvPr id="22" name="Rectangle 21">
                <a:extLst>
                  <a:ext uri="{FF2B5EF4-FFF2-40B4-BE49-F238E27FC236}">
                    <a16:creationId xmlns:a16="http://schemas.microsoft.com/office/drawing/2014/main" id="{F93DCC63-A382-86A6-A18E-4537AFB8317A}"/>
                  </a:ext>
                </a:extLst>
              </p:cNvPr>
              <p:cNvSpPr/>
              <p:nvPr/>
            </p:nvSpPr>
            <p:spPr>
              <a:xfrm>
                <a:off x="3354877" y="843643"/>
                <a:ext cx="1339595" cy="2934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MODEL</a:t>
                </a:r>
              </a:p>
            </p:txBody>
          </p:sp>
          <p:sp>
            <p:nvSpPr>
              <p:cNvPr id="23" name="Rectangle 22">
                <a:extLst>
                  <a:ext uri="{FF2B5EF4-FFF2-40B4-BE49-F238E27FC236}">
                    <a16:creationId xmlns:a16="http://schemas.microsoft.com/office/drawing/2014/main" id="{D3F63CF7-2454-6D3D-485A-8C105C2E526E}"/>
                  </a:ext>
                </a:extLst>
              </p:cNvPr>
              <p:cNvSpPr/>
              <p:nvPr/>
            </p:nvSpPr>
            <p:spPr>
              <a:xfrm>
                <a:off x="3212890" y="1163351"/>
                <a:ext cx="1724135" cy="3758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dirty="0">
                    <a:solidFill>
                      <a:schemeClr val="tx1"/>
                    </a:solidFill>
                  </a:rPr>
                  <a:t>$16.13B                $18.13B</a:t>
                </a:r>
              </a:p>
            </p:txBody>
          </p:sp>
          <p:sp>
            <p:nvSpPr>
              <p:cNvPr id="24" name="Rectangle 23">
                <a:extLst>
                  <a:ext uri="{FF2B5EF4-FFF2-40B4-BE49-F238E27FC236}">
                    <a16:creationId xmlns:a16="http://schemas.microsoft.com/office/drawing/2014/main" id="{1DFE0630-8256-2E35-640D-F82FB42A18CC}"/>
                  </a:ext>
                </a:extLst>
              </p:cNvPr>
              <p:cNvSpPr/>
              <p:nvPr/>
            </p:nvSpPr>
            <p:spPr>
              <a:xfrm>
                <a:off x="3304964" y="1597649"/>
                <a:ext cx="1539987" cy="3560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$1097M              $1417M</a:t>
                </a:r>
              </a:p>
            </p:txBody>
          </p:sp>
          <p:sp>
            <p:nvSpPr>
              <p:cNvPr id="25" name="Rectangle 24">
                <a:extLst>
                  <a:ext uri="{FF2B5EF4-FFF2-40B4-BE49-F238E27FC236}">
                    <a16:creationId xmlns:a16="http://schemas.microsoft.com/office/drawing/2014/main" id="{0EB3AC7F-E4BC-74A4-3C18-C3E03FA4E27B}"/>
                  </a:ext>
                </a:extLst>
              </p:cNvPr>
              <p:cNvSpPr/>
              <p:nvPr/>
            </p:nvSpPr>
            <p:spPr>
              <a:xfrm>
                <a:off x="3304964" y="2031945"/>
                <a:ext cx="1461551"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$200M                 $400M</a:t>
                </a:r>
              </a:p>
            </p:txBody>
          </p:sp>
          <p:sp>
            <p:nvSpPr>
              <p:cNvPr id="26" name="Rectangle 25">
                <a:extLst>
                  <a:ext uri="{FF2B5EF4-FFF2-40B4-BE49-F238E27FC236}">
                    <a16:creationId xmlns:a16="http://schemas.microsoft.com/office/drawing/2014/main" id="{43335A6C-6CCB-6859-4525-6761C2B650FE}"/>
                  </a:ext>
                </a:extLst>
              </p:cNvPr>
              <p:cNvSpPr/>
              <p:nvPr/>
            </p:nvSpPr>
            <p:spPr>
              <a:xfrm>
                <a:off x="3304964" y="2466242"/>
                <a:ext cx="1461551"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   $3.6B                 $4.03B</a:t>
                </a:r>
              </a:p>
            </p:txBody>
          </p:sp>
          <p:sp>
            <p:nvSpPr>
              <p:cNvPr id="27" name="Rectangle 26">
                <a:extLst>
                  <a:ext uri="{FF2B5EF4-FFF2-40B4-BE49-F238E27FC236}">
                    <a16:creationId xmlns:a16="http://schemas.microsoft.com/office/drawing/2014/main" id="{67BF6D4F-2E8D-5C4E-AEB7-CF762617E284}"/>
                  </a:ext>
                </a:extLst>
              </p:cNvPr>
              <p:cNvSpPr/>
              <p:nvPr/>
            </p:nvSpPr>
            <p:spPr>
              <a:xfrm>
                <a:off x="3304964" y="2889565"/>
                <a:ext cx="1461551"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  $5.6B                   $6.3B</a:t>
                </a:r>
              </a:p>
            </p:txBody>
          </p:sp>
          <p:sp>
            <p:nvSpPr>
              <p:cNvPr id="28" name="Rectangle 27">
                <a:extLst>
                  <a:ext uri="{FF2B5EF4-FFF2-40B4-BE49-F238E27FC236}">
                    <a16:creationId xmlns:a16="http://schemas.microsoft.com/office/drawing/2014/main" id="{2CD310C2-F0B8-EACF-D625-F354288F7739}"/>
                  </a:ext>
                </a:extLst>
              </p:cNvPr>
              <p:cNvSpPr/>
              <p:nvPr/>
            </p:nvSpPr>
            <p:spPr>
              <a:xfrm>
                <a:off x="3304964" y="4142569"/>
                <a:ext cx="1461551"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tx1"/>
                    </a:solidFill>
                  </a:rPr>
                  <a:t>9.04%</a:t>
                </a:r>
              </a:p>
            </p:txBody>
          </p:sp>
          <p:sp>
            <p:nvSpPr>
              <p:cNvPr id="32" name="Rectangle 31">
                <a:extLst>
                  <a:ext uri="{FF2B5EF4-FFF2-40B4-BE49-F238E27FC236}">
                    <a16:creationId xmlns:a16="http://schemas.microsoft.com/office/drawing/2014/main" id="{07830C00-25A8-57A1-2A47-0810A07D8972}"/>
                  </a:ext>
                </a:extLst>
              </p:cNvPr>
              <p:cNvSpPr/>
              <p:nvPr/>
            </p:nvSpPr>
            <p:spPr>
              <a:xfrm>
                <a:off x="3317896" y="5169904"/>
                <a:ext cx="1461551"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tx1"/>
                    </a:solidFill>
                  </a:rPr>
                  <a:t>$124.81</a:t>
                </a:r>
              </a:p>
            </p:txBody>
          </p:sp>
        </p:grpSp>
        <p:sp>
          <p:nvSpPr>
            <p:cNvPr id="41" name="Rectangle 40">
              <a:extLst>
                <a:ext uri="{FF2B5EF4-FFF2-40B4-BE49-F238E27FC236}">
                  <a16:creationId xmlns:a16="http://schemas.microsoft.com/office/drawing/2014/main" id="{E33DFD3D-B789-1C38-928F-9AEB185EB782}"/>
                </a:ext>
              </a:extLst>
            </p:cNvPr>
            <p:cNvSpPr/>
            <p:nvPr/>
          </p:nvSpPr>
          <p:spPr>
            <a:xfrm>
              <a:off x="4154568" y="873391"/>
              <a:ext cx="1481577" cy="2934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COMMENTARY</a:t>
              </a:r>
            </a:p>
          </p:txBody>
        </p:sp>
        <p:sp>
          <p:nvSpPr>
            <p:cNvPr id="53" name="Rectangle 52">
              <a:extLst>
                <a:ext uri="{FF2B5EF4-FFF2-40B4-BE49-F238E27FC236}">
                  <a16:creationId xmlns:a16="http://schemas.microsoft.com/office/drawing/2014/main" id="{F09B6C37-070B-DBDE-9B98-0FC18062ABFC}"/>
                </a:ext>
              </a:extLst>
            </p:cNvPr>
            <p:cNvSpPr/>
            <p:nvPr/>
          </p:nvSpPr>
          <p:spPr>
            <a:xfrm>
              <a:off x="3513906" y="4103989"/>
              <a:ext cx="3125091" cy="4742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Used 5-year average beta of 1.05 and 4% risk-free rate from US treasury returns with a 5.8% market risk premium based on average S&amp;P returns</a:t>
              </a:r>
            </a:p>
          </p:txBody>
        </p:sp>
        <p:sp>
          <p:nvSpPr>
            <p:cNvPr id="54" name="Rectangle 53">
              <a:extLst>
                <a:ext uri="{FF2B5EF4-FFF2-40B4-BE49-F238E27FC236}">
                  <a16:creationId xmlns:a16="http://schemas.microsoft.com/office/drawing/2014/main" id="{49463A98-AA26-169B-E09C-0E29AE4F3067}"/>
                </a:ext>
              </a:extLst>
            </p:cNvPr>
            <p:cNvSpPr/>
            <p:nvPr/>
          </p:nvSpPr>
          <p:spPr>
            <a:xfrm>
              <a:off x="3535654" y="3720706"/>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Building, facilities and other sources of revenue </a:t>
              </a:r>
            </a:p>
          </p:txBody>
        </p:sp>
        <p:sp>
          <p:nvSpPr>
            <p:cNvPr id="55" name="Rectangle 54">
              <a:extLst>
                <a:ext uri="{FF2B5EF4-FFF2-40B4-BE49-F238E27FC236}">
                  <a16:creationId xmlns:a16="http://schemas.microsoft.com/office/drawing/2014/main" id="{DB091D42-74F2-1D4F-426F-64DBCF2D2946}"/>
                </a:ext>
              </a:extLst>
            </p:cNvPr>
            <p:cNvSpPr/>
            <p:nvPr/>
          </p:nvSpPr>
          <p:spPr>
            <a:xfrm>
              <a:off x="3535654" y="3294047"/>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Based on water accounting for 14% of earnings</a:t>
              </a:r>
            </a:p>
          </p:txBody>
        </p:sp>
        <p:sp>
          <p:nvSpPr>
            <p:cNvPr id="56" name="Rectangle 55">
              <a:extLst>
                <a:ext uri="{FF2B5EF4-FFF2-40B4-BE49-F238E27FC236}">
                  <a16:creationId xmlns:a16="http://schemas.microsoft.com/office/drawing/2014/main" id="{9A8C258A-440C-D797-5296-C39420E9FCC2}"/>
                </a:ext>
              </a:extLst>
            </p:cNvPr>
            <p:cNvSpPr/>
            <p:nvPr/>
          </p:nvSpPr>
          <p:spPr>
            <a:xfrm>
              <a:off x="3535654" y="2867388"/>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Accounting for 38% of revenue, tied to large government contracts and public investments</a:t>
              </a:r>
            </a:p>
          </p:txBody>
        </p:sp>
        <p:sp>
          <p:nvSpPr>
            <p:cNvPr id="57" name="Rectangle 56">
              <a:extLst>
                <a:ext uri="{FF2B5EF4-FFF2-40B4-BE49-F238E27FC236}">
                  <a16:creationId xmlns:a16="http://schemas.microsoft.com/office/drawing/2014/main" id="{9058576C-F0C0-0136-45A2-97FCD0E0AACA}"/>
                </a:ext>
              </a:extLst>
            </p:cNvPr>
            <p:cNvSpPr/>
            <p:nvPr/>
          </p:nvSpPr>
          <p:spPr>
            <a:xfrm>
              <a:off x="3535654" y="2440729"/>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 Expected growth through record backlog for projects</a:t>
              </a:r>
            </a:p>
          </p:txBody>
        </p:sp>
        <p:sp>
          <p:nvSpPr>
            <p:cNvPr id="58" name="Rectangle 57">
              <a:extLst>
                <a:ext uri="{FF2B5EF4-FFF2-40B4-BE49-F238E27FC236}">
                  <a16:creationId xmlns:a16="http://schemas.microsoft.com/office/drawing/2014/main" id="{9559016F-F411-7761-7742-5D686EBBB344}"/>
                </a:ext>
              </a:extLst>
            </p:cNvPr>
            <p:cNvSpPr/>
            <p:nvPr/>
          </p:nvSpPr>
          <p:spPr>
            <a:xfrm>
              <a:off x="3535654" y="2014070"/>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Based on company expectations</a:t>
              </a:r>
            </a:p>
          </p:txBody>
        </p:sp>
        <p:sp>
          <p:nvSpPr>
            <p:cNvPr id="59" name="Rectangle 58">
              <a:extLst>
                <a:ext uri="{FF2B5EF4-FFF2-40B4-BE49-F238E27FC236}">
                  <a16:creationId xmlns:a16="http://schemas.microsoft.com/office/drawing/2014/main" id="{7F5CFAF4-74B5-D763-C06D-61888D660907}"/>
                </a:ext>
              </a:extLst>
            </p:cNvPr>
            <p:cNvSpPr/>
            <p:nvPr/>
          </p:nvSpPr>
          <p:spPr>
            <a:xfrm>
              <a:off x="3535654" y="1587411"/>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Margin expansions through automation and a shift towards higher margin services</a:t>
              </a:r>
            </a:p>
          </p:txBody>
        </p:sp>
        <p:sp>
          <p:nvSpPr>
            <p:cNvPr id="60" name="Rectangle 59">
              <a:extLst>
                <a:ext uri="{FF2B5EF4-FFF2-40B4-BE49-F238E27FC236}">
                  <a16:creationId xmlns:a16="http://schemas.microsoft.com/office/drawing/2014/main" id="{2A14B581-F627-0D01-A52D-F156DEFFB6A0}"/>
                </a:ext>
              </a:extLst>
            </p:cNvPr>
            <p:cNvSpPr/>
            <p:nvPr/>
          </p:nvSpPr>
          <p:spPr>
            <a:xfrm>
              <a:off x="3535654" y="1160752"/>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Strong revenue growth from expanding advisory sector, growing backlog and economic tailwinds</a:t>
              </a:r>
            </a:p>
          </p:txBody>
        </p:sp>
      </p:grpSp>
      <p:sp>
        <p:nvSpPr>
          <p:cNvPr id="61" name="Rectangle 60">
            <a:extLst>
              <a:ext uri="{FF2B5EF4-FFF2-40B4-BE49-F238E27FC236}">
                <a16:creationId xmlns:a16="http://schemas.microsoft.com/office/drawing/2014/main" id="{18825967-5731-780A-A974-90079685BC09}"/>
              </a:ext>
            </a:extLst>
          </p:cNvPr>
          <p:cNvSpPr/>
          <p:nvPr/>
        </p:nvSpPr>
        <p:spPr>
          <a:xfrm>
            <a:off x="1815158" y="4055394"/>
            <a:ext cx="1539989"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b="1">
                <a:solidFill>
                  <a:schemeClr val="tx1"/>
                </a:solidFill>
              </a:rPr>
              <a:t>$4.48B                  $4.86B</a:t>
            </a:r>
          </a:p>
        </p:txBody>
      </p:sp>
      <p:grpSp>
        <p:nvGrpSpPr>
          <p:cNvPr id="63" name="Group 62">
            <a:extLst>
              <a:ext uri="{FF2B5EF4-FFF2-40B4-BE49-F238E27FC236}">
                <a16:creationId xmlns:a16="http://schemas.microsoft.com/office/drawing/2014/main" id="{232FBCB4-9EE7-010A-DC77-BA1AD13B74A0}"/>
              </a:ext>
            </a:extLst>
          </p:cNvPr>
          <p:cNvGrpSpPr/>
          <p:nvPr/>
        </p:nvGrpSpPr>
        <p:grpSpPr>
          <a:xfrm>
            <a:off x="2354838" y="1652397"/>
            <a:ext cx="262329" cy="2608840"/>
            <a:chOff x="2329817" y="1335739"/>
            <a:chExt cx="262329" cy="2608840"/>
          </a:xfrm>
        </p:grpSpPr>
        <p:grpSp>
          <p:nvGrpSpPr>
            <p:cNvPr id="40" name="Group 39">
              <a:extLst>
                <a:ext uri="{FF2B5EF4-FFF2-40B4-BE49-F238E27FC236}">
                  <a16:creationId xmlns:a16="http://schemas.microsoft.com/office/drawing/2014/main" id="{946470D2-1264-4998-4C21-B4FF6C404D25}"/>
                </a:ext>
              </a:extLst>
            </p:cNvPr>
            <p:cNvGrpSpPr/>
            <p:nvPr/>
          </p:nvGrpSpPr>
          <p:grpSpPr>
            <a:xfrm>
              <a:off x="2329817" y="1335739"/>
              <a:ext cx="262329" cy="2174035"/>
              <a:chOff x="2260250" y="1335507"/>
              <a:chExt cx="262329" cy="2174035"/>
            </a:xfrm>
          </p:grpSpPr>
          <p:cxnSp>
            <p:nvCxnSpPr>
              <p:cNvPr id="34" name="Straight Arrow Connector 33">
                <a:extLst>
                  <a:ext uri="{FF2B5EF4-FFF2-40B4-BE49-F238E27FC236}">
                    <a16:creationId xmlns:a16="http://schemas.microsoft.com/office/drawing/2014/main" id="{61350700-ECC8-A6CB-7FCE-2CDA51F820DB}"/>
                  </a:ext>
                </a:extLst>
              </p:cNvPr>
              <p:cNvCxnSpPr>
                <a:cxnSpLocks/>
              </p:cNvCxnSpPr>
              <p:nvPr/>
            </p:nvCxnSpPr>
            <p:spPr>
              <a:xfrm>
                <a:off x="2260250" y="1335507"/>
                <a:ext cx="262329"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B0F07818-1852-956D-C1B3-3D7295888928}"/>
                  </a:ext>
                </a:extLst>
              </p:cNvPr>
              <p:cNvCxnSpPr>
                <a:cxnSpLocks/>
              </p:cNvCxnSpPr>
              <p:nvPr/>
            </p:nvCxnSpPr>
            <p:spPr>
              <a:xfrm>
                <a:off x="2260250" y="1770314"/>
                <a:ext cx="262329"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888491C3-C466-0B42-4EB1-7DF6A5D7AB39}"/>
                  </a:ext>
                </a:extLst>
              </p:cNvPr>
              <p:cNvCxnSpPr>
                <a:cxnSpLocks/>
              </p:cNvCxnSpPr>
              <p:nvPr/>
            </p:nvCxnSpPr>
            <p:spPr>
              <a:xfrm>
                <a:off x="2260250" y="2205121"/>
                <a:ext cx="262329"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F7F30474-D4E3-3385-81A6-6D5DBF173ED4}"/>
                  </a:ext>
                </a:extLst>
              </p:cNvPr>
              <p:cNvCxnSpPr>
                <a:cxnSpLocks/>
              </p:cNvCxnSpPr>
              <p:nvPr/>
            </p:nvCxnSpPr>
            <p:spPr>
              <a:xfrm>
                <a:off x="2260250" y="2639927"/>
                <a:ext cx="262329"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5A795107-0AA4-3BCF-C7CB-921A34471D79}"/>
                  </a:ext>
                </a:extLst>
              </p:cNvPr>
              <p:cNvCxnSpPr>
                <a:cxnSpLocks/>
              </p:cNvCxnSpPr>
              <p:nvPr/>
            </p:nvCxnSpPr>
            <p:spPr>
              <a:xfrm>
                <a:off x="2260250" y="3074735"/>
                <a:ext cx="262329"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F6E291B8-4CAB-8624-C857-E44372DF3283}"/>
                  </a:ext>
                </a:extLst>
              </p:cNvPr>
              <p:cNvCxnSpPr>
                <a:cxnSpLocks/>
              </p:cNvCxnSpPr>
              <p:nvPr/>
            </p:nvCxnSpPr>
            <p:spPr>
              <a:xfrm>
                <a:off x="2260250" y="3509542"/>
                <a:ext cx="262329"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62" name="Straight Arrow Connector 61">
              <a:extLst>
                <a:ext uri="{FF2B5EF4-FFF2-40B4-BE49-F238E27FC236}">
                  <a16:creationId xmlns:a16="http://schemas.microsoft.com/office/drawing/2014/main" id="{6449B9FD-E2D1-5485-6640-2C5A843A4F83}"/>
                </a:ext>
              </a:extLst>
            </p:cNvPr>
            <p:cNvCxnSpPr>
              <a:cxnSpLocks/>
            </p:cNvCxnSpPr>
            <p:nvPr/>
          </p:nvCxnSpPr>
          <p:spPr>
            <a:xfrm>
              <a:off x="2329817" y="3944579"/>
              <a:ext cx="262329" cy="0"/>
            </a:xfrm>
            <a:prstGeom prst="straightConnector1">
              <a:avLst/>
            </a:prstGeom>
            <a:ln w="1587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64" name="Rectangle 63">
            <a:extLst>
              <a:ext uri="{FF2B5EF4-FFF2-40B4-BE49-F238E27FC236}">
                <a16:creationId xmlns:a16="http://schemas.microsoft.com/office/drawing/2014/main" id="{994AE31C-B7A8-5257-432B-B2080B2DED25}"/>
              </a:ext>
            </a:extLst>
          </p:cNvPr>
          <p:cNvSpPr/>
          <p:nvPr/>
        </p:nvSpPr>
        <p:spPr>
          <a:xfrm>
            <a:off x="3635114" y="5517320"/>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Target price driven by higher revenue and large EBIT increases, agrees with consensus estimates</a:t>
            </a:r>
          </a:p>
        </p:txBody>
      </p:sp>
      <p:sp>
        <p:nvSpPr>
          <p:cNvPr id="67" name="Rectangle: Rounded Corners 66">
            <a:extLst>
              <a:ext uri="{FF2B5EF4-FFF2-40B4-BE49-F238E27FC236}">
                <a16:creationId xmlns:a16="http://schemas.microsoft.com/office/drawing/2014/main" id="{D1B8C3B1-4723-AEE8-EA39-6CE127EAA438}"/>
              </a:ext>
            </a:extLst>
          </p:cNvPr>
          <p:cNvSpPr/>
          <p:nvPr/>
        </p:nvSpPr>
        <p:spPr>
          <a:xfrm>
            <a:off x="118406" y="904135"/>
            <a:ext cx="6406584" cy="228838"/>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Key assumptions from our base DCF (2025-2028)</a:t>
            </a:r>
            <a:endParaRPr lang="en-GB" sz="1400" b="1">
              <a:solidFill>
                <a:schemeClr val="tx1"/>
              </a:solidFill>
            </a:endParaRPr>
          </a:p>
        </p:txBody>
      </p:sp>
      <p:sp>
        <p:nvSpPr>
          <p:cNvPr id="17" name="TextBox 16">
            <a:extLst>
              <a:ext uri="{FF2B5EF4-FFF2-40B4-BE49-F238E27FC236}">
                <a16:creationId xmlns:a16="http://schemas.microsoft.com/office/drawing/2014/main" id="{4E76269A-C6B0-109B-1196-82CF6BEB0421}"/>
              </a:ext>
            </a:extLst>
          </p:cNvPr>
          <p:cNvSpPr txBox="1"/>
          <p:nvPr/>
        </p:nvSpPr>
        <p:spPr>
          <a:xfrm>
            <a:off x="169332" y="503658"/>
            <a:ext cx="10326137" cy="430887"/>
          </a:xfrm>
          <a:prstGeom prst="rect">
            <a:avLst/>
          </a:prstGeom>
          <a:noFill/>
        </p:spPr>
        <p:txBody>
          <a:bodyPr wrap="square" rtlCol="0">
            <a:spAutoFit/>
          </a:bodyPr>
          <a:lstStyle/>
          <a:p>
            <a:r>
              <a:rPr lang="en-GB" sz="1100" b="1"/>
              <a:t>Our model uses conservative estimates often inspired by consensus projections to generate our base estimated share price. Despite safer estimates, there is still an attractive potential upside fuelled by internal improvements and current market mispricing</a:t>
            </a:r>
          </a:p>
        </p:txBody>
      </p:sp>
      <p:sp>
        <p:nvSpPr>
          <p:cNvPr id="7" name="Rectangle 6">
            <a:extLst>
              <a:ext uri="{FF2B5EF4-FFF2-40B4-BE49-F238E27FC236}">
                <a16:creationId xmlns:a16="http://schemas.microsoft.com/office/drawing/2014/main" id="{85589408-36F7-5863-E82D-5A2FB258B67F}"/>
              </a:ext>
            </a:extLst>
          </p:cNvPr>
          <p:cNvSpPr/>
          <p:nvPr/>
        </p:nvSpPr>
        <p:spPr>
          <a:xfrm>
            <a:off x="261533" y="4874791"/>
            <a:ext cx="1461551" cy="36093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TGR</a:t>
            </a:r>
          </a:p>
        </p:txBody>
      </p:sp>
      <p:sp>
        <p:nvSpPr>
          <p:cNvPr id="29" name="Rectangle 28">
            <a:extLst>
              <a:ext uri="{FF2B5EF4-FFF2-40B4-BE49-F238E27FC236}">
                <a16:creationId xmlns:a16="http://schemas.microsoft.com/office/drawing/2014/main" id="{C3A88A69-FD6B-5C0C-D54D-DC1AB5A8096F}"/>
              </a:ext>
            </a:extLst>
          </p:cNvPr>
          <p:cNvSpPr/>
          <p:nvPr/>
        </p:nvSpPr>
        <p:spPr>
          <a:xfrm>
            <a:off x="1804092" y="4874790"/>
            <a:ext cx="1461551"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a:solidFill>
                  <a:schemeClr val="tx1"/>
                </a:solidFill>
              </a:rPr>
              <a:t>2.0%</a:t>
            </a:r>
          </a:p>
        </p:txBody>
      </p:sp>
      <p:sp>
        <p:nvSpPr>
          <p:cNvPr id="30" name="Rectangle 29">
            <a:extLst>
              <a:ext uri="{FF2B5EF4-FFF2-40B4-BE49-F238E27FC236}">
                <a16:creationId xmlns:a16="http://schemas.microsoft.com/office/drawing/2014/main" id="{6FA81C92-4BBA-52A8-8266-30701FD8E40F}"/>
              </a:ext>
            </a:extLst>
          </p:cNvPr>
          <p:cNvSpPr/>
          <p:nvPr/>
        </p:nvSpPr>
        <p:spPr>
          <a:xfrm>
            <a:off x="3659112" y="4880227"/>
            <a:ext cx="2821981" cy="500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Conservative estimate with US average TGR being 3.28%. We chose lower TGR to reflect Q4 downturns in economic growth</a:t>
            </a:r>
          </a:p>
        </p:txBody>
      </p:sp>
      <p:sp>
        <p:nvSpPr>
          <p:cNvPr id="18" name="Rectangle 17">
            <a:extLst>
              <a:ext uri="{FF2B5EF4-FFF2-40B4-BE49-F238E27FC236}">
                <a16:creationId xmlns:a16="http://schemas.microsoft.com/office/drawing/2014/main" id="{478EE120-2841-36C2-35D3-52A3735353B0}"/>
              </a:ext>
            </a:extLst>
          </p:cNvPr>
          <p:cNvSpPr/>
          <p:nvPr/>
        </p:nvSpPr>
        <p:spPr>
          <a:xfrm>
            <a:off x="1815157" y="5981887"/>
            <a:ext cx="1461551" cy="36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accent6">
                    <a:lumMod val="75000"/>
                  </a:schemeClr>
                </a:solidFill>
              </a:rPr>
              <a:t>+47.7%</a:t>
            </a:r>
          </a:p>
        </p:txBody>
      </p:sp>
      <p:sp>
        <p:nvSpPr>
          <p:cNvPr id="31" name="Rectangle 30">
            <a:extLst>
              <a:ext uri="{FF2B5EF4-FFF2-40B4-BE49-F238E27FC236}">
                <a16:creationId xmlns:a16="http://schemas.microsoft.com/office/drawing/2014/main" id="{4797D291-BC2A-83B6-B983-4580C580E397}"/>
              </a:ext>
            </a:extLst>
          </p:cNvPr>
          <p:cNvSpPr/>
          <p:nvPr/>
        </p:nvSpPr>
        <p:spPr>
          <a:xfrm>
            <a:off x="3614229" y="6027538"/>
            <a:ext cx="2821981" cy="363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Attractive potential upside despite conservative estimates</a:t>
            </a:r>
          </a:p>
        </p:txBody>
      </p:sp>
      <p:sp>
        <p:nvSpPr>
          <p:cNvPr id="43" name="Rectangle: Rounded Corners 42">
            <a:extLst>
              <a:ext uri="{FF2B5EF4-FFF2-40B4-BE49-F238E27FC236}">
                <a16:creationId xmlns:a16="http://schemas.microsoft.com/office/drawing/2014/main" id="{75E3113A-3F90-D968-DE04-DDB0E7205093}"/>
              </a:ext>
            </a:extLst>
          </p:cNvPr>
          <p:cNvSpPr/>
          <p:nvPr/>
        </p:nvSpPr>
        <p:spPr>
          <a:xfrm>
            <a:off x="6766560" y="893414"/>
            <a:ext cx="5243361" cy="239558"/>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1"/>
                </a:solidFill>
              </a:rPr>
              <a:t>Quantitative risk analysis</a:t>
            </a:r>
            <a:endParaRPr lang="en-GB" sz="1400" b="1">
              <a:solidFill>
                <a:schemeClr val="tx1"/>
              </a:solidFill>
            </a:endParaRPr>
          </a:p>
        </p:txBody>
      </p:sp>
      <p:pic>
        <p:nvPicPr>
          <p:cNvPr id="44" name="Picture 43" descr="ACM Risk-Neutral Density ">
            <a:extLst>
              <a:ext uri="{FF2B5EF4-FFF2-40B4-BE49-F238E27FC236}">
                <a16:creationId xmlns:a16="http://schemas.microsoft.com/office/drawing/2014/main" id="{5559A34F-DA7E-046E-1A8A-831C9CA194DE}"/>
              </a:ext>
            </a:extLst>
          </p:cNvPr>
          <p:cNvPicPr>
            <a:picLocks noChangeAspect="1"/>
          </p:cNvPicPr>
          <p:nvPr/>
        </p:nvPicPr>
        <p:blipFill>
          <a:blip r:embed="rId6"/>
          <a:srcRect l="578" r="-1"/>
          <a:stretch>
            <a:fillRect/>
          </a:stretch>
        </p:blipFill>
        <p:spPr>
          <a:xfrm>
            <a:off x="7371184" y="1168316"/>
            <a:ext cx="3853541" cy="2040795"/>
          </a:xfrm>
          <a:prstGeom prst="rect">
            <a:avLst/>
          </a:prstGeom>
        </p:spPr>
      </p:pic>
      <p:sp>
        <p:nvSpPr>
          <p:cNvPr id="51" name="TextBox 50">
            <a:extLst>
              <a:ext uri="{FF2B5EF4-FFF2-40B4-BE49-F238E27FC236}">
                <a16:creationId xmlns:a16="http://schemas.microsoft.com/office/drawing/2014/main" id="{00EF7098-5438-4BB1-889F-71EB7EBA5A91}"/>
              </a:ext>
            </a:extLst>
          </p:cNvPr>
          <p:cNvSpPr txBox="1"/>
          <p:nvPr/>
        </p:nvSpPr>
        <p:spPr>
          <a:xfrm>
            <a:off x="6929272" y="3209111"/>
            <a:ext cx="5080643" cy="861774"/>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GB" sz="1000"/>
              <a:t>Shows short term expectations do not strongly diverge from current prices therefore supporting investment stability in first 0.641-year period. Also shows that market has not yet priced in revenue diversification and improved quality of earnings.</a:t>
            </a:r>
          </a:p>
          <a:p>
            <a:endParaRPr lang="en-GB" sz="2000" dirty="0"/>
          </a:p>
        </p:txBody>
      </p:sp>
      <p:pic>
        <p:nvPicPr>
          <p:cNvPr id="48" name="Picture 47" descr="A network of blue circles and white dots with white text&#10;&#10;AI-generated content may be incorrect.">
            <a:extLst>
              <a:ext uri="{FF2B5EF4-FFF2-40B4-BE49-F238E27FC236}">
                <a16:creationId xmlns:a16="http://schemas.microsoft.com/office/drawing/2014/main" id="{FFC279E5-0C23-5140-3CB8-C34E46C39B4D}"/>
              </a:ext>
            </a:extLst>
          </p:cNvPr>
          <p:cNvPicPr>
            <a:picLocks noChangeAspect="1"/>
          </p:cNvPicPr>
          <p:nvPr/>
        </p:nvPicPr>
        <p:blipFill>
          <a:blip r:embed="rId7"/>
          <a:srcRect l="1652" r="2933" b="127"/>
          <a:stretch>
            <a:fillRect/>
          </a:stretch>
        </p:blipFill>
        <p:spPr>
          <a:xfrm>
            <a:off x="9477861" y="3855008"/>
            <a:ext cx="2496011" cy="1991429"/>
          </a:xfrm>
          <a:prstGeom prst="rect">
            <a:avLst/>
          </a:prstGeom>
        </p:spPr>
      </p:pic>
      <p:sp>
        <p:nvSpPr>
          <p:cNvPr id="50" name="Arrow: Right 49">
            <a:extLst>
              <a:ext uri="{FF2B5EF4-FFF2-40B4-BE49-F238E27FC236}">
                <a16:creationId xmlns:a16="http://schemas.microsoft.com/office/drawing/2014/main" id="{AE870F7C-4799-44F4-F32F-2A72C09C2076}"/>
              </a:ext>
            </a:extLst>
          </p:cNvPr>
          <p:cNvSpPr/>
          <p:nvPr/>
        </p:nvSpPr>
        <p:spPr>
          <a:xfrm>
            <a:off x="8929390" y="4761421"/>
            <a:ext cx="538247" cy="11040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A7604216-A9E7-3719-D872-6477CA324890}"/>
              </a:ext>
            </a:extLst>
          </p:cNvPr>
          <p:cNvSpPr txBox="1"/>
          <p:nvPr/>
        </p:nvSpPr>
        <p:spPr>
          <a:xfrm>
            <a:off x="6932579" y="6032080"/>
            <a:ext cx="480282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panose="020B0604020202020204" pitchFamily="34" charset="0"/>
              <a:buChar char="•"/>
            </a:pPr>
            <a:r>
              <a:rPr lang="en-GB" sz="1000" dirty="0"/>
              <a:t>Shows statistically robust correlations between ACM and the assets in the top 10 by index weight of industrials S&amp;P500. ACM is heavily correlated in 23-25, but little correlation in past year. Empirical evidence of successful diversification and shows the low-risk exposure to others in Industrials with ACM investment.</a:t>
            </a:r>
          </a:p>
        </p:txBody>
      </p:sp>
      <p:sp>
        <p:nvSpPr>
          <p:cNvPr id="71" name="TextBox 70">
            <a:extLst>
              <a:ext uri="{FF2B5EF4-FFF2-40B4-BE49-F238E27FC236}">
                <a16:creationId xmlns:a16="http://schemas.microsoft.com/office/drawing/2014/main" id="{B2E3E6C2-3533-4200-B1E2-549F27FAD17A}"/>
              </a:ext>
            </a:extLst>
          </p:cNvPr>
          <p:cNvSpPr txBox="1"/>
          <p:nvPr/>
        </p:nvSpPr>
        <p:spPr>
          <a:xfrm>
            <a:off x="6914412" y="5713705"/>
            <a:ext cx="2111586"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Jan 23 – Dec 25</a:t>
            </a:r>
          </a:p>
        </p:txBody>
      </p:sp>
      <p:sp>
        <p:nvSpPr>
          <p:cNvPr id="72" name="TextBox 71">
            <a:extLst>
              <a:ext uri="{FF2B5EF4-FFF2-40B4-BE49-F238E27FC236}">
                <a16:creationId xmlns:a16="http://schemas.microsoft.com/office/drawing/2014/main" id="{B18BB788-908B-85DD-B1A9-32405818BEF7}"/>
              </a:ext>
            </a:extLst>
          </p:cNvPr>
          <p:cNvSpPr txBox="1"/>
          <p:nvPr/>
        </p:nvSpPr>
        <p:spPr>
          <a:xfrm>
            <a:off x="10228232" y="5760180"/>
            <a:ext cx="131301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March 25 – March 26</a:t>
            </a:r>
          </a:p>
          <a:p>
            <a:endParaRPr lang="en-GB" dirty="0"/>
          </a:p>
        </p:txBody>
      </p:sp>
    </p:spTree>
    <p:extLst>
      <p:ext uri="{BB962C8B-B14F-4D97-AF65-F5344CB8AC3E}">
        <p14:creationId xmlns:p14="http://schemas.microsoft.com/office/powerpoint/2010/main" val="4233470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69018" y="96426"/>
            <a:ext cx="6502800" cy="485600"/>
          </a:xfrm>
          <a:prstGeom prst="rect">
            <a:avLst/>
          </a:prstGeom>
        </p:spPr>
        <p:txBody>
          <a:bodyPr spcFirstLastPara="1" wrap="square" lIns="121900" tIns="121900" rIns="121900" bIns="121900" anchor="b"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SzPts val="990"/>
              <a:buNone/>
            </a:pPr>
            <a:r>
              <a:rPr lang="en" sz="2400" dirty="0">
                <a:latin typeface="Times New Roman" panose="02020603050405020304" pitchFamily="18" charset="0"/>
                <a:ea typeface="EB Garamond"/>
                <a:cs typeface="Times New Roman" panose="02020603050405020304" pitchFamily="18" charset="0"/>
                <a:sym typeface="EB Garamond"/>
              </a:rPr>
              <a:t>Catalysts and Potential Risks to our Thesis</a:t>
            </a:r>
            <a:endParaRPr sz="2400" dirty="0">
              <a:latin typeface="Times New Roman" panose="02020603050405020304" pitchFamily="18" charset="0"/>
              <a:ea typeface="EB Garamond"/>
              <a:cs typeface="Times New Roman" panose="02020603050405020304" pitchFamily="18" charset="0"/>
              <a:sym typeface="EB Garamond"/>
            </a:endParaRPr>
          </a:p>
        </p:txBody>
      </p:sp>
      <p:grpSp>
        <p:nvGrpSpPr>
          <p:cNvPr id="11" name="Group 10">
            <a:extLst>
              <a:ext uri="{FF2B5EF4-FFF2-40B4-BE49-F238E27FC236}">
                <a16:creationId xmlns:a16="http://schemas.microsoft.com/office/drawing/2014/main" id="{59A720E9-04E7-C53A-3918-D6A7DD343307}"/>
              </a:ext>
            </a:extLst>
          </p:cNvPr>
          <p:cNvGrpSpPr/>
          <p:nvPr/>
        </p:nvGrpSpPr>
        <p:grpSpPr>
          <a:xfrm>
            <a:off x="5462308" y="563787"/>
            <a:ext cx="6502446" cy="4766198"/>
            <a:chOff x="5803638" y="886123"/>
            <a:chExt cx="5794270" cy="5383598"/>
          </a:xfrm>
        </p:grpSpPr>
        <p:sp>
          <p:nvSpPr>
            <p:cNvPr id="71" name="Google Shape;71;p13"/>
            <p:cNvSpPr/>
            <p:nvPr/>
          </p:nvSpPr>
          <p:spPr>
            <a:xfrm>
              <a:off x="5803638" y="886123"/>
              <a:ext cx="1239600" cy="443454"/>
            </a:xfrm>
            <a:prstGeom prst="rect">
              <a:avLst/>
            </a:prstGeom>
            <a:solidFill>
              <a:schemeClr val="tx2"/>
            </a:solidFill>
            <a:ln w="9525" cap="flat" cmpd="sng">
              <a:solidFill>
                <a:schemeClr val="dk2"/>
              </a:solidFill>
              <a:prstDash val="solid"/>
              <a:round/>
              <a:headEnd type="none" w="sm" len="sm"/>
              <a:tailEnd type="none" w="sm" len="sm"/>
            </a:ln>
          </p:spPr>
          <p:txBody>
            <a:bodyPr spcFirstLastPara="1" wrap="square" lIns="121900" tIns="121900" rIns="121900" bIns="180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b="1">
                  <a:solidFill>
                    <a:schemeClr val="lt1"/>
                  </a:solidFill>
                </a:rPr>
                <a:t>Severity</a:t>
              </a:r>
              <a:r>
                <a:rPr lang="en" sz="2000">
                  <a:solidFill>
                    <a:schemeClr val="lt1"/>
                  </a:solidFill>
                </a:rPr>
                <a:t> </a:t>
              </a:r>
              <a:endParaRPr lang="en-US" sz="2000">
                <a:solidFill>
                  <a:schemeClr val="lt1"/>
                </a:solidFill>
              </a:endParaRPr>
            </a:p>
          </p:txBody>
        </p:sp>
        <p:sp>
          <p:nvSpPr>
            <p:cNvPr id="74" name="Google Shape;74;p13"/>
            <p:cNvSpPr/>
            <p:nvPr/>
          </p:nvSpPr>
          <p:spPr>
            <a:xfrm>
              <a:off x="7085373" y="1369308"/>
              <a:ext cx="2350000" cy="1557631"/>
            </a:xfrm>
            <a:prstGeom prst="rect">
              <a:avLst/>
            </a:prstGeom>
            <a:solidFill>
              <a:schemeClr val="bg2">
                <a:lumMod val="90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050">
                  <a:latin typeface="+mn-lt"/>
                  <a:ea typeface="EB Garamond"/>
                  <a:cs typeface="EB Garamond"/>
                  <a:sym typeface="EB Garamond"/>
                </a:rPr>
                <a:t>During fiscal 2024, 2023, and 2022, approximately 46% of total revenues were derived from government contracts. Given the long-term nature of most government contracts, any budgetary changes during their tenure are expected to negatively affect AECOM's business.</a:t>
              </a:r>
              <a:endParaRPr sz="1050">
                <a:latin typeface="+mn-lt"/>
                <a:ea typeface="EB Garamond"/>
                <a:cs typeface="EB Garamond"/>
                <a:sym typeface="EB Garamond"/>
              </a:endParaRPr>
            </a:p>
          </p:txBody>
        </p:sp>
        <p:sp>
          <p:nvSpPr>
            <p:cNvPr id="75" name="Google Shape;75;p13"/>
            <p:cNvSpPr/>
            <p:nvPr/>
          </p:nvSpPr>
          <p:spPr>
            <a:xfrm>
              <a:off x="7085373" y="2969930"/>
              <a:ext cx="2350000" cy="1782400"/>
            </a:xfrm>
            <a:prstGeom prst="rect">
              <a:avLst/>
            </a:prstGeom>
            <a:solidFill>
              <a:schemeClr val="bg1">
                <a:lumMod val="95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050">
                  <a:solidFill>
                    <a:schemeClr val="dk1"/>
                  </a:solidFill>
                  <a:latin typeface="+mn-lt"/>
                  <a:ea typeface="EB Garamond"/>
                  <a:cs typeface="EB Garamond"/>
                  <a:sym typeface="EB Garamond"/>
                </a:rPr>
                <a:t>AECOM's business is cyclical and vulnerable to economic downturns and client spending reductions. A broader recession could meaningfully reduce both public and private sector project figures.</a:t>
              </a:r>
              <a:endParaRPr sz="1050">
                <a:latin typeface="+mn-lt"/>
                <a:ea typeface="EB Garamond"/>
                <a:cs typeface="EB Garamond"/>
                <a:sym typeface="EB Garamond"/>
              </a:endParaRPr>
            </a:p>
          </p:txBody>
        </p:sp>
        <p:sp>
          <p:nvSpPr>
            <p:cNvPr id="76" name="Google Shape;76;p13"/>
            <p:cNvSpPr/>
            <p:nvPr/>
          </p:nvSpPr>
          <p:spPr>
            <a:xfrm>
              <a:off x="7081366" y="4795321"/>
              <a:ext cx="2350000" cy="1474400"/>
            </a:xfrm>
            <a:prstGeom prst="rect">
              <a:avLst/>
            </a:prstGeom>
            <a:solidFill>
              <a:schemeClr val="bg2">
                <a:lumMod val="90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050">
                  <a:solidFill>
                    <a:schemeClr val="dk1"/>
                  </a:solidFill>
                  <a:latin typeface="+mn-lt"/>
                </a:rPr>
                <a:t>Middle East revenue uncertainty following the 42% revenue decline in the region in Q4 2025, following the reprioritisation of funding across Saudi Vision 2030 programmes</a:t>
              </a:r>
              <a:endParaRPr lang="en-GB" sz="1050">
                <a:solidFill>
                  <a:schemeClr val="dk1"/>
                </a:solidFill>
                <a:latin typeface="+mn-lt"/>
                <a:ea typeface="EB Garamond"/>
                <a:cs typeface="EB Garamond"/>
                <a:sym typeface="EB Garamond"/>
              </a:endParaRPr>
            </a:p>
          </p:txBody>
        </p:sp>
        <p:sp>
          <p:nvSpPr>
            <p:cNvPr id="77" name="Google Shape;77;p13"/>
            <p:cNvSpPr/>
            <p:nvPr/>
          </p:nvSpPr>
          <p:spPr>
            <a:xfrm>
              <a:off x="6190175" y="3471832"/>
              <a:ext cx="565824" cy="676000"/>
            </a:xfrm>
            <a:prstGeom prst="pie">
              <a:avLst>
                <a:gd name="adj1" fmla="val 0"/>
                <a:gd name="adj2" fmla="val 16200000"/>
              </a:avLst>
            </a:prstGeom>
            <a:solidFill>
              <a:srgbClr val="C00000"/>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1067"/>
            </a:p>
          </p:txBody>
        </p:sp>
        <p:sp>
          <p:nvSpPr>
            <p:cNvPr id="78" name="Google Shape;78;p13"/>
            <p:cNvSpPr/>
            <p:nvPr/>
          </p:nvSpPr>
          <p:spPr>
            <a:xfrm>
              <a:off x="6183260" y="1652243"/>
              <a:ext cx="565824" cy="676000"/>
            </a:xfrm>
            <a:prstGeom prst="ellipse">
              <a:avLst/>
            </a:prstGeom>
            <a:solidFill>
              <a:srgbClr val="C00000"/>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sp>
          <p:nvSpPr>
            <p:cNvPr id="79" name="Google Shape;79;p13"/>
            <p:cNvSpPr/>
            <p:nvPr/>
          </p:nvSpPr>
          <p:spPr>
            <a:xfrm>
              <a:off x="6271984" y="5194521"/>
              <a:ext cx="565824" cy="676000"/>
            </a:xfrm>
            <a:prstGeom prst="pie">
              <a:avLst>
                <a:gd name="adj1" fmla="val 5301392"/>
                <a:gd name="adj2" fmla="val 16200000"/>
              </a:avLst>
            </a:prstGeom>
            <a:solidFill>
              <a:srgbClr val="C00000"/>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sp>
          <p:nvSpPr>
            <p:cNvPr id="80" name="Google Shape;80;p13"/>
            <p:cNvSpPr/>
            <p:nvPr/>
          </p:nvSpPr>
          <p:spPr>
            <a:xfrm>
              <a:off x="9477508" y="1369307"/>
              <a:ext cx="2109200" cy="1557631"/>
            </a:xfrm>
            <a:prstGeom prst="rect">
              <a:avLst/>
            </a:prstGeom>
            <a:solidFill>
              <a:schemeClr val="bg1">
                <a:lumMod val="95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1050">
                  <a:latin typeface="+mn-lt"/>
                  <a:ea typeface="EB Garamond"/>
                  <a:cs typeface="EB Garamond"/>
                  <a:sym typeface="EB Garamond"/>
                </a:rPr>
                <a:t>AECOM is highly diversified both geographically and by clientele and does not depend solely on any </a:t>
              </a:r>
              <a:r>
                <a:rPr lang="en" sz="1050">
                  <a:latin typeface="+mn-lt"/>
                  <a:ea typeface="EB Garamond"/>
                  <a:cs typeface="EB Garamond"/>
                  <a:sym typeface="EB Garamond"/>
                </a:rPr>
                <a:t>one nation or agency. Also, the majority of contracts are under multi-year frameworks such as IIJA, meaning upcoming budget cuts have limited power in cancelling active work</a:t>
              </a:r>
              <a:endParaRPr sz="1050">
                <a:latin typeface="+mn-lt"/>
                <a:ea typeface="EB Garamond"/>
                <a:cs typeface="EB Garamond"/>
                <a:sym typeface="EB Garamond"/>
              </a:endParaRPr>
            </a:p>
          </p:txBody>
        </p:sp>
        <p:sp>
          <p:nvSpPr>
            <p:cNvPr id="81" name="Google Shape;81;p13"/>
            <p:cNvSpPr/>
            <p:nvPr/>
          </p:nvSpPr>
          <p:spPr>
            <a:xfrm>
              <a:off x="9477508" y="2969930"/>
              <a:ext cx="2109200" cy="1782400"/>
            </a:xfrm>
            <a:prstGeom prst="rect">
              <a:avLst/>
            </a:prstGeom>
            <a:solidFill>
              <a:schemeClr val="bg2">
                <a:lumMod val="90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1050">
                  <a:latin typeface="+mn-lt"/>
                </a:rPr>
                <a:t>AECOM has strong revenue visibility for the next 2–3 years, supported by a $25.9B backlog and a growing book-to-burn ratio. Management is proactively addressing cyclicality risk through an ongoing shift toward secular, non-discretionary demand drivers</a:t>
              </a:r>
              <a:endParaRPr lang="en" sz="1050">
                <a:latin typeface="+mn-lt"/>
                <a:ea typeface="EB Garamond"/>
                <a:cs typeface="EB Garamond"/>
              </a:endParaRPr>
            </a:p>
          </p:txBody>
        </p:sp>
        <p:sp>
          <p:nvSpPr>
            <p:cNvPr id="82" name="Google Shape;82;p13"/>
            <p:cNvSpPr/>
            <p:nvPr/>
          </p:nvSpPr>
          <p:spPr>
            <a:xfrm>
              <a:off x="9477508" y="4795321"/>
              <a:ext cx="2109200" cy="1474400"/>
            </a:xfrm>
            <a:prstGeom prst="rect">
              <a:avLst/>
            </a:prstGeom>
            <a:solidFill>
              <a:schemeClr val="bg1">
                <a:lumMod val="95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1050">
                  <a:latin typeface="+mn-lt"/>
                  <a:ea typeface="EB Garamond"/>
                  <a:cs typeface="EB Garamond"/>
                  <a:sym typeface="EB Garamond"/>
                </a:rPr>
                <a:t>2026 saw AECOM navigate Middle East uncertainty by securing the Dubai Metro contract as well as seeing overall international backlog growth of 25% to a record high primarily driven by a 2.3 book-to-burn ratio</a:t>
              </a:r>
              <a:endParaRPr sz="1050">
                <a:latin typeface="+mn-lt"/>
                <a:ea typeface="EB Garamond"/>
                <a:cs typeface="EB Garamond"/>
                <a:sym typeface="EB Garamond"/>
              </a:endParaRPr>
            </a:p>
          </p:txBody>
        </p:sp>
        <p:sp>
          <p:nvSpPr>
            <p:cNvPr id="72" name="Google Shape;72;p13"/>
            <p:cNvSpPr/>
            <p:nvPr/>
          </p:nvSpPr>
          <p:spPr>
            <a:xfrm>
              <a:off x="7085374" y="886123"/>
              <a:ext cx="2345993" cy="421599"/>
            </a:xfrm>
            <a:prstGeom prst="rect">
              <a:avLst/>
            </a:prstGeom>
            <a:solidFill>
              <a:schemeClr val="tx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b="1">
                  <a:solidFill>
                    <a:schemeClr val="lt1"/>
                  </a:solidFill>
                </a:rPr>
                <a:t>Risks</a:t>
              </a:r>
              <a:endParaRPr sz="1200" b="1">
                <a:solidFill>
                  <a:schemeClr val="lt1"/>
                </a:solidFill>
              </a:endParaRPr>
            </a:p>
          </p:txBody>
        </p:sp>
        <p:sp>
          <p:nvSpPr>
            <p:cNvPr id="73" name="Google Shape;73;p13"/>
            <p:cNvSpPr/>
            <p:nvPr/>
          </p:nvSpPr>
          <p:spPr>
            <a:xfrm>
              <a:off x="9477508" y="886123"/>
              <a:ext cx="2120400" cy="421599"/>
            </a:xfrm>
            <a:prstGeom prst="rect">
              <a:avLst/>
            </a:prstGeom>
            <a:solidFill>
              <a:schemeClr val="tx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b="1">
                  <a:solidFill>
                    <a:schemeClr val="lt1"/>
                  </a:solidFill>
                </a:rPr>
                <a:t>Mitigants</a:t>
              </a:r>
              <a:endParaRPr sz="1200" b="1">
                <a:solidFill>
                  <a:schemeClr val="lt1"/>
                </a:solidFill>
              </a:endParaRPr>
            </a:p>
          </p:txBody>
        </p:sp>
      </p:grpSp>
      <p:sp>
        <p:nvSpPr>
          <p:cNvPr id="84" name="Google Shape;84;p13"/>
          <p:cNvSpPr txBox="1"/>
          <p:nvPr/>
        </p:nvSpPr>
        <p:spPr>
          <a:xfrm>
            <a:off x="10307079" y="39285"/>
            <a:ext cx="882000" cy="775600"/>
          </a:xfrm>
          <a:prstGeom prst="rect">
            <a:avLst/>
          </a:prstGeom>
          <a:noFill/>
          <a:ln>
            <a:noFill/>
          </a:ln>
        </p:spPr>
        <p:txBody>
          <a:bodyPr spcFirstLastPara="1" wrap="square" lIns="26900" tIns="26900" rIns="26900" bIns="26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11"/>
              <a:t> </a:t>
            </a:r>
            <a:endParaRPr sz="411"/>
          </a:p>
        </p:txBody>
      </p:sp>
      <p:cxnSp>
        <p:nvCxnSpPr>
          <p:cNvPr id="2" name="Straight Connector 1">
            <a:extLst>
              <a:ext uri="{FF2B5EF4-FFF2-40B4-BE49-F238E27FC236}">
                <a16:creationId xmlns:a16="http://schemas.microsoft.com/office/drawing/2014/main" id="{8B54CA24-1F2F-21C3-C4EF-23F53D5734B0}"/>
              </a:ext>
            </a:extLst>
          </p:cNvPr>
          <p:cNvCxnSpPr>
            <a:cxnSpLocks/>
          </p:cNvCxnSpPr>
          <p:nvPr/>
        </p:nvCxnSpPr>
        <p:spPr>
          <a:xfrm>
            <a:off x="237901" y="473175"/>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FF24571F-012D-519B-EFA5-B9C9D3CC7F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95469" y="88853"/>
            <a:ext cx="1514453" cy="34289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BFEB532-2C91-41BF-BF71-09C1F92ED7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grpSp>
        <p:nvGrpSpPr>
          <p:cNvPr id="6" name="Group 5">
            <a:extLst>
              <a:ext uri="{FF2B5EF4-FFF2-40B4-BE49-F238E27FC236}">
                <a16:creationId xmlns:a16="http://schemas.microsoft.com/office/drawing/2014/main" id="{3DB9459C-F140-4383-D1A2-3CBED95BBC3F}"/>
              </a:ext>
            </a:extLst>
          </p:cNvPr>
          <p:cNvGrpSpPr/>
          <p:nvPr/>
        </p:nvGrpSpPr>
        <p:grpSpPr>
          <a:xfrm>
            <a:off x="250867" y="563787"/>
            <a:ext cx="5034867" cy="5618401"/>
            <a:chOff x="191491" y="902535"/>
            <a:chExt cx="5034867" cy="5455272"/>
          </a:xfrm>
        </p:grpSpPr>
        <p:sp>
          <p:nvSpPr>
            <p:cNvPr id="57" name="Google Shape;57;p13"/>
            <p:cNvSpPr/>
            <p:nvPr/>
          </p:nvSpPr>
          <p:spPr>
            <a:xfrm>
              <a:off x="191491" y="906725"/>
              <a:ext cx="1462416" cy="358223"/>
            </a:xfrm>
            <a:prstGeom prst="rect">
              <a:avLst/>
            </a:prstGeom>
            <a:solidFill>
              <a:schemeClr val="tx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b="1">
                  <a:solidFill>
                    <a:schemeClr val="lt1"/>
                  </a:solidFill>
                </a:rPr>
                <a:t>Impact</a:t>
              </a:r>
              <a:endParaRPr sz="1200" b="1">
                <a:solidFill>
                  <a:schemeClr val="lt1"/>
                </a:solidFill>
              </a:endParaRPr>
            </a:p>
          </p:txBody>
        </p:sp>
        <p:sp>
          <p:nvSpPr>
            <p:cNvPr id="58" name="Google Shape;58;p13"/>
            <p:cNvSpPr/>
            <p:nvPr/>
          </p:nvSpPr>
          <p:spPr>
            <a:xfrm>
              <a:off x="1707507" y="902535"/>
              <a:ext cx="3510155" cy="381200"/>
            </a:xfrm>
            <a:prstGeom prst="rect">
              <a:avLst/>
            </a:prstGeom>
            <a:solidFill>
              <a:schemeClr val="tx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b="1">
                  <a:solidFill>
                    <a:schemeClr val="lt1"/>
                  </a:solidFill>
                </a:rPr>
                <a:t>Catalysts</a:t>
              </a:r>
              <a:endParaRPr sz="1200" b="1">
                <a:solidFill>
                  <a:schemeClr val="lt1"/>
                </a:solidFill>
              </a:endParaRPr>
            </a:p>
          </p:txBody>
        </p:sp>
        <p:sp>
          <p:nvSpPr>
            <p:cNvPr id="59" name="Google Shape;59;p13"/>
            <p:cNvSpPr/>
            <p:nvPr/>
          </p:nvSpPr>
          <p:spPr>
            <a:xfrm>
              <a:off x="1698810" y="2646079"/>
              <a:ext cx="3523200" cy="1021600"/>
            </a:xfrm>
            <a:prstGeom prst="rect">
              <a:avLst/>
            </a:prstGeom>
            <a:solidFill>
              <a:schemeClr val="bg2"/>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100" b="1">
                  <a:latin typeface="+mn-lt"/>
                  <a:ea typeface="EB Garamond"/>
                  <a:cs typeface="EB Garamond"/>
                  <a:sym typeface="EB Garamond"/>
                </a:rPr>
                <a:t>US construction and infrastructure spending</a:t>
              </a:r>
            </a:p>
            <a:p>
              <a:pPr marL="0" lvl="0" indent="0" algn="l" rtl="0">
                <a:spcBef>
                  <a:spcPts val="0"/>
                </a:spcBef>
                <a:spcAft>
                  <a:spcPts val="0"/>
                </a:spcAft>
                <a:buNone/>
              </a:pPr>
              <a:r>
                <a:rPr lang="en" sz="1050">
                  <a:latin typeface="+mn-lt"/>
                  <a:ea typeface="EB Garamond"/>
                  <a:cs typeface="EB Garamond"/>
                  <a:sym typeface="EB Garamond"/>
                </a:rPr>
                <a:t> forecast at $2.27 Trillion in 2026 with this figure representing a year-on-year growth of</a:t>
              </a:r>
              <a:r>
                <a:rPr lang="en" sz="1050" b="1">
                  <a:latin typeface="+mn-lt"/>
                  <a:ea typeface="EB Garamond"/>
                  <a:cs typeface="EB Garamond"/>
                  <a:sym typeface="EB Garamond"/>
                </a:rPr>
                <a:t> 5.1%</a:t>
              </a:r>
              <a:r>
                <a:rPr lang="en" sz="1050">
                  <a:latin typeface="+mn-lt"/>
                  <a:ea typeface="EB Garamond"/>
                  <a:cs typeface="EB Garamond"/>
                  <a:sym typeface="EB Garamond"/>
                </a:rPr>
                <a:t> with further projection for 2027 estimating a further 7% growth in this spending, providing AECOM with strong future revenue potential</a:t>
              </a:r>
              <a:endParaRPr sz="1050">
                <a:latin typeface="+mn-lt"/>
                <a:ea typeface="EB Garamond"/>
                <a:cs typeface="EB Garamond"/>
                <a:sym typeface="EB Garamond"/>
              </a:endParaRPr>
            </a:p>
          </p:txBody>
        </p:sp>
        <p:sp>
          <p:nvSpPr>
            <p:cNvPr id="60" name="Google Shape;60;p13"/>
            <p:cNvSpPr/>
            <p:nvPr/>
          </p:nvSpPr>
          <p:spPr>
            <a:xfrm>
              <a:off x="1698810" y="1309646"/>
              <a:ext cx="3527548" cy="1306400"/>
            </a:xfrm>
            <a:prstGeom prst="rect">
              <a:avLst/>
            </a:prstGeom>
            <a:solidFill>
              <a:schemeClr val="bg2">
                <a:lumMod val="90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100" b="1">
                  <a:latin typeface="+mn-lt"/>
                  <a:ea typeface="EB Garamond"/>
                  <a:cs typeface="EB Garamond"/>
                  <a:sym typeface="EB Garamond"/>
                </a:rPr>
                <a:t>Expected peak in IIJA funding (Infrastructure investment and Jobs Act) </a:t>
              </a:r>
            </a:p>
            <a:p>
              <a:pPr marL="0" lvl="0" indent="0" algn="l" rtl="0">
                <a:spcBef>
                  <a:spcPts val="0"/>
                </a:spcBef>
                <a:spcAft>
                  <a:spcPts val="0"/>
                </a:spcAft>
                <a:buNone/>
              </a:pPr>
              <a:r>
                <a:rPr lang="en" sz="1050">
                  <a:latin typeface="+mn-lt"/>
                  <a:ea typeface="EB Garamond"/>
                  <a:cs typeface="EB Garamond"/>
                  <a:sym typeface="EB Garamond"/>
                </a:rPr>
                <a:t>allocating $1.2 trillion in federal infrastructure spending across America. This will add to the already large backlog for firms in the industrial industry leading to reliable revenue allowing firms to take CapEx risks.</a:t>
              </a:r>
              <a:endParaRPr sz="1050">
                <a:latin typeface="+mn-lt"/>
                <a:ea typeface="EB Garamond"/>
                <a:cs typeface="EB Garamond"/>
                <a:sym typeface="EB Garamond"/>
              </a:endParaRPr>
            </a:p>
          </p:txBody>
        </p:sp>
        <p:sp>
          <p:nvSpPr>
            <p:cNvPr id="61" name="Google Shape;61;p13"/>
            <p:cNvSpPr/>
            <p:nvPr/>
          </p:nvSpPr>
          <p:spPr>
            <a:xfrm>
              <a:off x="1698809" y="5051408"/>
              <a:ext cx="3518853" cy="1306399"/>
            </a:xfrm>
            <a:prstGeom prst="rect">
              <a:avLst/>
            </a:prstGeom>
            <a:solidFill>
              <a:schemeClr val="bg1">
                <a:lumMod val="95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GB" sz="1100" b="1">
                  <a:latin typeface="+mn-lt"/>
                </a:rPr>
                <a:t>EU Carbon Border Adjustment Mechanism</a:t>
              </a:r>
            </a:p>
            <a:p>
              <a:pPr lvl="0"/>
              <a:r>
                <a:rPr lang="en-GB" sz="1100" b="1">
                  <a:latin typeface="+mn-lt"/>
                </a:rPr>
                <a:t> </a:t>
              </a:r>
              <a:r>
                <a:rPr lang="en-GB" sz="1050">
                  <a:latin typeface="+mn-lt"/>
                </a:rPr>
                <a:t>goes live in 2026, with the UK proposing its own equivalent to take effect from 2027, creating compliance requirements across construction supply chains in two of AECOM's most important international markets. With AECOM being a leader in ESG practices, this makes it a more attractive option </a:t>
              </a:r>
              <a:endParaRPr lang="en-GB" sz="1050">
                <a:solidFill>
                  <a:schemeClr val="dk1"/>
                </a:solidFill>
                <a:latin typeface="+mn-lt"/>
                <a:ea typeface="EB Garamond"/>
                <a:cs typeface="EB Garamond"/>
                <a:sym typeface="EB Garamond"/>
              </a:endParaRPr>
            </a:p>
          </p:txBody>
        </p:sp>
        <p:sp>
          <p:nvSpPr>
            <p:cNvPr id="62" name="Google Shape;62;p13"/>
            <p:cNvSpPr/>
            <p:nvPr/>
          </p:nvSpPr>
          <p:spPr>
            <a:xfrm>
              <a:off x="1694462" y="3706344"/>
              <a:ext cx="3527548" cy="1306399"/>
            </a:xfrm>
            <a:prstGeom prst="rect">
              <a:avLst/>
            </a:prstGeom>
            <a:solidFill>
              <a:schemeClr val="bg2">
                <a:lumMod val="90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100" b="1" dirty="0">
                  <a:latin typeface="+mn-lt"/>
                  <a:ea typeface="EB Garamond"/>
                  <a:cs typeface="EB Garamond"/>
                  <a:sym typeface="EB Garamond"/>
                </a:rPr>
                <a:t>Privately funded data centre construction </a:t>
              </a:r>
            </a:p>
            <a:p>
              <a:pPr marL="0" lvl="0" indent="0" algn="l" rtl="0">
                <a:spcBef>
                  <a:spcPts val="0"/>
                </a:spcBef>
                <a:spcAft>
                  <a:spcPts val="0"/>
                </a:spcAft>
                <a:buNone/>
              </a:pPr>
              <a:r>
                <a:rPr lang="en" sz="1050" dirty="0">
                  <a:latin typeface="+mn-lt"/>
                  <a:ea typeface="EB Garamond"/>
                  <a:cs typeface="EB Garamond"/>
                  <a:sym typeface="EB Garamond"/>
                </a:rPr>
                <a:t>rose 190% in 2025 with a projected further $800 Billion to be invested into building and designing these data centres by 2030. With AECOM being a top developer for these centres, this provides AECOM with a stable revenue pipeline that is not subject to government risk and cyclicality</a:t>
              </a:r>
            </a:p>
          </p:txBody>
        </p:sp>
        <p:sp>
          <p:nvSpPr>
            <p:cNvPr id="65" name="Google Shape;65;p13"/>
            <p:cNvSpPr/>
            <p:nvPr/>
          </p:nvSpPr>
          <p:spPr>
            <a:xfrm>
              <a:off x="390305" y="4216233"/>
              <a:ext cx="482800" cy="485600"/>
            </a:xfrm>
            <a:prstGeom prst="mathPlus">
              <a:avLst>
                <a:gd name="adj1" fmla="val 23520"/>
              </a:avLst>
            </a:prstGeom>
            <a:solidFill>
              <a:srgbClr val="93C47D"/>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grpSp>
          <p:nvGrpSpPr>
            <p:cNvPr id="5" name="Group 4">
              <a:extLst>
                <a:ext uri="{FF2B5EF4-FFF2-40B4-BE49-F238E27FC236}">
                  <a16:creationId xmlns:a16="http://schemas.microsoft.com/office/drawing/2014/main" id="{85029EBB-3F91-CA9B-7696-FAD3BD68F4B5}"/>
                </a:ext>
              </a:extLst>
            </p:cNvPr>
            <p:cNvGrpSpPr/>
            <p:nvPr/>
          </p:nvGrpSpPr>
          <p:grpSpPr>
            <a:xfrm>
              <a:off x="386643" y="2880380"/>
              <a:ext cx="989654" cy="492467"/>
              <a:chOff x="496067" y="2866665"/>
              <a:chExt cx="989654" cy="492467"/>
            </a:xfrm>
          </p:grpSpPr>
          <p:sp>
            <p:nvSpPr>
              <p:cNvPr id="66" name="Google Shape;66;p13"/>
              <p:cNvSpPr/>
              <p:nvPr/>
            </p:nvSpPr>
            <p:spPr>
              <a:xfrm>
                <a:off x="1002921" y="2873532"/>
                <a:ext cx="482800" cy="485600"/>
              </a:xfrm>
              <a:prstGeom prst="mathPlus">
                <a:avLst>
                  <a:gd name="adj1" fmla="val 23520"/>
                </a:avLst>
              </a:prstGeom>
              <a:solidFill>
                <a:srgbClr val="93C47D"/>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sp>
            <p:nvSpPr>
              <p:cNvPr id="67" name="Google Shape;67;p13"/>
              <p:cNvSpPr/>
              <p:nvPr/>
            </p:nvSpPr>
            <p:spPr>
              <a:xfrm>
                <a:off x="496067" y="2866665"/>
                <a:ext cx="482800" cy="485600"/>
              </a:xfrm>
              <a:prstGeom prst="mathPlus">
                <a:avLst>
                  <a:gd name="adj1" fmla="val 23520"/>
                </a:avLst>
              </a:prstGeom>
              <a:solidFill>
                <a:srgbClr val="93C47D"/>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grpSp>
        <p:grpSp>
          <p:nvGrpSpPr>
            <p:cNvPr id="4" name="Group 3">
              <a:extLst>
                <a:ext uri="{FF2B5EF4-FFF2-40B4-BE49-F238E27FC236}">
                  <a16:creationId xmlns:a16="http://schemas.microsoft.com/office/drawing/2014/main" id="{C0E26BF1-919D-9F2F-0A9C-9B5982E8B623}"/>
                </a:ext>
              </a:extLst>
            </p:cNvPr>
            <p:cNvGrpSpPr/>
            <p:nvPr/>
          </p:nvGrpSpPr>
          <p:grpSpPr>
            <a:xfrm>
              <a:off x="201546" y="1746346"/>
              <a:ext cx="1342991" cy="487263"/>
              <a:chOff x="570625" y="3479267"/>
              <a:chExt cx="1342991" cy="487263"/>
            </a:xfrm>
          </p:grpSpPr>
          <p:sp>
            <p:nvSpPr>
              <p:cNvPr id="63" name="Google Shape;63;p13"/>
              <p:cNvSpPr/>
              <p:nvPr/>
            </p:nvSpPr>
            <p:spPr>
              <a:xfrm>
                <a:off x="1002921" y="3479267"/>
                <a:ext cx="482800" cy="485600"/>
              </a:xfrm>
              <a:prstGeom prst="mathPlus">
                <a:avLst>
                  <a:gd name="adj1" fmla="val 23520"/>
                </a:avLst>
              </a:prstGeom>
              <a:solidFill>
                <a:srgbClr val="38761D"/>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sp>
            <p:nvSpPr>
              <p:cNvPr id="64" name="Google Shape;64;p13"/>
              <p:cNvSpPr/>
              <p:nvPr/>
            </p:nvSpPr>
            <p:spPr>
              <a:xfrm>
                <a:off x="1430816" y="3479267"/>
                <a:ext cx="482800" cy="485600"/>
              </a:xfrm>
              <a:prstGeom prst="mathPlus">
                <a:avLst>
                  <a:gd name="adj1" fmla="val 23520"/>
                </a:avLst>
              </a:prstGeom>
              <a:solidFill>
                <a:srgbClr val="38761D"/>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sp>
            <p:nvSpPr>
              <p:cNvPr id="70" name="Google Shape;70;p13"/>
              <p:cNvSpPr/>
              <p:nvPr/>
            </p:nvSpPr>
            <p:spPr>
              <a:xfrm>
                <a:off x="570625" y="3480930"/>
                <a:ext cx="482800" cy="485600"/>
              </a:xfrm>
              <a:prstGeom prst="mathPlus">
                <a:avLst>
                  <a:gd name="adj1" fmla="val 23520"/>
                </a:avLst>
              </a:prstGeom>
              <a:solidFill>
                <a:srgbClr val="38761D"/>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grpSp>
        <p:grpSp>
          <p:nvGrpSpPr>
            <p:cNvPr id="8" name="Group 7">
              <a:extLst>
                <a:ext uri="{FF2B5EF4-FFF2-40B4-BE49-F238E27FC236}">
                  <a16:creationId xmlns:a16="http://schemas.microsoft.com/office/drawing/2014/main" id="{07AB55DE-5D4D-4B5C-D64E-75746237432E}"/>
                </a:ext>
              </a:extLst>
            </p:cNvPr>
            <p:cNvGrpSpPr/>
            <p:nvPr/>
          </p:nvGrpSpPr>
          <p:grpSpPr>
            <a:xfrm>
              <a:off x="645508" y="4216232"/>
              <a:ext cx="706735" cy="1731176"/>
              <a:chOff x="754932" y="471322"/>
              <a:chExt cx="706735" cy="1731176"/>
            </a:xfrm>
          </p:grpSpPr>
          <p:sp>
            <p:nvSpPr>
              <p:cNvPr id="9" name="Google Shape;66;p13">
                <a:extLst>
                  <a:ext uri="{FF2B5EF4-FFF2-40B4-BE49-F238E27FC236}">
                    <a16:creationId xmlns:a16="http://schemas.microsoft.com/office/drawing/2014/main" id="{2932BBD6-C1AF-BFF4-7A56-1B769607E9BB}"/>
                  </a:ext>
                </a:extLst>
              </p:cNvPr>
              <p:cNvSpPr/>
              <p:nvPr/>
            </p:nvSpPr>
            <p:spPr>
              <a:xfrm>
                <a:off x="978867" y="471322"/>
                <a:ext cx="482800" cy="485600"/>
              </a:xfrm>
              <a:prstGeom prst="mathPlus">
                <a:avLst>
                  <a:gd name="adj1" fmla="val 23520"/>
                </a:avLst>
              </a:prstGeom>
              <a:solidFill>
                <a:srgbClr val="93C47D"/>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sp>
            <p:nvSpPr>
              <p:cNvPr id="10" name="Google Shape;67;p13">
                <a:extLst>
                  <a:ext uri="{FF2B5EF4-FFF2-40B4-BE49-F238E27FC236}">
                    <a16:creationId xmlns:a16="http://schemas.microsoft.com/office/drawing/2014/main" id="{6AE2A7D8-7993-B8B8-8074-057AE9FB19DD}"/>
                  </a:ext>
                </a:extLst>
              </p:cNvPr>
              <p:cNvSpPr/>
              <p:nvPr/>
            </p:nvSpPr>
            <p:spPr>
              <a:xfrm>
                <a:off x="754932" y="1716898"/>
                <a:ext cx="482800" cy="485600"/>
              </a:xfrm>
              <a:prstGeom prst="mathPlus">
                <a:avLst>
                  <a:gd name="adj1" fmla="val 23520"/>
                </a:avLst>
              </a:prstGeom>
              <a:solidFill>
                <a:srgbClr val="93C47D"/>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grpSp>
      </p:grpSp>
      <p:sp>
        <p:nvSpPr>
          <p:cNvPr id="12" name="Google Shape;76;p13">
            <a:extLst>
              <a:ext uri="{FF2B5EF4-FFF2-40B4-BE49-F238E27FC236}">
                <a16:creationId xmlns:a16="http://schemas.microsoft.com/office/drawing/2014/main" id="{4790AB9E-F6AE-C50A-A1A0-E0404472D6FE}"/>
              </a:ext>
            </a:extLst>
          </p:cNvPr>
          <p:cNvSpPr/>
          <p:nvPr/>
        </p:nvSpPr>
        <p:spPr>
          <a:xfrm>
            <a:off x="6896198" y="5379810"/>
            <a:ext cx="2637217" cy="1305314"/>
          </a:xfrm>
          <a:prstGeom prst="rect">
            <a:avLst/>
          </a:prstGeom>
          <a:solidFill>
            <a:schemeClr val="bg1">
              <a:lumMod val="95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GB" sz="1050">
                <a:latin typeface="+mn-lt"/>
              </a:rPr>
              <a:t>If Consigli's claimed 90% reduction in engineering time fails to materialise across AECOM's complex, multi-disciplinary project portfolio, the acquisition may deliver limited productivity benefit relative to its cost.</a:t>
            </a:r>
            <a:endParaRPr lang="en-GB" sz="1050">
              <a:solidFill>
                <a:schemeClr val="dk1"/>
              </a:solidFill>
              <a:latin typeface="+mn-lt"/>
              <a:ea typeface="EB Garamond"/>
              <a:cs typeface="EB Garamond"/>
              <a:sym typeface="EB Garamond"/>
            </a:endParaRPr>
          </a:p>
        </p:txBody>
      </p:sp>
      <p:sp>
        <p:nvSpPr>
          <p:cNvPr id="13" name="Google Shape;82;p13">
            <a:extLst>
              <a:ext uri="{FF2B5EF4-FFF2-40B4-BE49-F238E27FC236}">
                <a16:creationId xmlns:a16="http://schemas.microsoft.com/office/drawing/2014/main" id="{6236558B-98FB-22A7-C048-89E165CCFFEF}"/>
              </a:ext>
            </a:extLst>
          </p:cNvPr>
          <p:cNvSpPr/>
          <p:nvPr/>
        </p:nvSpPr>
        <p:spPr>
          <a:xfrm>
            <a:off x="9585197" y="5379810"/>
            <a:ext cx="2366986" cy="1310362"/>
          </a:xfrm>
          <a:prstGeom prst="rect">
            <a:avLst/>
          </a:prstGeom>
          <a:solidFill>
            <a:schemeClr val="bg2">
              <a:lumMod val="90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GB" sz="1050">
                <a:latin typeface="+mn-lt"/>
              </a:rPr>
              <a:t>AECOM had an established working partnership with Consigli across multiple live projects before the deal closed, providing internal validation of the technology. Founder Janne Aas-Jakobsen joins as Head of AI Engineering, retaining the platform's creator</a:t>
            </a:r>
            <a:endParaRPr sz="1050">
              <a:latin typeface="+mn-lt"/>
              <a:ea typeface="EB Garamond"/>
              <a:cs typeface="EB Garamond"/>
              <a:sym typeface="EB Garamond"/>
            </a:endParaRPr>
          </a:p>
        </p:txBody>
      </p:sp>
      <p:sp>
        <p:nvSpPr>
          <p:cNvPr id="14" name="Google Shape;79;p13">
            <a:extLst>
              <a:ext uri="{FF2B5EF4-FFF2-40B4-BE49-F238E27FC236}">
                <a16:creationId xmlns:a16="http://schemas.microsoft.com/office/drawing/2014/main" id="{5BA1CD50-0063-A1D5-BA6E-EAA3D531E3C8}"/>
              </a:ext>
            </a:extLst>
          </p:cNvPr>
          <p:cNvSpPr/>
          <p:nvPr/>
        </p:nvSpPr>
        <p:spPr>
          <a:xfrm>
            <a:off x="5967841" y="5708995"/>
            <a:ext cx="634979" cy="598476"/>
          </a:xfrm>
          <a:prstGeom prst="pie">
            <a:avLst>
              <a:gd name="adj1" fmla="val 5301392"/>
              <a:gd name="adj2" fmla="val 16200000"/>
            </a:avLst>
          </a:prstGeom>
          <a:solidFill>
            <a:srgbClr val="C00000"/>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5D3ABB-D9FA-E757-3B5A-4086BBFE29BD}"/>
              </a:ext>
            </a:extLst>
          </p:cNvPr>
          <p:cNvCxnSpPr>
            <a:cxnSpLocks/>
          </p:cNvCxnSpPr>
          <p:nvPr/>
        </p:nvCxnSpPr>
        <p:spPr>
          <a:xfrm>
            <a:off x="237901" y="473175"/>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7E08060B-2938-35B2-08F4-D60E214781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5469" y="88853"/>
            <a:ext cx="1514453" cy="3428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2C9685-4A53-04AC-E1A4-E5216BF10A5C}"/>
              </a:ext>
            </a:extLst>
          </p:cNvPr>
          <p:cNvSpPr txBox="1"/>
          <p:nvPr/>
        </p:nvSpPr>
        <p:spPr>
          <a:xfrm>
            <a:off x="169332" y="41993"/>
            <a:ext cx="10066867" cy="461665"/>
          </a:xfrm>
          <a:prstGeom prst="rect">
            <a:avLst/>
          </a:prstGeom>
          <a:noFill/>
        </p:spPr>
        <p:txBody>
          <a:bodyPr wrap="square">
            <a:spAutoFit/>
          </a:bodyPr>
          <a:lstStyle/>
          <a:p>
            <a:r>
              <a:rPr lang="en-GB" sz="2400">
                <a:latin typeface="Times New Roman" panose="02020603050405020304" pitchFamily="18" charset="0"/>
                <a:cs typeface="Times New Roman" panose="02020603050405020304" pitchFamily="18" charset="0"/>
              </a:rPr>
              <a:t>Appendix - DCF</a:t>
            </a:r>
            <a:endParaRPr lang="en-GB" sz="2400"/>
          </a:p>
        </p:txBody>
      </p:sp>
      <p:pic>
        <p:nvPicPr>
          <p:cNvPr id="8" name="Picture 7">
            <a:extLst>
              <a:ext uri="{FF2B5EF4-FFF2-40B4-BE49-F238E27FC236}">
                <a16:creationId xmlns:a16="http://schemas.microsoft.com/office/drawing/2014/main" id="{06E293E6-D2CB-C415-5724-0B77F24F09F2}"/>
              </a:ext>
            </a:extLst>
          </p:cNvPr>
          <p:cNvPicPr>
            <a:picLocks noChangeAspect="1"/>
          </p:cNvPicPr>
          <p:nvPr/>
        </p:nvPicPr>
        <p:blipFill>
          <a:blip r:embed="rId3"/>
          <a:stretch>
            <a:fillRect/>
          </a:stretch>
        </p:blipFill>
        <p:spPr>
          <a:xfrm>
            <a:off x="237901" y="679784"/>
            <a:ext cx="3711707" cy="5498432"/>
          </a:xfrm>
          <a:prstGeom prst="rect">
            <a:avLst/>
          </a:prstGeom>
        </p:spPr>
      </p:pic>
      <p:pic>
        <p:nvPicPr>
          <p:cNvPr id="12" name="Picture 11">
            <a:extLst>
              <a:ext uri="{FF2B5EF4-FFF2-40B4-BE49-F238E27FC236}">
                <a16:creationId xmlns:a16="http://schemas.microsoft.com/office/drawing/2014/main" id="{CDFF46EA-2169-4490-C323-33EA25EAC905}"/>
              </a:ext>
            </a:extLst>
          </p:cNvPr>
          <p:cNvPicPr>
            <a:picLocks noChangeAspect="1"/>
          </p:cNvPicPr>
          <p:nvPr/>
        </p:nvPicPr>
        <p:blipFill>
          <a:blip r:embed="rId4"/>
          <a:stretch>
            <a:fillRect/>
          </a:stretch>
        </p:blipFill>
        <p:spPr>
          <a:xfrm>
            <a:off x="4107101" y="665014"/>
            <a:ext cx="3922126" cy="5534913"/>
          </a:xfrm>
          <a:prstGeom prst="rect">
            <a:avLst/>
          </a:prstGeom>
        </p:spPr>
      </p:pic>
      <p:pic>
        <p:nvPicPr>
          <p:cNvPr id="14" name="Picture 13">
            <a:extLst>
              <a:ext uri="{FF2B5EF4-FFF2-40B4-BE49-F238E27FC236}">
                <a16:creationId xmlns:a16="http://schemas.microsoft.com/office/drawing/2014/main" id="{997CC5F9-594D-E505-55D4-02A56A67FC88}"/>
              </a:ext>
            </a:extLst>
          </p:cNvPr>
          <p:cNvPicPr>
            <a:picLocks noChangeAspect="1"/>
          </p:cNvPicPr>
          <p:nvPr/>
        </p:nvPicPr>
        <p:blipFill>
          <a:blip r:embed="rId5"/>
          <a:stretch>
            <a:fillRect/>
          </a:stretch>
        </p:blipFill>
        <p:spPr>
          <a:xfrm>
            <a:off x="8186720" y="674751"/>
            <a:ext cx="3922126" cy="5525176"/>
          </a:xfrm>
          <a:prstGeom prst="rect">
            <a:avLst/>
          </a:prstGeom>
        </p:spPr>
      </p:pic>
      <p:pic>
        <p:nvPicPr>
          <p:cNvPr id="2" name="Picture 1">
            <a:extLst>
              <a:ext uri="{FF2B5EF4-FFF2-40B4-BE49-F238E27FC236}">
                <a16:creationId xmlns:a16="http://schemas.microsoft.com/office/drawing/2014/main" id="{2755D6A8-529D-3F73-B42D-58BC5AA1E0F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spTree>
    <p:extLst>
      <p:ext uri="{BB962C8B-B14F-4D97-AF65-F5344CB8AC3E}">
        <p14:creationId xmlns:p14="http://schemas.microsoft.com/office/powerpoint/2010/main" val="1245544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network of blue circles and white dots with white text&#10;&#10;AI-generated content may be incorrect.">
            <a:extLst>
              <a:ext uri="{FF2B5EF4-FFF2-40B4-BE49-F238E27FC236}">
                <a16:creationId xmlns:a16="http://schemas.microsoft.com/office/drawing/2014/main" id="{7D09BF11-21C1-AF38-4000-73619B58AC85}"/>
              </a:ext>
            </a:extLst>
          </p:cNvPr>
          <p:cNvPicPr>
            <a:picLocks noChangeAspect="1"/>
          </p:cNvPicPr>
          <p:nvPr/>
        </p:nvPicPr>
        <p:blipFill>
          <a:blip r:embed="rId2"/>
          <a:srcRect l="1652" r="2933" b="127"/>
          <a:stretch>
            <a:fillRect/>
          </a:stretch>
        </p:blipFill>
        <p:spPr>
          <a:xfrm>
            <a:off x="2474186" y="2634101"/>
            <a:ext cx="4009337" cy="3102411"/>
          </a:xfrm>
          <a:prstGeom prst="rect">
            <a:avLst/>
          </a:prstGeom>
        </p:spPr>
      </p:pic>
      <p:cxnSp>
        <p:nvCxnSpPr>
          <p:cNvPr id="4" name="Straight Connector 3">
            <a:extLst>
              <a:ext uri="{FF2B5EF4-FFF2-40B4-BE49-F238E27FC236}">
                <a16:creationId xmlns:a16="http://schemas.microsoft.com/office/drawing/2014/main" id="{0848299B-8922-7FF5-B06E-E109B7417D7A}"/>
              </a:ext>
            </a:extLst>
          </p:cNvPr>
          <p:cNvCxnSpPr>
            <a:cxnSpLocks/>
          </p:cNvCxnSpPr>
          <p:nvPr/>
        </p:nvCxnSpPr>
        <p:spPr>
          <a:xfrm>
            <a:off x="237901" y="473175"/>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2B171E0F-23E7-2311-E6B9-31488F2632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95469" y="88853"/>
            <a:ext cx="1514453" cy="3428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E41D5AC-3E04-9BEF-6A96-E10CB9E29F7F}"/>
              </a:ext>
            </a:extLst>
          </p:cNvPr>
          <p:cNvSpPr txBox="1"/>
          <p:nvPr/>
        </p:nvSpPr>
        <p:spPr>
          <a:xfrm>
            <a:off x="169332" y="41993"/>
            <a:ext cx="10066867"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Appendix 2</a:t>
            </a:r>
            <a:endParaRPr lang="en-GB" sz="2400" dirty="0"/>
          </a:p>
        </p:txBody>
      </p:sp>
      <p:pic>
        <p:nvPicPr>
          <p:cNvPr id="8" name="Picture 7">
            <a:extLst>
              <a:ext uri="{FF2B5EF4-FFF2-40B4-BE49-F238E27FC236}">
                <a16:creationId xmlns:a16="http://schemas.microsoft.com/office/drawing/2014/main" id="{9C4CCE13-2208-9AF1-995C-38DD95AF611E}"/>
              </a:ext>
            </a:extLst>
          </p:cNvPr>
          <p:cNvPicPr>
            <a:picLocks noChangeAspect="1"/>
          </p:cNvPicPr>
          <p:nvPr/>
        </p:nvPicPr>
        <p:blipFill>
          <a:blip r:embed="rId4"/>
          <a:stretch>
            <a:fillRect/>
          </a:stretch>
        </p:blipFill>
        <p:spPr>
          <a:xfrm>
            <a:off x="237901" y="514603"/>
            <a:ext cx="2724530" cy="2514951"/>
          </a:xfrm>
          <a:prstGeom prst="rect">
            <a:avLst/>
          </a:prstGeom>
        </p:spPr>
      </p:pic>
      <p:pic>
        <p:nvPicPr>
          <p:cNvPr id="10" name="Picture 9">
            <a:extLst>
              <a:ext uri="{FF2B5EF4-FFF2-40B4-BE49-F238E27FC236}">
                <a16:creationId xmlns:a16="http://schemas.microsoft.com/office/drawing/2014/main" id="{791AC48A-3022-5A09-B204-1D8EB5FF2C66}"/>
              </a:ext>
            </a:extLst>
          </p:cNvPr>
          <p:cNvPicPr>
            <a:picLocks noChangeAspect="1"/>
          </p:cNvPicPr>
          <p:nvPr/>
        </p:nvPicPr>
        <p:blipFill>
          <a:blip r:embed="rId5"/>
          <a:stretch>
            <a:fillRect/>
          </a:stretch>
        </p:blipFill>
        <p:spPr>
          <a:xfrm>
            <a:off x="3136039" y="503658"/>
            <a:ext cx="2743583" cy="1924319"/>
          </a:xfrm>
          <a:prstGeom prst="rect">
            <a:avLst/>
          </a:prstGeom>
        </p:spPr>
      </p:pic>
      <p:pic>
        <p:nvPicPr>
          <p:cNvPr id="12" name="Picture 11">
            <a:extLst>
              <a:ext uri="{FF2B5EF4-FFF2-40B4-BE49-F238E27FC236}">
                <a16:creationId xmlns:a16="http://schemas.microsoft.com/office/drawing/2014/main" id="{E18AFEB7-A01D-AD79-29B7-BE3B84A927EF}"/>
              </a:ext>
            </a:extLst>
          </p:cNvPr>
          <p:cNvPicPr>
            <a:picLocks noChangeAspect="1"/>
          </p:cNvPicPr>
          <p:nvPr/>
        </p:nvPicPr>
        <p:blipFill>
          <a:blip r:embed="rId6"/>
          <a:stretch>
            <a:fillRect/>
          </a:stretch>
        </p:blipFill>
        <p:spPr>
          <a:xfrm>
            <a:off x="6053230" y="488417"/>
            <a:ext cx="2724530" cy="1971950"/>
          </a:xfrm>
          <a:prstGeom prst="rect">
            <a:avLst/>
          </a:prstGeom>
        </p:spPr>
      </p:pic>
      <p:pic>
        <p:nvPicPr>
          <p:cNvPr id="14" name="Picture 13">
            <a:extLst>
              <a:ext uri="{FF2B5EF4-FFF2-40B4-BE49-F238E27FC236}">
                <a16:creationId xmlns:a16="http://schemas.microsoft.com/office/drawing/2014/main" id="{7DB26B95-9CAB-4445-E49C-5C8B554822CD}"/>
              </a:ext>
            </a:extLst>
          </p:cNvPr>
          <p:cNvPicPr>
            <a:picLocks noChangeAspect="1"/>
          </p:cNvPicPr>
          <p:nvPr/>
        </p:nvPicPr>
        <p:blipFill>
          <a:blip r:embed="rId7"/>
          <a:stretch>
            <a:fillRect/>
          </a:stretch>
        </p:blipFill>
        <p:spPr>
          <a:xfrm>
            <a:off x="237901" y="3290150"/>
            <a:ext cx="2248214" cy="3381847"/>
          </a:xfrm>
          <a:prstGeom prst="rect">
            <a:avLst/>
          </a:prstGeom>
        </p:spPr>
      </p:pic>
      <p:sp>
        <p:nvSpPr>
          <p:cNvPr id="3" name="TextBox 2">
            <a:extLst>
              <a:ext uri="{FF2B5EF4-FFF2-40B4-BE49-F238E27FC236}">
                <a16:creationId xmlns:a16="http://schemas.microsoft.com/office/drawing/2014/main" id="{5B4C73F2-D537-32A7-85A3-A415DD0F3700}"/>
              </a:ext>
            </a:extLst>
          </p:cNvPr>
          <p:cNvSpPr txBox="1"/>
          <p:nvPr/>
        </p:nvSpPr>
        <p:spPr>
          <a:xfrm>
            <a:off x="2651295" y="5733278"/>
            <a:ext cx="4457794"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a:t>(1) Statistically robust triangulated maximally filtered graph. This is a correlation network between ACM and the top 10 by index weight in the Industrials S&amp;P500. ACM has one edge with a weight of 0.4 and the lowest communicability, showing that ACM is less exposed to other sections of the industry, as well as cyclical risk.  Shows empirical evidence of ACM's risk diversification.</a:t>
            </a:r>
          </a:p>
        </p:txBody>
      </p:sp>
      <p:pic>
        <p:nvPicPr>
          <p:cNvPr id="7" name="Picture 6" descr="A diagram of a network&#10;&#10;AI-generated content may be incorrect.">
            <a:extLst>
              <a:ext uri="{FF2B5EF4-FFF2-40B4-BE49-F238E27FC236}">
                <a16:creationId xmlns:a16="http://schemas.microsoft.com/office/drawing/2014/main" id="{E70DE1FA-1FCF-621E-1303-0E6255CE8FDE}"/>
              </a:ext>
            </a:extLst>
          </p:cNvPr>
          <p:cNvPicPr>
            <a:picLocks noChangeAspect="1"/>
          </p:cNvPicPr>
          <p:nvPr/>
        </p:nvPicPr>
        <p:blipFill>
          <a:blip r:embed="rId8"/>
          <a:stretch>
            <a:fillRect/>
          </a:stretch>
        </p:blipFill>
        <p:spPr>
          <a:xfrm>
            <a:off x="7080437" y="2479581"/>
            <a:ext cx="4171950" cy="3400425"/>
          </a:xfrm>
          <a:prstGeom prst="rect">
            <a:avLst/>
          </a:prstGeom>
        </p:spPr>
      </p:pic>
      <p:pic>
        <p:nvPicPr>
          <p:cNvPr id="9" name="Picture 8">
            <a:extLst>
              <a:ext uri="{FF2B5EF4-FFF2-40B4-BE49-F238E27FC236}">
                <a16:creationId xmlns:a16="http://schemas.microsoft.com/office/drawing/2014/main" id="{D7D19930-6BAB-DE7E-34C8-D088C70EF4E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spTree>
    <p:extLst>
      <p:ext uri="{BB962C8B-B14F-4D97-AF65-F5344CB8AC3E}">
        <p14:creationId xmlns:p14="http://schemas.microsoft.com/office/powerpoint/2010/main" val="2682900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BA5B28-93BE-5B95-B1E4-1D321C7E6601}"/>
              </a:ext>
            </a:extLst>
          </p:cNvPr>
          <p:cNvSpPr txBox="1"/>
          <p:nvPr/>
        </p:nvSpPr>
        <p:spPr>
          <a:xfrm>
            <a:off x="237901" y="555448"/>
            <a:ext cx="11336478" cy="6901889"/>
          </a:xfrm>
          <a:prstGeom prst="rect">
            <a:avLst/>
          </a:prstGeom>
          <a:noFill/>
        </p:spPr>
        <p:txBody>
          <a:bodyPr wrap="square" lIns="91440" tIns="45720" rIns="91440" bIns="45720" rtlCol="0" anchor="t">
            <a:spAutoFit/>
          </a:bodyPr>
          <a:lstStyle/>
          <a:p>
            <a:r>
              <a:rPr lang="en-GB" sz="800" dirty="0">
                <a:hlinkClick r:id="rId2"/>
              </a:rPr>
              <a:t>https://aecom.com/en-uk/</a:t>
            </a:r>
            <a:endParaRPr lang="en-GB" sz="800" dirty="0"/>
          </a:p>
          <a:p>
            <a:r>
              <a:rPr lang="en-GB" sz="800" dirty="0">
                <a:hlinkClick r:id="rId3"/>
              </a:rPr>
              <a:t>https://aecom.com/press-releases/tomtom-and-aecom-partner-to-deliver-enhanced-global-infrastructure-planning-and-road-traffic-management/#:~:text=AMSTERDAM%20(February%2012%2C%202026),a%20new%20era%20of%20transportation</a:t>
            </a:r>
            <a:endParaRPr lang="en-GB" sz="800" dirty="0"/>
          </a:p>
          <a:p>
            <a:r>
              <a:rPr lang="en-GB" sz="800" dirty="0">
                <a:hlinkClick r:id="rId4"/>
              </a:rPr>
              <a:t>https://www.dcfmodeling.com/products/acm-business-model-canvas?srsltid=AfmBOoq3bXHgLvTh_Vl8VpNc38FPvkb4vPtTRFFRiBMSZsBYr4rPm5rE</a:t>
            </a:r>
            <a:endParaRPr lang="en-GB" sz="800" dirty="0"/>
          </a:p>
          <a:p>
            <a:r>
              <a:rPr lang="en-GB" sz="800" dirty="0">
                <a:hlinkClick r:id="rId5"/>
              </a:rPr>
              <a:t>https://csimarket.com/stocks/ACM-Business</a:t>
            </a:r>
            <a:endParaRPr lang="en-GB" dirty="0"/>
          </a:p>
          <a:p>
            <a:r>
              <a:rPr lang="en-GB" sz="800" dirty="0">
                <a:hlinkClick r:id="rId5"/>
              </a:rPr>
              <a:t>-Segments#:~:text=AECOM,%20a%20global%20premier%20infrastructure,both%20aesthetic%20and%20functional%20requirements</a:t>
            </a:r>
            <a:r>
              <a:rPr lang="en-GB" sz="800" dirty="0"/>
              <a:t>.</a:t>
            </a:r>
            <a:endParaRPr lang="en-GB" dirty="0"/>
          </a:p>
          <a:p>
            <a:r>
              <a:rPr lang="en-GB" sz="800" dirty="0">
                <a:hlinkClick r:id="rId6"/>
              </a:rPr>
              <a:t>https://mlq.ai/stocks/ACM/revenue-segments/</a:t>
            </a:r>
            <a:endParaRPr lang="en-GB" sz="800" dirty="0"/>
          </a:p>
          <a:p>
            <a:r>
              <a:rPr lang="en-GB" sz="800" dirty="0">
                <a:hlinkClick r:id="rId7"/>
              </a:rPr>
              <a:t>https://portersfiveforce.com/blogs/competitors/aecom</a:t>
            </a:r>
            <a:endParaRPr lang="en-GB" sz="800" dirty="0"/>
          </a:p>
          <a:p>
            <a:r>
              <a:rPr lang="en-GB" sz="800" dirty="0">
                <a:hlinkClick r:id="rId8"/>
              </a:rPr>
              <a:t>https://seekingalpha.com/symbol/ACM/peers/comparison</a:t>
            </a:r>
            <a:endParaRPr lang="en-GB" sz="800" dirty="0"/>
          </a:p>
          <a:p>
            <a:r>
              <a:rPr lang="en-GB" sz="800" dirty="0">
                <a:hlinkClick r:id="rId9"/>
              </a:rPr>
              <a:t>https://simplywall.st/stocks/us/capital-goods/nyse-acm/aecom/valuation</a:t>
            </a:r>
            <a:endParaRPr lang="en-GB" dirty="0"/>
          </a:p>
          <a:p>
            <a:r>
              <a:rPr lang="en-GB" sz="800" dirty="0">
                <a:hlinkClick r:id="rId10"/>
              </a:rPr>
              <a:t>https://www.grandviewresearch.com/industry-analysis/architectural-engineering-construction-services-market-report#:~:text=Architectural%2C%20Engineering%2C%20And%20Construction%20Services%20Market%20Summary,transportation%20networks%2C%20and%20utility%20infrastructure</a:t>
            </a:r>
            <a:r>
              <a:rPr lang="en-GB" sz="800" dirty="0"/>
              <a:t>.</a:t>
            </a:r>
            <a:endParaRPr lang="en-GB" dirty="0"/>
          </a:p>
          <a:p>
            <a:r>
              <a:rPr lang="en-GB" sz="800" dirty="0">
                <a:hlinkClick r:id="rId11"/>
              </a:rPr>
              <a:t>https://media.valuethemarkets.com/investing-research/vtm-investing-research-report-aecom.pdf</a:t>
            </a:r>
            <a:endParaRPr lang="en-GB" sz="800" dirty="0"/>
          </a:p>
          <a:p>
            <a:r>
              <a:rPr lang="en-GB" sz="800" dirty="0">
                <a:hlinkClick r:id="rId12"/>
              </a:rPr>
              <a:t>https://aecom.com/markets/transportation/</a:t>
            </a:r>
            <a:endParaRPr lang="en-GB" sz="800" dirty="0"/>
          </a:p>
          <a:p>
            <a:r>
              <a:rPr lang="en-GB" sz="800" dirty="0">
                <a:hlinkClick r:id="rId13"/>
              </a:rPr>
              <a:t>https://environment-analyst.com/global/110879/energy-water-and-sustainability-services-drive-record-es-consulting-growth#:~:text=Climate%20change%20and%20energy%20services,much%20of%20this%20upward%20trend</a:t>
            </a:r>
            <a:r>
              <a:rPr lang="en-GB" sz="800" dirty="0"/>
              <a:t>.</a:t>
            </a:r>
            <a:endParaRPr lang="en-GB" dirty="0"/>
          </a:p>
          <a:p>
            <a:r>
              <a:rPr lang="en-GB" sz="800" dirty="0">
                <a:hlinkClick r:id="rId14"/>
              </a:rPr>
              <a:t>https://uk.investing.com/news/company-news/aecom-q1-2026-presentation-record-backlog-drives-raised-guidance-shares-climb-93CH-4499371</a:t>
            </a:r>
            <a:endParaRPr lang="en-GB" dirty="0"/>
          </a:p>
          <a:p>
            <a:r>
              <a:rPr lang="en-GB" sz="800" dirty="0">
                <a:hlinkClick r:id="rId15"/>
              </a:rPr>
              <a:t>https://investors.aecom.com/static-files/db5f5d07-71c4-4546-a0cf-71cd0f61eba4</a:t>
            </a:r>
            <a:endParaRPr lang="en-GB" dirty="0"/>
          </a:p>
          <a:p>
            <a:r>
              <a:rPr lang="en-GB" sz="800" dirty="0">
                <a:hlinkClick r:id="rId15"/>
              </a:rPr>
              <a:t>https://www.industrialinfo.com/iirenergy/industry-news/article/aecoms-backlog-points-to-more-business-in-2026--353237</a:t>
            </a:r>
            <a:endParaRPr lang="en-GB" dirty="0"/>
          </a:p>
          <a:p>
            <a:r>
              <a:rPr lang="en-GB" sz="800" dirty="0">
                <a:hlinkClick r:id="rId15"/>
              </a:rPr>
              <a:t>https://www.architectsjournal.co.uk/news/aecoms-middle-east-turnover-plummets-by-42#:~:text=9%20February%202026%20·%20By%20Gino,bin%20Salman%27s%202030%20development%20drive.</a:t>
            </a:r>
            <a:endParaRPr lang="en-GB" dirty="0"/>
          </a:p>
          <a:p>
            <a:r>
              <a:rPr lang="en-GB" sz="800" dirty="0">
                <a:hlinkClick r:id="rId15"/>
              </a:rPr>
              <a:t>https://investors.aecom.com/static-files/d33963f4-5b3a-4dd5-841c-a642c4209ad4#:~:text=After%20the%20quarter%20ended%2C%20AECOM,in%20the%20fiscal%20first%20quarter.</a:t>
            </a:r>
            <a:endParaRPr lang="en-GB" dirty="0"/>
          </a:p>
          <a:p>
            <a:r>
              <a:rPr lang="en-GB" sz="800" dirty="0">
                <a:hlinkClick r:id="rId15"/>
              </a:rPr>
              <a:t>https://drive.google.com/file/d/19cWo5crj7cqEkJGdR4URtmrQgYTozzAM/view?usp=sharing</a:t>
            </a:r>
            <a:endParaRPr lang="en-GB" dirty="0"/>
          </a:p>
          <a:p>
            <a:r>
              <a:rPr lang="en-GB" sz="800" dirty="0">
                <a:hlinkClick r:id="rId15"/>
              </a:rPr>
              <a:t>https://simplywall.st/community/narratives/us/capital-goods/nyse-acm/aecom/qxut9ovq-update-for-aecom</a:t>
            </a:r>
            <a:endParaRPr lang="en-GB" dirty="0"/>
          </a:p>
          <a:p>
            <a:r>
              <a:rPr lang="en-GB" sz="800" dirty="0">
                <a:hlinkClick r:id="rId15"/>
              </a:rPr>
              <a:t>https://simplywall.st/community/narratives/us/capital-goods/nyse-acm/aecom/qxut9ovq-update-for-aecom</a:t>
            </a:r>
            <a:endParaRPr lang="en-GB" dirty="0"/>
          </a:p>
          <a:p>
            <a:r>
              <a:rPr lang="en-GB" sz="800" dirty="0">
                <a:hlinkClick r:id="rId15"/>
              </a:rPr>
              <a:t>https://investors.aecom.com/news-releases/news-release-details/aecom-reports-first-quarter-fiscal-2026-results</a:t>
            </a:r>
            <a:endParaRPr lang="en-GB" dirty="0"/>
          </a:p>
          <a:p>
            <a:r>
              <a:rPr lang="en-GB" sz="800" dirty="0">
                <a:hlinkClick r:id="rId15"/>
              </a:rPr>
              <a:t>https://investors.aecom.com/news-releases/news-release-details/</a:t>
            </a:r>
            <a:r>
              <a:rPr lang="en-GB" sz="800" dirty="0" err="1">
                <a:hlinkClick r:id="rId15"/>
              </a:rPr>
              <a:t>aecom</a:t>
            </a:r>
            <a:r>
              <a:rPr lang="en-GB" sz="800" dirty="0">
                <a:hlinkClick r:id="rId15"/>
              </a:rPr>
              <a:t>-announces-increased-financial-targets-built-further#:~:text=“Following%20more%20than%20five%20years,value%20creation%20for%20our%20investors.”</a:t>
            </a:r>
            <a:endParaRPr lang="en-GB" dirty="0"/>
          </a:p>
          <a:p>
            <a:r>
              <a:rPr lang="en-GB" sz="800" dirty="0">
                <a:hlinkClick r:id="rId15"/>
              </a:rPr>
              <a:t>https://investors.aecom.com/static-files/701c6680-6b93-441a-9f7e-0ceb0ce2784f</a:t>
            </a:r>
            <a:endParaRPr lang="en-GB" dirty="0"/>
          </a:p>
          <a:p>
            <a:r>
              <a:rPr lang="en-GB" sz="800" dirty="0">
                <a:hlinkClick r:id="rId15"/>
              </a:rPr>
              <a:t>der%20market%20futures%20stabilized.</a:t>
            </a:r>
            <a:endParaRPr lang="en-GB" dirty="0"/>
          </a:p>
          <a:p>
            <a:r>
              <a:rPr lang="en-GB" sz="800" dirty="0">
                <a:hlinkClick r:id="rId15"/>
              </a:rPr>
              <a:t>https://matrixbcg.com/blogs/growth-strategy/aecom</a:t>
            </a:r>
            <a:endParaRPr lang="en-GB" dirty="0"/>
          </a:p>
          <a:p>
            <a:r>
              <a:rPr lang="en-GB" sz="800" dirty="0">
                <a:hlinkClick r:id="rId16"/>
              </a:rPr>
              <a:t>Fluor Reports Fourth Quarter and Full Year 2025 Results | Fluor</a:t>
            </a:r>
            <a:endParaRPr lang="en-GB" sz="800" dirty="0"/>
          </a:p>
          <a:p>
            <a:r>
              <a:rPr lang="en-GB" sz="800" dirty="0">
                <a:hlinkClick r:id="rId15"/>
              </a:rPr>
              <a:t>https://www.eawater.com/regulars/waternews/trends-defining-water-innovation-in-2025-and-what-they-mean-for-the-global-water-agenda-in-2026/</a:t>
            </a:r>
            <a:endParaRPr lang="en-GB" dirty="0"/>
          </a:p>
          <a:p>
            <a:r>
              <a:rPr lang="en-GB" sz="800" dirty="0">
                <a:hlinkClick r:id="rId15"/>
              </a:rPr>
              <a:t>https://infrastructurereportcard.org/cat-item/drinking-water-infrastructure/</a:t>
            </a:r>
            <a:endParaRPr lang="en-GB" dirty="0"/>
          </a:p>
          <a:p>
            <a:r>
              <a:rPr lang="en-GB" sz="800" dirty="0">
                <a:hlinkClick r:id="rId15"/>
              </a:rPr>
              <a:t>https://www.jpmorgan.com/insights/sustainability/climate/grid-resilience-neglected-no-more</a:t>
            </a:r>
            <a:endParaRPr lang="en-GB" dirty="0"/>
          </a:p>
          <a:p>
            <a:r>
              <a:rPr lang="en-GB" sz="800" dirty="0">
                <a:hlinkClick r:id="rId15"/>
              </a:rPr>
              <a:t>https://www.deloitte.com/us/en/insights/industry/engineering-and-construction/engineering-and-construction-industry-outlook.html</a:t>
            </a:r>
            <a:endParaRPr lang="en-GB" dirty="0"/>
          </a:p>
          <a:p>
            <a:r>
              <a:rPr lang="en-GB" sz="800" dirty="0">
                <a:hlinkClick r:id="rId15"/>
              </a:rPr>
              <a:t>https://atradius.co.uk/knowledge-and-research/reports/industry-trends-global-construction-industry-trends-2025-2026</a:t>
            </a:r>
            <a:endParaRPr lang="en-GB" dirty="0"/>
          </a:p>
          <a:p>
            <a:r>
              <a:rPr lang="en-GB" sz="800" dirty="0">
                <a:hlinkClick r:id="rId15"/>
              </a:rPr>
              <a:t>https://kpmg.com/cn/en/insights/2026/03/global-construction-survey-2025-2026.html</a:t>
            </a:r>
            <a:endParaRPr lang="en-GB" dirty="0"/>
          </a:p>
          <a:p>
            <a:r>
              <a:rPr lang="en-GB" sz="800" dirty="0">
                <a:hlinkClick r:id="rId15"/>
              </a:rPr>
              <a:t>https://news.constructconnect.com/u.s.-put-in-place-construction-forecast-report-spring-2026-highlights</a:t>
            </a:r>
            <a:endParaRPr lang="en-GB" dirty="0"/>
          </a:p>
          <a:p>
            <a:r>
              <a:rPr lang="en-GB" sz="800" dirty="0">
                <a:hlinkClick r:id="rId15"/>
              </a:rPr>
              <a:t>https://seekingalpha.com/comparison/new/MCUyQ2FjbSUyQ3N0biUzQWNhJTJDZmxyJTJDaiUyQ3dzcG9m</a:t>
            </a:r>
            <a:endParaRPr lang="en-GB" dirty="0"/>
          </a:p>
          <a:p>
            <a:r>
              <a:rPr lang="en-GB" sz="800" dirty="0">
                <a:hlinkClick r:id="rId17"/>
              </a:rPr>
              <a:t>https://github.com/PavanAnanthSharma/Breeden-Litzenberger-formula-for-risk-neutral-densities</a:t>
            </a:r>
            <a:endParaRPr lang="en-GB" dirty="0"/>
          </a:p>
          <a:p>
            <a:r>
              <a:rPr lang="en-GB" sz="800" dirty="0">
                <a:hlinkClick r:id="rId18"/>
              </a:rPr>
              <a:t>https://tradingeconomics.com/united-states/gdp-growth</a:t>
            </a:r>
            <a:endParaRPr lang="en-GB" dirty="0"/>
          </a:p>
          <a:p>
            <a:r>
              <a:rPr lang="en-GB" sz="800" dirty="0">
                <a:ea typeface="+mn-lt"/>
                <a:cs typeface="+mn-lt"/>
                <a:hlinkClick r:id="rId19"/>
              </a:rPr>
              <a:t>https://arxiv.org/abs/2310.14881</a:t>
            </a:r>
            <a:endParaRPr lang="en-GB" sz="800" dirty="0">
              <a:ea typeface="+mn-lt"/>
              <a:cs typeface="+mn-lt"/>
            </a:endParaRPr>
          </a:p>
          <a:p>
            <a:r>
              <a:rPr lang="en-GB" sz="800" dirty="0">
                <a:ea typeface="+mn-lt"/>
                <a:cs typeface="+mn-lt"/>
                <a:hlinkClick r:id="rId20"/>
              </a:rPr>
              <a:t>https://aecom.com/annual-report/</a:t>
            </a:r>
            <a:endParaRPr lang="en-GB" sz="800" dirty="0">
              <a:ea typeface="+mn-lt"/>
              <a:cs typeface="+mn-lt"/>
            </a:endParaRPr>
          </a:p>
          <a:p>
            <a:r>
              <a:rPr lang="en-GB" sz="800" dirty="0">
                <a:ea typeface="+mn-lt"/>
                <a:cs typeface="+mn-lt"/>
                <a:hlinkClick r:id="rId21"/>
              </a:rPr>
              <a:t>https://aecom.com/wp-content/uploads/documents/safety/AECOM_Management_System_Manual.pdf</a:t>
            </a:r>
            <a:endParaRPr lang="en-GB" sz="800" dirty="0">
              <a:ea typeface="+mn-lt"/>
              <a:cs typeface="+mn-lt"/>
            </a:endParaRPr>
          </a:p>
          <a:p>
            <a:r>
              <a:rPr lang="en-GB" sz="800" dirty="0">
                <a:ea typeface="+mn-lt"/>
                <a:cs typeface="+mn-lt"/>
                <a:hlinkClick r:id="rId22"/>
              </a:rPr>
              <a:t>https://www.water.org.uk/investing-future/infrastructure-health</a:t>
            </a:r>
            <a:endParaRPr lang="en-GB" sz="800" dirty="0">
              <a:ea typeface="+mn-lt"/>
              <a:cs typeface="+mn-lt"/>
            </a:endParaRPr>
          </a:p>
          <a:p>
            <a:r>
              <a:rPr lang="en-GB" sz="800" dirty="0">
                <a:ea typeface="+mn-lt"/>
                <a:cs typeface="+mn-lt"/>
                <a:hlinkClick r:id="rId23"/>
              </a:rPr>
              <a:t>https://reports.weforum.org/docs/WEF_Bridging_the_%E2%82%AC6.5_Trillion_Water_Infrastructure_Gap_A_Playbook_2025.pdf</a:t>
            </a:r>
            <a:endParaRPr lang="en-GB" sz="800" dirty="0">
              <a:ea typeface="+mn-lt"/>
              <a:cs typeface="+mn-lt"/>
            </a:endParaRPr>
          </a:p>
          <a:p>
            <a:endParaRPr lang="en-GB" sz="800" dirty="0">
              <a:ea typeface="+mn-lt"/>
              <a:cs typeface="+mn-lt"/>
            </a:endParaRPr>
          </a:p>
          <a:p>
            <a:endParaRPr lang="en-GB" sz="800" dirty="0">
              <a:ea typeface="+mn-lt"/>
              <a:cs typeface="+mn-lt"/>
            </a:endParaRPr>
          </a:p>
          <a:p>
            <a:endParaRPr lang="en-GB" dirty="0"/>
          </a:p>
          <a:p>
            <a:endParaRPr lang="en-GB" sz="1050" dirty="0">
              <a:hlinkClick r:id="rId24" invalidUrl="http://"/>
            </a:endParaRPr>
          </a:p>
          <a:p>
            <a:endParaRPr lang="en-GB" dirty="0"/>
          </a:p>
          <a:p>
            <a:endParaRPr lang="en-GB" dirty="0"/>
          </a:p>
          <a:p>
            <a:endParaRPr lang="en-GB" dirty="0"/>
          </a:p>
        </p:txBody>
      </p:sp>
      <p:cxnSp>
        <p:nvCxnSpPr>
          <p:cNvPr id="2" name="Straight Connector 1">
            <a:extLst>
              <a:ext uri="{FF2B5EF4-FFF2-40B4-BE49-F238E27FC236}">
                <a16:creationId xmlns:a16="http://schemas.microsoft.com/office/drawing/2014/main" id="{96C7DE3D-E2A1-A729-C872-9BB6F0E38047}"/>
              </a:ext>
            </a:extLst>
          </p:cNvPr>
          <p:cNvCxnSpPr>
            <a:cxnSpLocks/>
          </p:cNvCxnSpPr>
          <p:nvPr/>
        </p:nvCxnSpPr>
        <p:spPr>
          <a:xfrm>
            <a:off x="237901" y="473175"/>
            <a:ext cx="11848496"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8BEEAE0B-E0C5-1DB8-01D8-8EA10B8C31E9}"/>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10495469" y="88853"/>
            <a:ext cx="1514453" cy="3428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3D1152E-F493-45EC-3CE6-D03B7DDD53C1}"/>
              </a:ext>
            </a:extLst>
          </p:cNvPr>
          <p:cNvSpPr txBox="1"/>
          <p:nvPr/>
        </p:nvSpPr>
        <p:spPr>
          <a:xfrm>
            <a:off x="169332" y="41993"/>
            <a:ext cx="10066867" cy="461665"/>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References</a:t>
            </a:r>
            <a:endParaRPr lang="en-GB" sz="2400" dirty="0"/>
          </a:p>
        </p:txBody>
      </p:sp>
      <p:pic>
        <p:nvPicPr>
          <p:cNvPr id="6" name="Picture 5">
            <a:extLst>
              <a:ext uri="{FF2B5EF4-FFF2-40B4-BE49-F238E27FC236}">
                <a16:creationId xmlns:a16="http://schemas.microsoft.com/office/drawing/2014/main" id="{2BE151A7-BBCF-170C-0113-062C1DD885E8}"/>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106650" y="6660890"/>
            <a:ext cx="1081034" cy="188090"/>
          </a:xfrm>
          <a:prstGeom prst="rect">
            <a:avLst/>
          </a:prstGeom>
        </p:spPr>
      </p:pic>
    </p:spTree>
    <p:extLst>
      <p:ext uri="{BB962C8B-B14F-4D97-AF65-F5344CB8AC3E}">
        <p14:creationId xmlns:p14="http://schemas.microsoft.com/office/powerpoint/2010/main" val="555455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FB69EF08AC94419DA2D77FC6DF1085" ma:contentTypeVersion="5" ma:contentTypeDescription="Create a new document." ma:contentTypeScope="" ma:versionID="8cb1df18729571b5bc4dd03987ed477a">
  <xsd:schema xmlns:xsd="http://www.w3.org/2001/XMLSchema" xmlns:xs="http://www.w3.org/2001/XMLSchema" xmlns:p="http://schemas.microsoft.com/office/2006/metadata/properties" xmlns:ns3="810d2ae5-c5fd-470d-87fb-47ebe661fb7f" targetNamespace="http://schemas.microsoft.com/office/2006/metadata/properties" ma:root="true" ma:fieldsID="1862beee6d13f3564bd60e7fe8cb783e" ns3:_="">
    <xsd:import namespace="810d2ae5-c5fd-470d-87fb-47ebe661fb7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0d2ae5-c5fd-470d-87fb-47ebe661fb7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10d2ae5-c5fd-470d-87fb-47ebe661fb7f" xsi:nil="true"/>
  </documentManagement>
</p:properties>
</file>

<file path=customXml/itemProps1.xml><?xml version="1.0" encoding="utf-8"?>
<ds:datastoreItem xmlns:ds="http://schemas.openxmlformats.org/officeDocument/2006/customXml" ds:itemID="{84B7511F-F03A-4351-81AE-63A5FF2B94DF}">
  <ds:schemaRefs>
    <ds:schemaRef ds:uri="810d2ae5-c5fd-470d-87fb-47ebe661fb7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AB039D6-6143-4345-84F1-9E3AD7EAB95D}">
  <ds:schemaRefs>
    <ds:schemaRef ds:uri="http://schemas.microsoft.com/sharepoint/v3/contenttype/forms"/>
  </ds:schemaRefs>
</ds:datastoreItem>
</file>

<file path=customXml/itemProps3.xml><?xml version="1.0" encoding="utf-8"?>
<ds:datastoreItem xmlns:ds="http://schemas.openxmlformats.org/officeDocument/2006/customXml" ds:itemID="{19272703-D53A-462C-B712-357C265D81D7}">
  <ds:schemaRefs>
    <ds:schemaRef ds:uri="http://purl.org/dc/terms/"/>
    <ds:schemaRef ds:uri="http://purl.org/dc/dcmitype/"/>
    <ds:schemaRef ds:uri="810d2ae5-c5fd-470d-87fb-47ebe661fb7f"/>
    <ds:schemaRef ds:uri="http://schemas.openxmlformats.org/package/2006/metadata/core-properties"/>
    <ds:schemaRef ds:uri="http://purl.org/dc/elements/1.1/"/>
    <ds:schemaRef ds:uri="http://www.w3.org/XML/1998/namespace"/>
    <ds:schemaRef ds:uri="http://schemas.microsoft.com/office/2006/metadata/properties"/>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22</TotalTime>
  <Words>4315</Words>
  <Application>Microsoft Office PowerPoint</Application>
  <PresentationFormat>Widescreen</PresentationFormat>
  <Paragraphs>481</Paragraphs>
  <Slides>13</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Arial Black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Catalysts and Potential Risks to our Thesis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Caesar-Giles (NBS - Student)</dc:creator>
  <cp:lastModifiedBy>Alex Caesar-Giles (NBS - Student)</cp:lastModifiedBy>
  <cp:revision>3</cp:revision>
  <dcterms:created xsi:type="dcterms:W3CDTF">2026-03-03T16:56:24Z</dcterms:created>
  <dcterms:modified xsi:type="dcterms:W3CDTF">2026-05-05T21:21:16Z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0x01010046FB69EF08AC94419DA2D77FC6DF1085</vt:lpwstr>
  </property>
</Properties>
</file>